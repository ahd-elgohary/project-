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4675F-02E6-4BF4-8826-ADAFBF7DABB4}" v="53" dt="2025-12-06T12:15:42.015"/>
    <p1510:client id="{9C53A5A6-C00F-42EA-ACCA-5DE06D262E5B}" v="14" dt="2025-12-06T12:17:30.482"/>
    <p1510:client id="{9DB4F039-6006-84D2-CFA4-0C9BDDB14CAD}" v="240" dt="2025-12-04T13:53:19.2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35C8ED-FFD7-450F-95B9-373E528D630F}" type="doc">
      <dgm:prSet loTypeId="urn:microsoft.com/office/officeart/2005/8/layout/hierarchy1" loCatId="hierarchy" qsTypeId="urn:microsoft.com/office/officeart/2005/8/quickstyle/simple1" qsCatId="simple" csTypeId="urn:microsoft.com/office/officeart/2005/8/colors/accent3_2" csCatId="accent3"/>
      <dgm:spPr/>
      <dgm:t>
        <a:bodyPr/>
        <a:lstStyle/>
        <a:p>
          <a:endParaRPr lang="en-US"/>
        </a:p>
      </dgm:t>
    </dgm:pt>
    <dgm:pt modelId="{878C8ED5-22E4-4ED5-BC0B-BA55993449A7}">
      <dgm:prSet custT="1"/>
      <dgm:spPr/>
      <dgm:t>
        <a:bodyPr/>
        <a:lstStyle/>
        <a:p>
          <a:pPr algn="ctr">
            <a:lnSpc>
              <a:spcPct val="90000"/>
            </a:lnSpc>
          </a:pPr>
          <a:r>
            <a:rPr lang="en-US" sz="1700" dirty="0">
              <a:solidFill>
                <a:srgbClr val="596781"/>
              </a:solidFill>
              <a:latin typeface="Calisto MT"/>
              <a:ea typeface="+mn-ea"/>
              <a:cs typeface="+mn-cs"/>
            </a:rPr>
            <a:t>Modern enterprises require reliable and scalable WAN connectivity for distributed branches. Traditional WAN models depend on static routing and single links, which cause performance bottlenecks, limited resiliency, and higher costs. SD-WAN enables dynamic path selection, centralized control, and enhanced link utilization by leveraging multiple connections simultaneously.</a:t>
          </a:r>
          <a:br>
            <a:rPr lang="en-US" sz="1700" i="1" dirty="0">
              <a:solidFill>
                <a:schemeClr val="accent3"/>
              </a:solidFill>
              <a:latin typeface="Calisto MT"/>
              <a:ea typeface="+mn-ea"/>
              <a:cs typeface="+mn-cs"/>
            </a:rPr>
          </a:br>
          <a:endParaRPr lang="en-US" sz="1700" dirty="0">
            <a:solidFill>
              <a:srgbClr val="596781"/>
            </a:solidFill>
            <a:latin typeface="Calisto MT"/>
            <a:ea typeface="+mn-ea"/>
            <a:cs typeface="+mn-cs"/>
          </a:endParaRPr>
        </a:p>
      </dgm:t>
    </dgm:pt>
    <dgm:pt modelId="{90413700-CD10-4B73-AA7A-04F697C89ED7}" type="parTrans" cxnId="{7917D3C5-8A6E-44C7-BB44-44D8B8135929}">
      <dgm:prSet/>
      <dgm:spPr/>
      <dgm:t>
        <a:bodyPr/>
        <a:lstStyle/>
        <a:p>
          <a:endParaRPr lang="en-US"/>
        </a:p>
      </dgm:t>
    </dgm:pt>
    <dgm:pt modelId="{E01A2E62-352F-4FAA-B0E1-4BA340C29A5F}" type="sibTrans" cxnId="{7917D3C5-8A6E-44C7-BB44-44D8B8135929}">
      <dgm:prSet/>
      <dgm:spPr/>
      <dgm:t>
        <a:bodyPr/>
        <a:lstStyle/>
        <a:p>
          <a:endParaRPr lang="en-US"/>
        </a:p>
      </dgm:t>
    </dgm:pt>
    <dgm:pt modelId="{C99666FD-A79C-4AEE-842F-559B09306ABC}">
      <dgm:prSet/>
      <dgm:spPr/>
      <dgm:t>
        <a:bodyPr/>
        <a:lstStyle/>
        <a:p>
          <a:pPr algn="ctr">
            <a:lnSpc>
              <a:spcPct val="90000"/>
            </a:lnSpc>
          </a:pPr>
          <a:r>
            <a:rPr lang="en-US" sz="1900" dirty="0">
              <a:solidFill>
                <a:srgbClr val="596781"/>
              </a:solidFill>
              <a:latin typeface="Calisto MT"/>
              <a:ea typeface="+mn-ea"/>
              <a:cs typeface="+mn-cs"/>
            </a:rPr>
            <a:t>• Deploy FortiGate devices at HQ and Branch sites</a:t>
          </a:r>
          <a:br>
            <a:rPr lang="en-US" sz="1900" dirty="0">
              <a:solidFill>
                <a:schemeClr val="accent3"/>
              </a:solidFill>
              <a:latin typeface="Calisto MT"/>
              <a:ea typeface="+mn-ea"/>
              <a:cs typeface="+mn-cs"/>
            </a:rPr>
          </a:br>
          <a:r>
            <a:rPr lang="en-US" sz="1900" dirty="0">
              <a:solidFill>
                <a:srgbClr val="596781"/>
              </a:solidFill>
              <a:latin typeface="Calisto MT"/>
              <a:ea typeface="+mn-ea"/>
              <a:cs typeface="+mn-cs"/>
            </a:rPr>
            <a:t> • Configure VLAN-based WAN links to Routers R1 and R2</a:t>
          </a:r>
          <a:br>
            <a:rPr lang="en-US" sz="1900" dirty="0">
              <a:solidFill>
                <a:schemeClr val="accent3"/>
              </a:solidFill>
              <a:latin typeface="Calisto MT"/>
              <a:ea typeface="+mn-ea"/>
              <a:cs typeface="+mn-cs"/>
            </a:rPr>
          </a:br>
          <a:r>
            <a:rPr lang="en-US" sz="1900" dirty="0">
              <a:solidFill>
                <a:srgbClr val="596781"/>
              </a:solidFill>
              <a:latin typeface="Calisto MT"/>
              <a:ea typeface="+mn-ea"/>
              <a:cs typeface="+mn-cs"/>
            </a:rPr>
            <a:t> • Implement SD-WAN Zones and Members with dual WAN paths</a:t>
          </a:r>
          <a:br>
            <a:rPr lang="en-US" sz="1900" dirty="0">
              <a:solidFill>
                <a:schemeClr val="accent3"/>
              </a:solidFill>
              <a:latin typeface="Calisto MT"/>
              <a:ea typeface="+mn-ea"/>
              <a:cs typeface="+mn-cs"/>
            </a:rPr>
          </a:br>
          <a:r>
            <a:rPr lang="en-US" sz="1900" dirty="0">
              <a:solidFill>
                <a:srgbClr val="596781"/>
              </a:solidFill>
              <a:latin typeface="Calisto MT"/>
              <a:ea typeface="+mn-ea"/>
              <a:cs typeface="+mn-cs"/>
            </a:rPr>
            <a:t> • Create Performance SLA probes to monitor latency, jitter, and packet loss</a:t>
          </a:r>
          <a:br>
            <a:rPr lang="en-US" sz="1900" dirty="0">
              <a:solidFill>
                <a:schemeClr val="accent3"/>
              </a:solidFill>
              <a:latin typeface="Calisto MT"/>
              <a:ea typeface="+mn-ea"/>
              <a:cs typeface="+mn-cs"/>
            </a:rPr>
          </a:br>
          <a:r>
            <a:rPr lang="en-US" sz="1900" dirty="0">
              <a:solidFill>
                <a:srgbClr val="596781"/>
              </a:solidFill>
              <a:latin typeface="Calisto MT"/>
              <a:ea typeface="+mn-ea"/>
              <a:cs typeface="+mn-cs"/>
            </a:rPr>
            <a:t> • Apply SD-WAN rules for intelligent path steering</a:t>
          </a:r>
        </a:p>
      </dgm:t>
    </dgm:pt>
    <dgm:pt modelId="{F89A919E-5B04-488D-B12B-EBA001177961}" type="parTrans" cxnId="{A205FF06-0146-44F1-A314-AA635BEC3784}">
      <dgm:prSet/>
      <dgm:spPr/>
      <dgm:t>
        <a:bodyPr/>
        <a:lstStyle/>
        <a:p>
          <a:endParaRPr lang="en-US"/>
        </a:p>
      </dgm:t>
    </dgm:pt>
    <dgm:pt modelId="{26C33BD5-5E36-4A9B-B306-2C0D217FC744}" type="sibTrans" cxnId="{A205FF06-0146-44F1-A314-AA635BEC3784}">
      <dgm:prSet/>
      <dgm:spPr/>
      <dgm:t>
        <a:bodyPr/>
        <a:lstStyle/>
        <a:p>
          <a:endParaRPr lang="en-US"/>
        </a:p>
      </dgm:t>
    </dgm:pt>
    <dgm:pt modelId="{28C39D77-1836-45AB-BEB2-4209313BE85B}" type="pres">
      <dgm:prSet presAssocID="{1A35C8ED-FFD7-450F-95B9-373E528D630F}" presName="hierChild1" presStyleCnt="0">
        <dgm:presLayoutVars>
          <dgm:chPref val="1"/>
          <dgm:dir/>
          <dgm:animOne val="branch"/>
          <dgm:animLvl val="lvl"/>
          <dgm:resizeHandles/>
        </dgm:presLayoutVars>
      </dgm:prSet>
      <dgm:spPr/>
    </dgm:pt>
    <dgm:pt modelId="{F87F7A3E-B886-43C9-9AC6-73B042AEAA1E}" type="pres">
      <dgm:prSet presAssocID="{878C8ED5-22E4-4ED5-BC0B-BA55993449A7}" presName="hierRoot1" presStyleCnt="0"/>
      <dgm:spPr/>
    </dgm:pt>
    <dgm:pt modelId="{A4EC2275-E3C4-47B4-8038-6B56B84E35F6}" type="pres">
      <dgm:prSet presAssocID="{878C8ED5-22E4-4ED5-BC0B-BA55993449A7}" presName="composite" presStyleCnt="0"/>
      <dgm:spPr/>
    </dgm:pt>
    <dgm:pt modelId="{189D38C5-938B-4242-B2CD-7B38CCEE1A1E}" type="pres">
      <dgm:prSet presAssocID="{878C8ED5-22E4-4ED5-BC0B-BA55993449A7}" presName="background" presStyleLbl="node0" presStyleIdx="0" presStyleCnt="2"/>
      <dgm:spPr/>
    </dgm:pt>
    <dgm:pt modelId="{F1EF46F9-156A-47B4-8A30-8015DD089BC8}" type="pres">
      <dgm:prSet presAssocID="{878C8ED5-22E4-4ED5-BC0B-BA55993449A7}" presName="text" presStyleLbl="fgAcc0" presStyleIdx="0" presStyleCnt="2">
        <dgm:presLayoutVars>
          <dgm:chPref val="3"/>
        </dgm:presLayoutVars>
      </dgm:prSet>
      <dgm:spPr/>
    </dgm:pt>
    <dgm:pt modelId="{CA2575B5-5F17-43C9-99AE-E877CD6E1776}" type="pres">
      <dgm:prSet presAssocID="{878C8ED5-22E4-4ED5-BC0B-BA55993449A7}" presName="hierChild2" presStyleCnt="0"/>
      <dgm:spPr/>
    </dgm:pt>
    <dgm:pt modelId="{F8F58E7E-2BEF-42EA-B98C-9DA4BC77E972}" type="pres">
      <dgm:prSet presAssocID="{C99666FD-A79C-4AEE-842F-559B09306ABC}" presName="hierRoot1" presStyleCnt="0"/>
      <dgm:spPr/>
    </dgm:pt>
    <dgm:pt modelId="{93E601B0-D276-469E-8F9B-C206D2F79BB6}" type="pres">
      <dgm:prSet presAssocID="{C99666FD-A79C-4AEE-842F-559B09306ABC}" presName="composite" presStyleCnt="0"/>
      <dgm:spPr/>
    </dgm:pt>
    <dgm:pt modelId="{93682206-0988-4F16-B009-6F4A61AC26CA}" type="pres">
      <dgm:prSet presAssocID="{C99666FD-A79C-4AEE-842F-559B09306ABC}" presName="background" presStyleLbl="node0" presStyleIdx="1" presStyleCnt="2"/>
      <dgm:spPr/>
    </dgm:pt>
    <dgm:pt modelId="{B2993B63-B7BE-4A5B-9A10-8AD7F6224C52}" type="pres">
      <dgm:prSet presAssocID="{C99666FD-A79C-4AEE-842F-559B09306ABC}" presName="text" presStyleLbl="fgAcc0" presStyleIdx="1" presStyleCnt="2">
        <dgm:presLayoutVars>
          <dgm:chPref val="3"/>
        </dgm:presLayoutVars>
      </dgm:prSet>
      <dgm:spPr/>
    </dgm:pt>
    <dgm:pt modelId="{77780965-1A12-4811-A14A-2624D652E4C8}" type="pres">
      <dgm:prSet presAssocID="{C99666FD-A79C-4AEE-842F-559B09306ABC}" presName="hierChild2" presStyleCnt="0"/>
      <dgm:spPr/>
    </dgm:pt>
  </dgm:ptLst>
  <dgm:cxnLst>
    <dgm:cxn modelId="{A205FF06-0146-44F1-A314-AA635BEC3784}" srcId="{1A35C8ED-FFD7-450F-95B9-373E528D630F}" destId="{C99666FD-A79C-4AEE-842F-559B09306ABC}" srcOrd="1" destOrd="0" parTransId="{F89A919E-5B04-488D-B12B-EBA001177961}" sibTransId="{26C33BD5-5E36-4A9B-B306-2C0D217FC744}"/>
    <dgm:cxn modelId="{4B052464-1AB1-4752-8EDC-75EBCCC90645}" type="presOf" srcId="{C99666FD-A79C-4AEE-842F-559B09306ABC}" destId="{B2993B63-B7BE-4A5B-9A10-8AD7F6224C52}" srcOrd="0" destOrd="0" presId="urn:microsoft.com/office/officeart/2005/8/layout/hierarchy1"/>
    <dgm:cxn modelId="{6B293A76-1370-444D-AD6D-C46B2CCED641}" type="presOf" srcId="{878C8ED5-22E4-4ED5-BC0B-BA55993449A7}" destId="{F1EF46F9-156A-47B4-8A30-8015DD089BC8}" srcOrd="0" destOrd="0" presId="urn:microsoft.com/office/officeart/2005/8/layout/hierarchy1"/>
    <dgm:cxn modelId="{7917D3C5-8A6E-44C7-BB44-44D8B8135929}" srcId="{1A35C8ED-FFD7-450F-95B9-373E528D630F}" destId="{878C8ED5-22E4-4ED5-BC0B-BA55993449A7}" srcOrd="0" destOrd="0" parTransId="{90413700-CD10-4B73-AA7A-04F697C89ED7}" sibTransId="{E01A2E62-352F-4FAA-B0E1-4BA340C29A5F}"/>
    <dgm:cxn modelId="{85A734D6-0774-4182-A15F-86CA06B22880}" type="presOf" srcId="{1A35C8ED-FFD7-450F-95B9-373E528D630F}" destId="{28C39D77-1836-45AB-BEB2-4209313BE85B}" srcOrd="0" destOrd="0" presId="urn:microsoft.com/office/officeart/2005/8/layout/hierarchy1"/>
    <dgm:cxn modelId="{1B5AC285-A7FF-4996-A4FD-F79FD90B9C4B}" type="presParOf" srcId="{28C39D77-1836-45AB-BEB2-4209313BE85B}" destId="{F87F7A3E-B886-43C9-9AC6-73B042AEAA1E}" srcOrd="0" destOrd="0" presId="urn:microsoft.com/office/officeart/2005/8/layout/hierarchy1"/>
    <dgm:cxn modelId="{9F741282-EB98-4334-9951-7C544B1A729B}" type="presParOf" srcId="{F87F7A3E-B886-43C9-9AC6-73B042AEAA1E}" destId="{A4EC2275-E3C4-47B4-8038-6B56B84E35F6}" srcOrd="0" destOrd="0" presId="urn:microsoft.com/office/officeart/2005/8/layout/hierarchy1"/>
    <dgm:cxn modelId="{BCC6A2E4-9B5F-46C9-9E00-D85B654D964A}" type="presParOf" srcId="{A4EC2275-E3C4-47B4-8038-6B56B84E35F6}" destId="{189D38C5-938B-4242-B2CD-7B38CCEE1A1E}" srcOrd="0" destOrd="0" presId="urn:microsoft.com/office/officeart/2005/8/layout/hierarchy1"/>
    <dgm:cxn modelId="{955CE285-44B0-4C0B-BEAE-A4D88DB5282F}" type="presParOf" srcId="{A4EC2275-E3C4-47B4-8038-6B56B84E35F6}" destId="{F1EF46F9-156A-47B4-8A30-8015DD089BC8}" srcOrd="1" destOrd="0" presId="urn:microsoft.com/office/officeart/2005/8/layout/hierarchy1"/>
    <dgm:cxn modelId="{F3DECD9A-0EEB-4914-9C7B-FDCDCF8BDAA1}" type="presParOf" srcId="{F87F7A3E-B886-43C9-9AC6-73B042AEAA1E}" destId="{CA2575B5-5F17-43C9-99AE-E877CD6E1776}" srcOrd="1" destOrd="0" presId="urn:microsoft.com/office/officeart/2005/8/layout/hierarchy1"/>
    <dgm:cxn modelId="{6F800603-57BB-4016-9CCF-E1683887774D}" type="presParOf" srcId="{28C39D77-1836-45AB-BEB2-4209313BE85B}" destId="{F8F58E7E-2BEF-42EA-B98C-9DA4BC77E972}" srcOrd="1" destOrd="0" presId="urn:microsoft.com/office/officeart/2005/8/layout/hierarchy1"/>
    <dgm:cxn modelId="{0B5CB1D5-FF89-4D58-8579-11E098806579}" type="presParOf" srcId="{F8F58E7E-2BEF-42EA-B98C-9DA4BC77E972}" destId="{93E601B0-D276-469E-8F9B-C206D2F79BB6}" srcOrd="0" destOrd="0" presId="urn:microsoft.com/office/officeart/2005/8/layout/hierarchy1"/>
    <dgm:cxn modelId="{53BF508F-8D1F-4466-923D-2705E03E3DE3}" type="presParOf" srcId="{93E601B0-D276-469E-8F9B-C206D2F79BB6}" destId="{93682206-0988-4F16-B009-6F4A61AC26CA}" srcOrd="0" destOrd="0" presId="urn:microsoft.com/office/officeart/2005/8/layout/hierarchy1"/>
    <dgm:cxn modelId="{04C70A30-A424-4E43-9805-CF1A8D01FC7A}" type="presParOf" srcId="{93E601B0-D276-469E-8F9B-C206D2F79BB6}" destId="{B2993B63-B7BE-4A5B-9A10-8AD7F6224C52}" srcOrd="1" destOrd="0" presId="urn:microsoft.com/office/officeart/2005/8/layout/hierarchy1"/>
    <dgm:cxn modelId="{9B4563F6-E45C-4BCB-BA04-B3B1CB2EBECB}" type="presParOf" srcId="{F8F58E7E-2BEF-42EA-B98C-9DA4BC77E972}" destId="{77780965-1A12-4811-A14A-2624D652E4C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D38C5-938B-4242-B2CD-7B38CCEE1A1E}">
      <dsp:nvSpPr>
        <dsp:cNvPr id="0" name=""/>
        <dsp:cNvSpPr/>
      </dsp:nvSpPr>
      <dsp:spPr>
        <a:xfrm>
          <a:off x="1305" y="173800"/>
          <a:ext cx="4581086" cy="29089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EF46F9-156A-47B4-8A30-8015DD089BC8}">
      <dsp:nvSpPr>
        <dsp:cNvPr id="0" name=""/>
        <dsp:cNvSpPr/>
      </dsp:nvSpPr>
      <dsp:spPr>
        <a:xfrm>
          <a:off x="510314" y="657359"/>
          <a:ext cx="4581086" cy="290898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rgbClr val="596781"/>
              </a:solidFill>
              <a:latin typeface="Calisto MT"/>
              <a:ea typeface="+mn-ea"/>
              <a:cs typeface="+mn-cs"/>
            </a:rPr>
            <a:t>Modern enterprises require reliable and scalable WAN connectivity for distributed branches. Traditional WAN models depend on static routing and single links, which cause performance bottlenecks, limited resiliency, and higher costs. SD-WAN enables dynamic path selection, centralized control, and enhanced link utilization by leveraging multiple connections simultaneously.</a:t>
          </a:r>
          <a:br>
            <a:rPr lang="en-US" sz="1700" i="1" kern="1200" dirty="0">
              <a:solidFill>
                <a:schemeClr val="accent3"/>
              </a:solidFill>
              <a:latin typeface="Calisto MT"/>
              <a:ea typeface="+mn-ea"/>
              <a:cs typeface="+mn-cs"/>
            </a:rPr>
          </a:br>
          <a:endParaRPr lang="en-US" sz="1700" kern="1200" dirty="0">
            <a:solidFill>
              <a:srgbClr val="596781"/>
            </a:solidFill>
            <a:latin typeface="Calisto MT"/>
            <a:ea typeface="+mn-ea"/>
            <a:cs typeface="+mn-cs"/>
          </a:endParaRPr>
        </a:p>
      </dsp:txBody>
      <dsp:txXfrm>
        <a:off x="595515" y="742560"/>
        <a:ext cx="4410684" cy="2738587"/>
      </dsp:txXfrm>
    </dsp:sp>
    <dsp:sp modelId="{93682206-0988-4F16-B009-6F4A61AC26CA}">
      <dsp:nvSpPr>
        <dsp:cNvPr id="0" name=""/>
        <dsp:cNvSpPr/>
      </dsp:nvSpPr>
      <dsp:spPr>
        <a:xfrm>
          <a:off x="5600410" y="173800"/>
          <a:ext cx="4581086" cy="29089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993B63-B7BE-4A5B-9A10-8AD7F6224C52}">
      <dsp:nvSpPr>
        <dsp:cNvPr id="0" name=""/>
        <dsp:cNvSpPr/>
      </dsp:nvSpPr>
      <dsp:spPr>
        <a:xfrm>
          <a:off x="6109420" y="657359"/>
          <a:ext cx="4581086" cy="290898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596781"/>
              </a:solidFill>
              <a:latin typeface="Calisto MT"/>
              <a:ea typeface="+mn-ea"/>
              <a:cs typeface="+mn-cs"/>
            </a:rPr>
            <a:t>• Deploy FortiGate devices at HQ and Branch sites</a:t>
          </a:r>
          <a:br>
            <a:rPr lang="en-US" sz="1900" kern="1200" dirty="0">
              <a:solidFill>
                <a:schemeClr val="accent3"/>
              </a:solidFill>
              <a:latin typeface="Calisto MT"/>
              <a:ea typeface="+mn-ea"/>
              <a:cs typeface="+mn-cs"/>
            </a:rPr>
          </a:br>
          <a:r>
            <a:rPr lang="en-US" sz="1900" kern="1200" dirty="0">
              <a:solidFill>
                <a:srgbClr val="596781"/>
              </a:solidFill>
              <a:latin typeface="Calisto MT"/>
              <a:ea typeface="+mn-ea"/>
              <a:cs typeface="+mn-cs"/>
            </a:rPr>
            <a:t> • Configure VLAN-based WAN links to Routers R1 and R2</a:t>
          </a:r>
          <a:br>
            <a:rPr lang="en-US" sz="1900" kern="1200" dirty="0">
              <a:solidFill>
                <a:schemeClr val="accent3"/>
              </a:solidFill>
              <a:latin typeface="Calisto MT"/>
              <a:ea typeface="+mn-ea"/>
              <a:cs typeface="+mn-cs"/>
            </a:rPr>
          </a:br>
          <a:r>
            <a:rPr lang="en-US" sz="1900" kern="1200" dirty="0">
              <a:solidFill>
                <a:srgbClr val="596781"/>
              </a:solidFill>
              <a:latin typeface="Calisto MT"/>
              <a:ea typeface="+mn-ea"/>
              <a:cs typeface="+mn-cs"/>
            </a:rPr>
            <a:t> • Implement SD-WAN Zones and Members with dual WAN paths</a:t>
          </a:r>
          <a:br>
            <a:rPr lang="en-US" sz="1900" kern="1200" dirty="0">
              <a:solidFill>
                <a:schemeClr val="accent3"/>
              </a:solidFill>
              <a:latin typeface="Calisto MT"/>
              <a:ea typeface="+mn-ea"/>
              <a:cs typeface="+mn-cs"/>
            </a:rPr>
          </a:br>
          <a:r>
            <a:rPr lang="en-US" sz="1900" kern="1200" dirty="0">
              <a:solidFill>
                <a:srgbClr val="596781"/>
              </a:solidFill>
              <a:latin typeface="Calisto MT"/>
              <a:ea typeface="+mn-ea"/>
              <a:cs typeface="+mn-cs"/>
            </a:rPr>
            <a:t> • Create Performance SLA probes to monitor latency, jitter, and packet loss</a:t>
          </a:r>
          <a:br>
            <a:rPr lang="en-US" sz="1900" kern="1200" dirty="0">
              <a:solidFill>
                <a:schemeClr val="accent3"/>
              </a:solidFill>
              <a:latin typeface="Calisto MT"/>
              <a:ea typeface="+mn-ea"/>
              <a:cs typeface="+mn-cs"/>
            </a:rPr>
          </a:br>
          <a:r>
            <a:rPr lang="en-US" sz="1900" kern="1200" dirty="0">
              <a:solidFill>
                <a:srgbClr val="596781"/>
              </a:solidFill>
              <a:latin typeface="Calisto MT"/>
              <a:ea typeface="+mn-ea"/>
              <a:cs typeface="+mn-cs"/>
            </a:rPr>
            <a:t> • Apply SD-WAN rules for intelligent path steering</a:t>
          </a:r>
        </a:p>
      </dsp:txBody>
      <dsp:txXfrm>
        <a:off x="6194621" y="742560"/>
        <a:ext cx="4410684" cy="27385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12/6/2025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0030384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12/6/2025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8805514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12/6/2025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5204275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12/6/2025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Nada Wesam</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93529828"/>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12/6/2025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Nada Wesam</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187530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12/6/2025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Nada Wesam</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165258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12/6/2025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Nada Wesam</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9353123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12/6/2025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Nada Wesam</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74024643"/>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12/6/2025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Nada Wesam</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5981747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12/6/2025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541653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12/6/2025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46746352"/>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12/6/2025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Nada Wesam</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8587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hf hd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03400" y="871758"/>
            <a:ext cx="5227171" cy="3871143"/>
          </a:xfrm>
        </p:spPr>
        <p:txBody>
          <a:bodyPr>
            <a:normAutofit/>
          </a:bodyPr>
          <a:lstStyle/>
          <a:p>
            <a:r>
              <a:rPr lang="en-US" dirty="0">
                <a:solidFill>
                  <a:schemeClr val="accent3"/>
                </a:solidFill>
              </a:rPr>
              <a:t>SD-WAN ON FORTIGATE</a:t>
            </a:r>
          </a:p>
        </p:txBody>
      </p:sp>
      <p:sp>
        <p:nvSpPr>
          <p:cNvPr id="3" name="Subtitle 2"/>
          <p:cNvSpPr>
            <a:spLocks noGrp="1"/>
          </p:cNvSpPr>
          <p:nvPr>
            <p:ph type="subTitle" idx="1"/>
          </p:nvPr>
        </p:nvSpPr>
        <p:spPr>
          <a:xfrm>
            <a:off x="706031" y="2802257"/>
            <a:ext cx="4873514" cy="3589148"/>
          </a:xfrm>
        </p:spPr>
        <p:txBody>
          <a:bodyPr vert="horz" lIns="91440" tIns="45720" rIns="91440" bIns="45720" rtlCol="0">
            <a:normAutofit/>
          </a:bodyPr>
          <a:lstStyle/>
          <a:p>
            <a:r>
              <a:rPr lang="en-US" sz="1800" dirty="0">
                <a:solidFill>
                  <a:schemeClr val="accent3"/>
                </a:solidFill>
                <a:ea typeface="+mn-lt"/>
                <a:cs typeface="+mn-lt"/>
              </a:rPr>
              <a:t>This project demonstrates the deployment of an enterprise SD-WAN solution using FortiGate firewalls at both the Headquarters and Branch sites. The solution integrates multiple WAN links, VLAN segmentation, and intelligent traffic steering to enhance network performance and availability.</a:t>
            </a:r>
            <a:endParaRPr lang="en-US">
              <a:solidFill>
                <a:schemeClr val="accent3"/>
              </a:solidFill>
              <a:ea typeface="+mn-lt"/>
              <a:cs typeface="+mn-lt"/>
            </a:endParaRPr>
          </a:p>
          <a:p>
            <a:pPr>
              <a:lnSpc>
                <a:spcPct val="100000"/>
              </a:lnSpc>
            </a:pPr>
            <a:endParaRPr lang="en-US" sz="1800" dirty="0">
              <a:solidFill>
                <a:schemeClr val="accent3"/>
              </a:solidFill>
            </a:endParaRPr>
          </a:p>
          <a:p>
            <a:pPr>
              <a:lnSpc>
                <a:spcPct val="100000"/>
              </a:lnSpc>
            </a:pPr>
            <a:endParaRPr lang="en-US" sz="1300" dirty="0">
              <a:solidFill>
                <a:schemeClr val="accent3"/>
              </a:solidFill>
            </a:endParaRP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5E6C20B-9CC4-859E-7CAD-3D413595BEC1}"/>
              </a:ext>
            </a:extLst>
          </p:cNvPr>
          <p:cNvPicPr>
            <a:picLocks noChangeAspect="1"/>
          </p:cNvPicPr>
          <p:nvPr/>
        </p:nvPicPr>
        <p:blipFill>
          <a:blip r:embed="rId2"/>
          <a:srcRect l="23736" r="24530" b="4"/>
          <a:stretch>
            <a:fillRect/>
          </a:stretch>
        </p:blipFill>
        <p:spPr>
          <a:xfrm>
            <a:off x="6515100" y="10"/>
            <a:ext cx="5676900" cy="6857990"/>
          </a:xfrm>
          <a:prstGeom prst="rect">
            <a:avLst/>
          </a:prstGeom>
        </p:spPr>
      </p:pic>
      <p:sp>
        <p:nvSpPr>
          <p:cNvPr id="6" name="Slide Number Placeholder 5">
            <a:extLst>
              <a:ext uri="{FF2B5EF4-FFF2-40B4-BE49-F238E27FC236}">
                <a16:creationId xmlns:a16="http://schemas.microsoft.com/office/drawing/2014/main" id="{AF8000AA-CEA0-51A8-918E-40FBB0115FD5}"/>
              </a:ext>
            </a:extLst>
          </p:cNvPr>
          <p:cNvSpPr>
            <a:spLocks noGrp="1"/>
          </p:cNvSpPr>
          <p:nvPr>
            <p:ph type="sldNum" sz="quarter" idx="12"/>
          </p:nvPr>
        </p:nvSpPr>
        <p:spPr/>
        <p:txBody>
          <a:bodyPr/>
          <a:lstStyle/>
          <a:p>
            <a:fld id="{87E7843D-FF13-4365-9478-9625B70A2705}" type="slidenum">
              <a:rPr lang="en-US" smtClean="0"/>
              <a:t>1</a:t>
            </a:fld>
            <a:endParaRPr lang="en-US"/>
          </a:p>
        </p:txBody>
      </p:sp>
      <p:sp>
        <p:nvSpPr>
          <p:cNvPr id="5" name="Footer Placeholder 4">
            <a:extLst>
              <a:ext uri="{FF2B5EF4-FFF2-40B4-BE49-F238E27FC236}">
                <a16:creationId xmlns:a16="http://schemas.microsoft.com/office/drawing/2014/main" id="{2B45C421-037B-C10D-161E-45CBD86E4D88}"/>
              </a:ext>
            </a:extLst>
          </p:cNvPr>
          <p:cNvSpPr>
            <a:spLocks noGrp="1"/>
          </p:cNvSpPr>
          <p:nvPr>
            <p:ph type="ftr" sz="quarter" idx="11"/>
          </p:nvPr>
        </p:nvSpPr>
        <p:spPr/>
        <p:txBody>
          <a:bodyPr/>
          <a:lstStyle/>
          <a:p>
            <a:r>
              <a:rPr lang="en-US"/>
              <a:t>Nada Wesam</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922A48-C026-6920-2454-546F351C33CF}"/>
              </a:ext>
            </a:extLst>
          </p:cNvPr>
          <p:cNvSpPr>
            <a:spLocks noGrp="1"/>
          </p:cNvSpPr>
          <p:nvPr>
            <p:ph type="title"/>
          </p:nvPr>
        </p:nvSpPr>
        <p:spPr>
          <a:xfrm>
            <a:off x="700087" y="909638"/>
            <a:ext cx="10691813" cy="1155618"/>
          </a:xfrm>
        </p:spPr>
        <p:txBody>
          <a:bodyPr>
            <a:normAutofit/>
          </a:bodyPr>
          <a:lstStyle/>
          <a:p>
            <a:r>
              <a:rPr lang="en-US" dirty="0">
                <a:solidFill>
                  <a:schemeClr val="accent3"/>
                </a:solidFill>
                <a:ea typeface="+mj-lt"/>
                <a:cs typeface="+mj-lt"/>
              </a:rPr>
              <a:t>Introduction</a:t>
            </a:r>
            <a:endParaRPr lang="en-US">
              <a:solidFill>
                <a:schemeClr val="accent3"/>
              </a:solidFill>
            </a:endParaRPr>
          </a:p>
        </p:txBody>
      </p:sp>
      <p:cxnSp>
        <p:nvCxnSpPr>
          <p:cNvPr id="18" name="Straight Connector 17">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FEAC6E2C-4A82-6913-F6B4-BA462E3F83F2}"/>
              </a:ext>
            </a:extLst>
          </p:cNvPr>
          <p:cNvSpPr>
            <a:spLocks noGrp="1"/>
          </p:cNvSpPr>
          <p:nvPr>
            <p:ph type="ftr" sz="quarter" idx="11"/>
          </p:nvPr>
        </p:nvSpPr>
        <p:spPr>
          <a:xfrm>
            <a:off x="704088" y="6356350"/>
            <a:ext cx="4539727" cy="365125"/>
          </a:xfrm>
        </p:spPr>
        <p:txBody>
          <a:bodyPr>
            <a:normAutofit/>
          </a:bodyPr>
          <a:lstStyle/>
          <a:p>
            <a:pPr>
              <a:spcAft>
                <a:spcPts val="600"/>
              </a:spcAft>
            </a:pPr>
            <a:r>
              <a:rPr lang="en-US" b="1"/>
              <a:t>Nada Wesam</a:t>
            </a:r>
          </a:p>
        </p:txBody>
      </p:sp>
      <p:sp>
        <p:nvSpPr>
          <p:cNvPr id="4" name="Slide Number Placeholder 3">
            <a:extLst>
              <a:ext uri="{FF2B5EF4-FFF2-40B4-BE49-F238E27FC236}">
                <a16:creationId xmlns:a16="http://schemas.microsoft.com/office/drawing/2014/main" id="{7893F34E-9D40-D29A-2A93-82E9FA158F04}"/>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mtClean="0"/>
              <a:pPr>
                <a:lnSpc>
                  <a:spcPct val="90000"/>
                </a:lnSpc>
                <a:spcAft>
                  <a:spcPts val="600"/>
                </a:spcAft>
              </a:pPr>
              <a:t>2</a:t>
            </a:fld>
            <a:endParaRPr lang="en-US"/>
          </a:p>
        </p:txBody>
      </p:sp>
      <p:graphicFrame>
        <p:nvGraphicFramePr>
          <p:cNvPr id="12" name="Content Placeholder 2">
            <a:extLst>
              <a:ext uri="{FF2B5EF4-FFF2-40B4-BE49-F238E27FC236}">
                <a16:creationId xmlns:a16="http://schemas.microsoft.com/office/drawing/2014/main" id="{AF5A9566-C2AB-B547-400A-A5F68C0B408D}"/>
              </a:ext>
            </a:extLst>
          </p:cNvPr>
          <p:cNvGraphicFramePr>
            <a:graphicFrameLocks noGrp="1"/>
          </p:cNvGraphicFramePr>
          <p:nvPr>
            <p:ph idx="1"/>
            <p:extLst>
              <p:ext uri="{D42A27DB-BD31-4B8C-83A1-F6EECF244321}">
                <p14:modId xmlns:p14="http://schemas.microsoft.com/office/powerpoint/2010/main" val="275367257"/>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7812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2BBA7E97-AB30-0B86-9A86-70D39E18A83C}"/>
              </a:ext>
            </a:extLst>
          </p:cNvPr>
          <p:cNvSpPr>
            <a:spLocks noGrp="1"/>
          </p:cNvSpPr>
          <p:nvPr>
            <p:ph type="title"/>
          </p:nvPr>
        </p:nvSpPr>
        <p:spPr>
          <a:xfrm>
            <a:off x="704088" y="914400"/>
            <a:ext cx="10687812" cy="798194"/>
          </a:xfrm>
        </p:spPr>
        <p:txBody>
          <a:bodyPr>
            <a:normAutofit/>
          </a:bodyPr>
          <a:lstStyle/>
          <a:p>
            <a:r>
              <a:rPr lang="en-US" dirty="0">
                <a:solidFill>
                  <a:schemeClr val="accent3"/>
                </a:solidFill>
                <a:ea typeface="+mj-lt"/>
                <a:cs typeface="+mj-lt"/>
              </a:rPr>
              <a:t>Network Topology</a:t>
            </a:r>
            <a:endParaRPr lang="en-US">
              <a:solidFill>
                <a:schemeClr val="accent3"/>
              </a:solidFill>
            </a:endParaRPr>
          </a:p>
        </p:txBody>
      </p:sp>
      <p:cxnSp>
        <p:nvCxnSpPr>
          <p:cNvPr id="21" name="Straight Connector 2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descr="A diagram of a computer network&#10;&#10;AI-generated content may be incorrect.">
            <a:extLst>
              <a:ext uri="{FF2B5EF4-FFF2-40B4-BE49-F238E27FC236}">
                <a16:creationId xmlns:a16="http://schemas.microsoft.com/office/drawing/2014/main" id="{B27F24F5-8433-3468-BD4F-6A49766D0E1F}"/>
              </a:ext>
            </a:extLst>
          </p:cNvPr>
          <p:cNvPicPr>
            <a:picLocks noChangeAspect="1"/>
          </p:cNvPicPr>
          <p:nvPr/>
        </p:nvPicPr>
        <p:blipFill>
          <a:blip r:embed="rId2"/>
          <a:stretch>
            <a:fillRect/>
          </a:stretch>
        </p:blipFill>
        <p:spPr>
          <a:xfrm>
            <a:off x="805319" y="2843360"/>
            <a:ext cx="6072188" cy="2565499"/>
          </a:xfrm>
          <a:prstGeom prst="rect">
            <a:avLst/>
          </a:prstGeom>
        </p:spPr>
      </p:pic>
      <p:sp>
        <p:nvSpPr>
          <p:cNvPr id="6" name="Content Placeholder 5">
            <a:extLst>
              <a:ext uri="{FF2B5EF4-FFF2-40B4-BE49-F238E27FC236}">
                <a16:creationId xmlns:a16="http://schemas.microsoft.com/office/drawing/2014/main" id="{68B16DAF-E5D3-60B2-990E-20A463082900}"/>
              </a:ext>
            </a:extLst>
          </p:cNvPr>
          <p:cNvSpPr>
            <a:spLocks noGrp="1"/>
          </p:cNvSpPr>
          <p:nvPr>
            <p:ph idx="1"/>
          </p:nvPr>
        </p:nvSpPr>
        <p:spPr>
          <a:xfrm>
            <a:off x="7200900" y="1849121"/>
            <a:ext cx="4191001" cy="4139626"/>
          </a:xfrm>
        </p:spPr>
        <p:txBody>
          <a:bodyPr vert="horz" lIns="91440" tIns="45720" rIns="91440" bIns="45720" rtlCol="0" anchor="b">
            <a:noAutofit/>
          </a:bodyPr>
          <a:lstStyle/>
          <a:p>
            <a:r>
              <a:rPr lang="en-US" sz="1800" dirty="0">
                <a:solidFill>
                  <a:schemeClr val="accent3"/>
                </a:solidFill>
                <a:ea typeface="+mn-lt"/>
                <a:cs typeface="+mn-lt"/>
              </a:rPr>
              <a:t>The topology consists of two sites: HQ using the 192.168.x.x addressing scheme and the Branch using 172.16.x.x.</a:t>
            </a:r>
            <a:br>
              <a:rPr lang="en-US" sz="1800" dirty="0">
                <a:solidFill>
                  <a:schemeClr val="accent3"/>
                </a:solidFill>
                <a:ea typeface="+mn-lt"/>
                <a:cs typeface="+mn-lt"/>
              </a:rPr>
            </a:br>
            <a:r>
              <a:rPr lang="en-US" sz="1800" dirty="0">
                <a:solidFill>
                  <a:schemeClr val="accent3"/>
                </a:solidFill>
                <a:ea typeface="+mn-lt"/>
                <a:cs typeface="+mn-lt"/>
              </a:rPr>
              <a:t> Both sites have six departmental VLANs. Two routers (R1 and R2) provide dual uplinks over VLAN 10 and VLAN 20. FortiGate devices at each site connect to an L2 switch carrying both VLANs, enabling SD-WAN to evaluate multiple paths between the sites.</a:t>
            </a:r>
            <a:endParaRPr lang="en-US" sz="1800">
              <a:solidFill>
                <a:schemeClr val="accent3"/>
              </a:solidFill>
            </a:endParaRPr>
          </a:p>
          <a:p>
            <a:endParaRPr lang="en-US" dirty="0">
              <a:solidFill>
                <a:schemeClr val="accent3"/>
              </a:solidFill>
            </a:endParaRPr>
          </a:p>
        </p:txBody>
      </p:sp>
      <p:cxnSp>
        <p:nvCxnSpPr>
          <p:cNvPr id="23" name="Straight Connector 22">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E98CC2B-2FE7-A12C-F82E-3D20FCC1AFBD}"/>
              </a:ext>
            </a:extLst>
          </p:cNvPr>
          <p:cNvSpPr txBox="1"/>
          <p:nvPr/>
        </p:nvSpPr>
        <p:spPr>
          <a:xfrm>
            <a:off x="6006393" y="994065"/>
            <a:ext cx="5670370" cy="4970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Slide Number Placeholder 15">
            <a:extLst>
              <a:ext uri="{FF2B5EF4-FFF2-40B4-BE49-F238E27FC236}">
                <a16:creationId xmlns:a16="http://schemas.microsoft.com/office/drawing/2014/main" id="{CC1459E3-5562-9D3F-70A5-8B32571903D5}"/>
              </a:ext>
            </a:extLst>
          </p:cNvPr>
          <p:cNvSpPr>
            <a:spLocks noGrp="1"/>
          </p:cNvSpPr>
          <p:nvPr>
            <p:ph type="sldNum" sz="quarter" idx="12"/>
          </p:nvPr>
        </p:nvSpPr>
        <p:spPr/>
        <p:txBody>
          <a:bodyPr/>
          <a:lstStyle/>
          <a:p>
            <a:fld id="{87E7843D-FF13-4365-9478-9625B70A2705}" type="slidenum">
              <a:rPr lang="en-US" smtClean="0"/>
              <a:t>3</a:t>
            </a:fld>
            <a:endParaRPr lang="en-US"/>
          </a:p>
        </p:txBody>
      </p:sp>
      <p:sp>
        <p:nvSpPr>
          <p:cNvPr id="15" name="Footer Placeholder 14">
            <a:extLst>
              <a:ext uri="{FF2B5EF4-FFF2-40B4-BE49-F238E27FC236}">
                <a16:creationId xmlns:a16="http://schemas.microsoft.com/office/drawing/2014/main" id="{C0A22D5D-A250-4A5B-166B-BA015DE21C5B}"/>
              </a:ext>
            </a:extLst>
          </p:cNvPr>
          <p:cNvSpPr>
            <a:spLocks noGrp="1"/>
          </p:cNvSpPr>
          <p:nvPr>
            <p:ph type="ftr" sz="quarter" idx="11"/>
          </p:nvPr>
        </p:nvSpPr>
        <p:spPr/>
        <p:txBody>
          <a:bodyPr/>
          <a:lstStyle/>
          <a:p>
            <a:r>
              <a:rPr lang="en-US"/>
              <a:t>Nada Wesam</a:t>
            </a:r>
          </a:p>
        </p:txBody>
      </p:sp>
    </p:spTree>
    <p:extLst>
      <p:ext uri="{BB962C8B-B14F-4D97-AF65-F5344CB8AC3E}">
        <p14:creationId xmlns:p14="http://schemas.microsoft.com/office/powerpoint/2010/main" val="660545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B894BD-6392-6D62-AE2F-51C34C01CFCD}"/>
              </a:ext>
            </a:extLst>
          </p:cNvPr>
          <p:cNvSpPr>
            <a:spLocks noGrp="1"/>
          </p:cNvSpPr>
          <p:nvPr>
            <p:ph type="title"/>
          </p:nvPr>
        </p:nvSpPr>
        <p:spPr>
          <a:xfrm>
            <a:off x="700088" y="909637"/>
            <a:ext cx="5958216" cy="1316736"/>
          </a:xfrm>
        </p:spPr>
        <p:txBody>
          <a:bodyPr vert="horz" lIns="91440" tIns="45720" rIns="91440" bIns="45720" rtlCol="0" anchor="t">
            <a:normAutofit/>
          </a:bodyPr>
          <a:lstStyle/>
          <a:p>
            <a:pPr>
              <a:lnSpc>
                <a:spcPct val="90000"/>
              </a:lnSpc>
            </a:pPr>
            <a:r>
              <a:rPr lang="en-US" sz="3100" dirty="0">
                <a:solidFill>
                  <a:schemeClr val="accent3"/>
                </a:solidFill>
              </a:rPr>
              <a:t>WAN Interface Configuration</a:t>
            </a:r>
            <a:br>
              <a:rPr lang="en-US" sz="3100" dirty="0">
                <a:solidFill>
                  <a:schemeClr val="accent3"/>
                </a:solidFill>
              </a:rPr>
            </a:br>
            <a:endParaRPr lang="en-US" sz="3100" dirty="0">
              <a:solidFill>
                <a:schemeClr val="accent3"/>
              </a:solidFill>
            </a:endParaRPr>
          </a:p>
          <a:p>
            <a:pPr>
              <a:lnSpc>
                <a:spcPct val="90000"/>
              </a:lnSpc>
            </a:pPr>
            <a:endParaRPr lang="en-US" sz="3100" dirty="0">
              <a:solidFill>
                <a:schemeClr val="accent3"/>
              </a:solidFill>
            </a:endParaRPr>
          </a:p>
        </p:txBody>
      </p:sp>
      <p:cxnSp>
        <p:nvCxnSpPr>
          <p:cNvPr id="20" name="Straight Connector 19">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E1A8902-F5B9-A94F-496A-24C19F7F1E8E}"/>
              </a:ext>
            </a:extLst>
          </p:cNvPr>
          <p:cNvSpPr>
            <a:spLocks noGrp="1"/>
          </p:cNvSpPr>
          <p:nvPr>
            <p:ph sz="half" idx="1"/>
          </p:nvPr>
        </p:nvSpPr>
        <p:spPr>
          <a:xfrm>
            <a:off x="700088" y="2235251"/>
            <a:ext cx="5958216" cy="3713109"/>
          </a:xfrm>
        </p:spPr>
        <p:txBody>
          <a:bodyPr vert="horz" lIns="91440" tIns="45720" rIns="91440" bIns="45720" rtlCol="0" anchor="t">
            <a:normAutofit/>
          </a:bodyPr>
          <a:lstStyle/>
          <a:p>
            <a:r>
              <a:rPr lang="en-US" dirty="0">
                <a:solidFill>
                  <a:schemeClr val="accent3"/>
                </a:solidFill>
              </a:rPr>
              <a:t>On both FortiGate devices, we created VLAN-based WAN sub-interfaces for each router connection.</a:t>
            </a:r>
            <a:br>
              <a:rPr lang="en-US" dirty="0">
                <a:solidFill>
                  <a:schemeClr val="accent3"/>
                </a:solidFill>
              </a:rPr>
            </a:br>
            <a:r>
              <a:rPr lang="en-US" dirty="0">
                <a:solidFill>
                  <a:schemeClr val="accent3"/>
                </a:solidFill>
              </a:rPr>
              <a:t> At HQ: WAN_R1 (10.10.10.2/30) and WAN_R2 (10.20.20.2/30).</a:t>
            </a:r>
            <a:br>
              <a:rPr lang="en-US" dirty="0">
                <a:solidFill>
                  <a:schemeClr val="accent3"/>
                </a:solidFill>
              </a:rPr>
            </a:br>
            <a:r>
              <a:rPr lang="en-US" dirty="0">
                <a:solidFill>
                  <a:schemeClr val="accent3"/>
                </a:solidFill>
              </a:rPr>
              <a:t> At Branch: WAN_R1_BR and WAN_R2_BR with matching subnets.</a:t>
            </a:r>
            <a:br>
              <a:rPr lang="en-US" dirty="0">
                <a:solidFill>
                  <a:schemeClr val="accent3"/>
                </a:solidFill>
              </a:rPr>
            </a:br>
            <a:r>
              <a:rPr lang="en-US" dirty="0">
                <a:solidFill>
                  <a:schemeClr val="accent3"/>
                </a:solidFill>
              </a:rPr>
              <a:t> Ping tests confirmed successful Layer 3 connectivity and communication between the firewalls and routers.</a:t>
            </a:r>
          </a:p>
          <a:p>
            <a:endParaRPr lang="en-US" dirty="0">
              <a:solidFill>
                <a:schemeClr val="accent3"/>
              </a:solidFill>
            </a:endParaRPr>
          </a:p>
        </p:txBody>
      </p:sp>
      <p:pic>
        <p:nvPicPr>
          <p:cNvPr id="9" name="Picture 8" descr="A screenshot of a computer program&#10;&#10;AI-generated content may be incorrect.">
            <a:extLst>
              <a:ext uri="{FF2B5EF4-FFF2-40B4-BE49-F238E27FC236}">
                <a16:creationId xmlns:a16="http://schemas.microsoft.com/office/drawing/2014/main" id="{DBBD3F1F-A8C1-DDE7-D873-449DEA1E6810}"/>
              </a:ext>
            </a:extLst>
          </p:cNvPr>
          <p:cNvPicPr>
            <a:picLocks noChangeAspect="1"/>
          </p:cNvPicPr>
          <p:nvPr/>
        </p:nvPicPr>
        <p:blipFill>
          <a:blip r:embed="rId2"/>
          <a:stretch>
            <a:fillRect/>
          </a:stretch>
        </p:blipFill>
        <p:spPr>
          <a:xfrm>
            <a:off x="7492219" y="719455"/>
            <a:ext cx="3722662" cy="2596557"/>
          </a:xfrm>
          <a:prstGeom prst="rect">
            <a:avLst/>
          </a:prstGeom>
        </p:spPr>
      </p:pic>
      <p:cxnSp>
        <p:nvCxnSpPr>
          <p:cNvPr id="22" name="Straight Connector 21">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Content Placeholder 6" descr="A screenshot of a computer screen&#10;&#10;AI-generated content may be incorrect.">
            <a:extLst>
              <a:ext uri="{FF2B5EF4-FFF2-40B4-BE49-F238E27FC236}">
                <a16:creationId xmlns:a16="http://schemas.microsoft.com/office/drawing/2014/main" id="{ED60CCE3-A116-D6DC-429C-DDD53B459C87}"/>
              </a:ext>
            </a:extLst>
          </p:cNvPr>
          <p:cNvPicPr>
            <a:picLocks noGrp="1" noChangeAspect="1"/>
          </p:cNvPicPr>
          <p:nvPr>
            <p:ph sz="half" idx="2"/>
          </p:nvPr>
        </p:nvPicPr>
        <p:blipFill>
          <a:blip r:embed="rId3"/>
          <a:stretch>
            <a:fillRect/>
          </a:stretch>
        </p:blipFill>
        <p:spPr>
          <a:xfrm>
            <a:off x="7535736" y="3602695"/>
            <a:ext cx="3635628" cy="2535851"/>
          </a:xfrm>
          <a:prstGeom prst="rect">
            <a:avLst/>
          </a:prstGeom>
        </p:spPr>
      </p:pic>
      <p:sp>
        <p:nvSpPr>
          <p:cNvPr id="5" name="Footer Placeholder 4">
            <a:extLst>
              <a:ext uri="{FF2B5EF4-FFF2-40B4-BE49-F238E27FC236}">
                <a16:creationId xmlns:a16="http://schemas.microsoft.com/office/drawing/2014/main" id="{FCC8CCA2-3EBC-586A-4454-A84CB71B0201}"/>
              </a:ext>
            </a:extLst>
          </p:cNvPr>
          <p:cNvSpPr>
            <a:spLocks noGrp="1"/>
          </p:cNvSpPr>
          <p:nvPr>
            <p:ph type="ftr" sz="quarter" idx="11"/>
          </p:nvPr>
        </p:nvSpPr>
        <p:spPr>
          <a:xfrm>
            <a:off x="704088" y="6356350"/>
            <a:ext cx="4539727" cy="365125"/>
          </a:xfrm>
        </p:spPr>
        <p:txBody>
          <a:bodyPr vert="horz" lIns="91440" tIns="45720" rIns="91440" bIns="45720" rtlCol="0" anchor="ctr">
            <a:normAutofit/>
          </a:bodyPr>
          <a:lstStyle/>
          <a:p>
            <a:pPr>
              <a:spcAft>
                <a:spcPts val="600"/>
              </a:spcAft>
            </a:pPr>
            <a:r>
              <a:rPr lang="en-US" kern="1200" dirty="0">
                <a:solidFill>
                  <a:schemeClr val="tx1"/>
                </a:solidFill>
                <a:latin typeface="+mj-lt"/>
                <a:ea typeface="+mn-ea"/>
                <a:cs typeface="+mn-cs"/>
              </a:rPr>
              <a:t>Nada Wesam</a:t>
            </a:r>
          </a:p>
        </p:txBody>
      </p:sp>
      <p:sp>
        <p:nvSpPr>
          <p:cNvPr id="6" name="Slide Number Placeholder 5">
            <a:extLst>
              <a:ext uri="{FF2B5EF4-FFF2-40B4-BE49-F238E27FC236}">
                <a16:creationId xmlns:a16="http://schemas.microsoft.com/office/drawing/2014/main" id="{52C3FF5D-7E95-1070-8968-808A4FE4CACE}"/>
              </a:ext>
            </a:extLst>
          </p:cNvPr>
          <p:cNvSpPr>
            <a:spLocks noGrp="1"/>
          </p:cNvSpPr>
          <p:nvPr>
            <p:ph type="sldNum" sz="quarter" idx="12"/>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87E7843D-FF13-4365-9478-9625B70A2705}" type="slidenum">
              <a:rPr lang="en-US" smtClean="0"/>
              <a:pPr>
                <a:lnSpc>
                  <a:spcPct val="90000"/>
                </a:lnSpc>
                <a:spcAft>
                  <a:spcPts val="600"/>
                </a:spcAft>
              </a:pPr>
              <a:t>4</a:t>
            </a:fld>
            <a:endParaRPr lang="en-US"/>
          </a:p>
        </p:txBody>
      </p:sp>
    </p:spTree>
    <p:extLst>
      <p:ext uri="{BB962C8B-B14F-4D97-AF65-F5344CB8AC3E}">
        <p14:creationId xmlns:p14="http://schemas.microsoft.com/office/powerpoint/2010/main" val="1055639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BE82B0-E2E6-E963-3B66-A524ACBA621C}"/>
              </a:ext>
            </a:extLst>
          </p:cNvPr>
          <p:cNvSpPr>
            <a:spLocks noGrp="1"/>
          </p:cNvSpPr>
          <p:nvPr>
            <p:ph type="title"/>
          </p:nvPr>
        </p:nvSpPr>
        <p:spPr>
          <a:xfrm>
            <a:off x="704089" y="914400"/>
            <a:ext cx="3453844" cy="1463040"/>
          </a:xfrm>
        </p:spPr>
        <p:txBody>
          <a:bodyPr vert="horz" lIns="91440" tIns="45720" rIns="91440" bIns="45720" rtlCol="0" anchor="t">
            <a:normAutofit/>
          </a:bodyPr>
          <a:lstStyle/>
          <a:p>
            <a:r>
              <a:rPr lang="en-US" sz="4000" dirty="0">
                <a:solidFill>
                  <a:schemeClr val="accent3"/>
                </a:solidFill>
              </a:rPr>
              <a:t>SD-WAN Zone &amp; Members</a:t>
            </a:r>
          </a:p>
        </p:txBody>
      </p:sp>
      <p:cxnSp>
        <p:nvCxnSpPr>
          <p:cNvPr id="19" name="Straight Connector 18">
            <a:extLst>
              <a:ext uri="{FF2B5EF4-FFF2-40B4-BE49-F238E27FC236}">
                <a16:creationId xmlns:a16="http://schemas.microsoft.com/office/drawing/2014/main" id="{A7C10D4C-8DED-200E-3237-3345F3F2A1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95F894D-C96C-DBCE-0F44-4D838DA92D8E}"/>
              </a:ext>
            </a:extLst>
          </p:cNvPr>
          <p:cNvSpPr>
            <a:spLocks noGrp="1"/>
          </p:cNvSpPr>
          <p:nvPr>
            <p:ph type="body" sz="half" idx="2"/>
          </p:nvPr>
        </p:nvSpPr>
        <p:spPr>
          <a:xfrm>
            <a:off x="4374567" y="1014984"/>
            <a:ext cx="7522268" cy="1379265"/>
          </a:xfrm>
        </p:spPr>
        <p:txBody>
          <a:bodyPr vert="horz" lIns="91440" tIns="45720" rIns="91440" bIns="45720" rtlCol="0" anchor="t">
            <a:noAutofit/>
          </a:bodyPr>
          <a:lstStyle/>
          <a:p>
            <a:pPr indent="-228600">
              <a:lnSpc>
                <a:spcPct val="100000"/>
              </a:lnSpc>
              <a:buFont typeface="Arial" panose="020B0604020202020204" pitchFamily="34" charset="0"/>
              <a:buChar char="•"/>
            </a:pPr>
            <a:r>
              <a:rPr lang="en-US" dirty="0">
                <a:solidFill>
                  <a:schemeClr val="accent3"/>
                </a:solidFill>
              </a:rPr>
              <a:t>We created SD-WAN zones at both sites (HQ_SD-WAN and BR_SD-WAN).</a:t>
            </a:r>
            <a:br>
              <a:rPr lang="en-US" dirty="0">
                <a:solidFill>
                  <a:schemeClr val="accent3"/>
                </a:solidFill>
              </a:rPr>
            </a:br>
            <a:r>
              <a:rPr lang="en-US" dirty="0">
                <a:solidFill>
                  <a:schemeClr val="accent3"/>
                </a:solidFill>
              </a:rPr>
              <a:t> We added both WAN interfaces as SD-WAN members and assigned their gateways (10.10.10.1 and 10.20.20.1).</a:t>
            </a:r>
            <a:br>
              <a:rPr lang="en-US" dirty="0">
                <a:solidFill>
                  <a:schemeClr val="accent3"/>
                </a:solidFill>
              </a:rPr>
            </a:br>
            <a:r>
              <a:rPr lang="en-US" dirty="0">
                <a:solidFill>
                  <a:schemeClr val="accent3"/>
                </a:solidFill>
              </a:rPr>
              <a:t> This allows the FortiGate to treat the multiple WAN links as a single logical interface and enables dynamic path selection.</a:t>
            </a:r>
          </a:p>
          <a:p>
            <a:pPr indent="-228600">
              <a:lnSpc>
                <a:spcPct val="100000"/>
              </a:lnSpc>
              <a:buFont typeface="Arial" panose="020B0604020202020204" pitchFamily="34" charset="0"/>
              <a:buChar char="•"/>
            </a:pPr>
            <a:endParaRPr lang="en-US" sz="1400" dirty="0">
              <a:solidFill>
                <a:schemeClr val="accent3"/>
              </a:solidFill>
            </a:endParaRPr>
          </a:p>
        </p:txBody>
      </p:sp>
      <p:cxnSp>
        <p:nvCxnSpPr>
          <p:cNvPr id="21" name="Straight Connector 20">
            <a:extLst>
              <a:ext uri="{FF2B5EF4-FFF2-40B4-BE49-F238E27FC236}">
                <a16:creationId xmlns:a16="http://schemas.microsoft.com/office/drawing/2014/main" id="{E8F7F80F-9EDD-0EEA-B6D7-E116EBA4FA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2497143"/>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Placeholder 7" descr="A screenshot of a graph&#10;&#10;AI-generated content may be incorrect.">
            <a:extLst>
              <a:ext uri="{FF2B5EF4-FFF2-40B4-BE49-F238E27FC236}">
                <a16:creationId xmlns:a16="http://schemas.microsoft.com/office/drawing/2014/main" id="{1B2FD4EE-97E5-BF32-44DE-C566740FA86F}"/>
              </a:ext>
            </a:extLst>
          </p:cNvPr>
          <p:cNvPicPr>
            <a:picLocks noGrp="1" noChangeAspect="1"/>
          </p:cNvPicPr>
          <p:nvPr>
            <p:ph type="pic" idx="1"/>
          </p:nvPr>
        </p:nvPicPr>
        <p:blipFill>
          <a:blip r:embed="rId2"/>
          <a:srcRect r="9951" b="1"/>
          <a:stretch>
            <a:fillRect/>
          </a:stretch>
        </p:blipFill>
        <p:spPr>
          <a:xfrm>
            <a:off x="280167" y="2667867"/>
            <a:ext cx="11805378" cy="3994030"/>
          </a:xfrm>
          <a:prstGeom prst="rect">
            <a:avLst/>
          </a:prstGeom>
        </p:spPr>
      </p:pic>
      <p:sp>
        <p:nvSpPr>
          <p:cNvPr id="5" name="Footer Placeholder 4">
            <a:extLst>
              <a:ext uri="{FF2B5EF4-FFF2-40B4-BE49-F238E27FC236}">
                <a16:creationId xmlns:a16="http://schemas.microsoft.com/office/drawing/2014/main" id="{511BAF89-D871-AAB1-799A-337C9D024BED}"/>
              </a:ext>
            </a:extLst>
          </p:cNvPr>
          <p:cNvSpPr>
            <a:spLocks noGrp="1"/>
          </p:cNvSpPr>
          <p:nvPr>
            <p:ph type="ftr" sz="quarter" idx="11"/>
          </p:nvPr>
        </p:nvSpPr>
        <p:spPr>
          <a:xfrm>
            <a:off x="704088" y="6356350"/>
            <a:ext cx="4539727" cy="365125"/>
          </a:xfrm>
        </p:spPr>
        <p:txBody>
          <a:bodyPr vert="horz" lIns="91440" tIns="45720" rIns="91440" bIns="45720" rtlCol="0" anchor="ctr">
            <a:normAutofit/>
          </a:bodyPr>
          <a:lstStyle/>
          <a:p>
            <a:pPr>
              <a:spcAft>
                <a:spcPts val="600"/>
              </a:spcAft>
            </a:pPr>
            <a:r>
              <a:rPr lang="en-US" kern="1200">
                <a:solidFill>
                  <a:srgbClr val="FFFFFF"/>
                </a:solidFill>
                <a:latin typeface="+mj-lt"/>
                <a:ea typeface="+mn-ea"/>
                <a:cs typeface="+mn-cs"/>
              </a:rPr>
              <a:t>Nada Wesam</a:t>
            </a:r>
          </a:p>
        </p:txBody>
      </p:sp>
      <p:sp>
        <p:nvSpPr>
          <p:cNvPr id="6" name="Slide Number Placeholder 5">
            <a:extLst>
              <a:ext uri="{FF2B5EF4-FFF2-40B4-BE49-F238E27FC236}">
                <a16:creationId xmlns:a16="http://schemas.microsoft.com/office/drawing/2014/main" id="{03BA76AB-330F-A118-F2B8-6C63DE37D57F}"/>
              </a:ext>
            </a:extLst>
          </p:cNvPr>
          <p:cNvSpPr>
            <a:spLocks noGrp="1"/>
          </p:cNvSpPr>
          <p:nvPr>
            <p:ph type="sldNum" sz="quarter" idx="12"/>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87E7843D-FF13-4365-9478-9625B70A2705}" type="slidenum">
              <a:rPr lang="en-US">
                <a:solidFill>
                  <a:srgbClr val="FFFFFF"/>
                </a:solidFill>
              </a:rPr>
              <a:pPr>
                <a:lnSpc>
                  <a:spcPct val="90000"/>
                </a:lnSpc>
                <a:spcAft>
                  <a:spcPts val="600"/>
                </a:spcAft>
              </a:pPr>
              <a:t>5</a:t>
            </a:fld>
            <a:endParaRPr lang="en-US">
              <a:solidFill>
                <a:srgbClr val="FFFFFF"/>
              </a:solidFill>
            </a:endParaRPr>
          </a:p>
        </p:txBody>
      </p:sp>
    </p:spTree>
    <p:extLst>
      <p:ext uri="{BB962C8B-B14F-4D97-AF65-F5344CB8AC3E}">
        <p14:creationId xmlns:p14="http://schemas.microsoft.com/office/powerpoint/2010/main" val="166514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3F0CB1-7552-D9C9-A966-EC8781029C4F}"/>
              </a:ext>
            </a:extLst>
          </p:cNvPr>
          <p:cNvSpPr>
            <a:spLocks noGrp="1"/>
          </p:cNvSpPr>
          <p:nvPr>
            <p:ph type="title"/>
          </p:nvPr>
        </p:nvSpPr>
        <p:spPr>
          <a:xfrm>
            <a:off x="700088" y="909637"/>
            <a:ext cx="5958216" cy="1316736"/>
          </a:xfrm>
        </p:spPr>
        <p:txBody>
          <a:bodyPr vert="horz" lIns="91440" tIns="45720" rIns="91440" bIns="45720" rtlCol="0" anchor="t">
            <a:normAutofit/>
          </a:bodyPr>
          <a:lstStyle/>
          <a:p>
            <a:r>
              <a:rPr lang="en-US" sz="4000" dirty="0">
                <a:solidFill>
                  <a:schemeClr val="accent3"/>
                </a:solidFill>
              </a:rPr>
              <a:t>Performance SLA Configuration</a:t>
            </a:r>
          </a:p>
        </p:txBody>
      </p:sp>
      <p:cxnSp>
        <p:nvCxnSpPr>
          <p:cNvPr id="20" name="Straight Connector 19">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081516DF-F295-841B-1994-7CD8F51C96EC}"/>
              </a:ext>
            </a:extLst>
          </p:cNvPr>
          <p:cNvSpPr>
            <a:spLocks noGrp="1"/>
          </p:cNvSpPr>
          <p:nvPr>
            <p:ph type="body" sz="half" idx="2"/>
          </p:nvPr>
        </p:nvSpPr>
        <p:spPr>
          <a:xfrm>
            <a:off x="700088" y="2229649"/>
            <a:ext cx="5958216" cy="2486064"/>
          </a:xfrm>
        </p:spPr>
        <p:txBody>
          <a:bodyPr vert="horz" lIns="91440" tIns="45720" rIns="91440" bIns="45720" rtlCol="0" anchor="t">
            <a:normAutofit/>
          </a:bodyPr>
          <a:lstStyle/>
          <a:p>
            <a:pPr indent="-228600">
              <a:buFont typeface="Arial" panose="020B0604020202020204" pitchFamily="34" charset="0"/>
              <a:buChar char="•"/>
            </a:pPr>
            <a:r>
              <a:rPr lang="en-US" sz="1800" dirty="0">
                <a:solidFill>
                  <a:schemeClr val="accent3"/>
                </a:solidFill>
              </a:rPr>
              <a:t>We configured two SLA health checks at each site, each monitoring a different WAN link.</a:t>
            </a:r>
            <a:br>
              <a:rPr lang="en-US" sz="1800" dirty="0">
                <a:solidFill>
                  <a:schemeClr val="accent3"/>
                </a:solidFill>
              </a:rPr>
            </a:br>
            <a:r>
              <a:rPr lang="en-US" sz="1800" dirty="0">
                <a:solidFill>
                  <a:schemeClr val="accent3"/>
                </a:solidFill>
              </a:rPr>
              <a:t> SLA_BR_R1 tracks traffic over Router R1 and SLA_BR_R2 monitors Router R2. Thresholds for latency, jitter, and packet loss were defined to ensure link quality. When a link exceeds thresholds, SD-WWAN marks it unstable and uses the alternate link.</a:t>
            </a:r>
          </a:p>
          <a:p>
            <a:pPr indent="-228600">
              <a:buFont typeface="Arial" panose="020B0604020202020204" pitchFamily="34" charset="0"/>
              <a:buChar char="•"/>
            </a:pPr>
            <a:endParaRPr lang="en-US" dirty="0">
              <a:solidFill>
                <a:schemeClr val="accent3"/>
              </a:solidFill>
            </a:endParaRPr>
          </a:p>
        </p:txBody>
      </p:sp>
      <p:pic>
        <p:nvPicPr>
          <p:cNvPr id="9" name="Picture 8" descr="A screenshot of a computer&#10;&#10;AI-generated content may be incorrect.">
            <a:extLst>
              <a:ext uri="{FF2B5EF4-FFF2-40B4-BE49-F238E27FC236}">
                <a16:creationId xmlns:a16="http://schemas.microsoft.com/office/drawing/2014/main" id="{3758D14D-B452-B128-46C5-8062EE41660C}"/>
              </a:ext>
            </a:extLst>
          </p:cNvPr>
          <p:cNvPicPr>
            <a:picLocks noChangeAspect="1"/>
          </p:cNvPicPr>
          <p:nvPr/>
        </p:nvPicPr>
        <p:blipFill>
          <a:blip r:embed="rId2"/>
          <a:stretch>
            <a:fillRect/>
          </a:stretch>
        </p:blipFill>
        <p:spPr>
          <a:xfrm>
            <a:off x="7886569" y="719455"/>
            <a:ext cx="2933962" cy="2596557"/>
          </a:xfrm>
          <a:prstGeom prst="rect">
            <a:avLst/>
          </a:prstGeom>
        </p:spPr>
      </p:pic>
      <p:cxnSp>
        <p:nvCxnSpPr>
          <p:cNvPr id="22" name="Straight Connector 21">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Placeholder 6" descr="A screenshot of a computer&#10;&#10;AI-generated content may be incorrect.">
            <a:extLst>
              <a:ext uri="{FF2B5EF4-FFF2-40B4-BE49-F238E27FC236}">
                <a16:creationId xmlns:a16="http://schemas.microsoft.com/office/drawing/2014/main" id="{AFA1878D-1DFA-1F65-24B0-3BF6BD371CC9}"/>
              </a:ext>
            </a:extLst>
          </p:cNvPr>
          <p:cNvPicPr>
            <a:picLocks noGrp="1" noChangeAspect="1"/>
          </p:cNvPicPr>
          <p:nvPr>
            <p:ph type="pic" idx="1"/>
          </p:nvPr>
        </p:nvPicPr>
        <p:blipFill>
          <a:blip r:embed="rId3"/>
          <a:srcRect t="2041" b="2041"/>
          <a:stretch/>
        </p:blipFill>
        <p:spPr>
          <a:xfrm>
            <a:off x="7721593" y="3602695"/>
            <a:ext cx="3263913" cy="2535851"/>
          </a:xfrm>
          <a:prstGeom prst="rect">
            <a:avLst/>
          </a:prstGeom>
        </p:spPr>
      </p:pic>
      <p:sp>
        <p:nvSpPr>
          <p:cNvPr id="5" name="Footer Placeholder 4">
            <a:extLst>
              <a:ext uri="{FF2B5EF4-FFF2-40B4-BE49-F238E27FC236}">
                <a16:creationId xmlns:a16="http://schemas.microsoft.com/office/drawing/2014/main" id="{108CF067-9B35-2105-6F8D-D9F6027A458F}"/>
              </a:ext>
            </a:extLst>
          </p:cNvPr>
          <p:cNvSpPr>
            <a:spLocks noGrp="1"/>
          </p:cNvSpPr>
          <p:nvPr>
            <p:ph type="ftr" sz="quarter" idx="11"/>
          </p:nvPr>
        </p:nvSpPr>
        <p:spPr>
          <a:xfrm>
            <a:off x="704088" y="6356350"/>
            <a:ext cx="4539727" cy="365125"/>
          </a:xfrm>
        </p:spPr>
        <p:txBody>
          <a:bodyPr vert="horz" lIns="91440" tIns="45720" rIns="91440" bIns="45720" rtlCol="0" anchor="ctr">
            <a:normAutofit/>
          </a:bodyPr>
          <a:lstStyle/>
          <a:p>
            <a:pPr>
              <a:spcAft>
                <a:spcPts val="600"/>
              </a:spcAft>
            </a:pPr>
            <a:r>
              <a:rPr lang="en-US" kern="1200" dirty="0">
                <a:solidFill>
                  <a:schemeClr val="tx1"/>
                </a:solidFill>
                <a:latin typeface="+mj-lt"/>
                <a:ea typeface="+mn-ea"/>
                <a:cs typeface="+mn-cs"/>
              </a:rPr>
              <a:t>Nada Wesam</a:t>
            </a:r>
          </a:p>
        </p:txBody>
      </p:sp>
      <p:sp>
        <p:nvSpPr>
          <p:cNvPr id="6" name="Slide Number Placeholder 5">
            <a:extLst>
              <a:ext uri="{FF2B5EF4-FFF2-40B4-BE49-F238E27FC236}">
                <a16:creationId xmlns:a16="http://schemas.microsoft.com/office/drawing/2014/main" id="{6661A6DD-5FB8-4EB3-9793-FA8489C2D578}"/>
              </a:ext>
            </a:extLst>
          </p:cNvPr>
          <p:cNvSpPr>
            <a:spLocks noGrp="1"/>
          </p:cNvSpPr>
          <p:nvPr>
            <p:ph type="sldNum" sz="quarter" idx="12"/>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87E7843D-FF13-4365-9478-9625B70A2705}" type="slidenum">
              <a:rPr lang="en-US" smtClean="0"/>
              <a:pPr>
                <a:lnSpc>
                  <a:spcPct val="90000"/>
                </a:lnSpc>
                <a:spcAft>
                  <a:spcPts val="600"/>
                </a:spcAft>
              </a:pPr>
              <a:t>6</a:t>
            </a:fld>
            <a:endParaRPr lang="en-US"/>
          </a:p>
        </p:txBody>
      </p:sp>
      <p:pic>
        <p:nvPicPr>
          <p:cNvPr id="11" name="Picture 10" descr="A screenshot of a graph&#10;&#10;AI-generated content may be incorrect.">
            <a:extLst>
              <a:ext uri="{FF2B5EF4-FFF2-40B4-BE49-F238E27FC236}">
                <a16:creationId xmlns:a16="http://schemas.microsoft.com/office/drawing/2014/main" id="{216ACD53-FF22-9B7D-C498-2A5669500B32}"/>
              </a:ext>
            </a:extLst>
          </p:cNvPr>
          <p:cNvPicPr>
            <a:picLocks noChangeAspect="1"/>
          </p:cNvPicPr>
          <p:nvPr/>
        </p:nvPicPr>
        <p:blipFill>
          <a:blip r:embed="rId4"/>
          <a:stretch>
            <a:fillRect/>
          </a:stretch>
        </p:blipFill>
        <p:spPr>
          <a:xfrm>
            <a:off x="151279" y="4683280"/>
            <a:ext cx="7295030" cy="1144559"/>
          </a:xfrm>
          <a:prstGeom prst="rect">
            <a:avLst/>
          </a:prstGeom>
        </p:spPr>
      </p:pic>
    </p:spTree>
    <p:extLst>
      <p:ext uri="{BB962C8B-B14F-4D97-AF65-F5344CB8AC3E}">
        <p14:creationId xmlns:p14="http://schemas.microsoft.com/office/powerpoint/2010/main" val="165060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BF8E-7191-A4C8-D661-30CF8D0D3DA4}"/>
              </a:ext>
            </a:extLst>
          </p:cNvPr>
          <p:cNvSpPr>
            <a:spLocks noGrp="1"/>
          </p:cNvSpPr>
          <p:nvPr>
            <p:ph type="title"/>
          </p:nvPr>
        </p:nvSpPr>
        <p:spPr/>
        <p:txBody>
          <a:bodyPr/>
          <a:lstStyle/>
          <a:p>
            <a:r>
              <a:rPr lang="en-US" dirty="0">
                <a:solidFill>
                  <a:schemeClr val="accent3"/>
                </a:solidFill>
                <a:ea typeface="+mj-lt"/>
                <a:cs typeface="+mj-lt"/>
              </a:rPr>
              <a:t>SD-WAN Rule</a:t>
            </a:r>
            <a:endParaRPr lang="en-US" dirty="0">
              <a:solidFill>
                <a:schemeClr val="accent3"/>
              </a:solidFill>
            </a:endParaRPr>
          </a:p>
        </p:txBody>
      </p:sp>
      <p:pic>
        <p:nvPicPr>
          <p:cNvPr id="7" name="Content Placeholder 6" descr="A screenshot of a computer&#10;&#10;AI-generated content may be incorrect.">
            <a:extLst>
              <a:ext uri="{FF2B5EF4-FFF2-40B4-BE49-F238E27FC236}">
                <a16:creationId xmlns:a16="http://schemas.microsoft.com/office/drawing/2014/main" id="{B6D4708D-69E2-4C7A-CB6C-CCF0B5205C70}"/>
              </a:ext>
            </a:extLst>
          </p:cNvPr>
          <p:cNvPicPr>
            <a:picLocks noGrp="1" noChangeAspect="1"/>
          </p:cNvPicPr>
          <p:nvPr>
            <p:ph idx="1"/>
          </p:nvPr>
        </p:nvPicPr>
        <p:blipFill>
          <a:blip r:embed="rId2"/>
          <a:stretch>
            <a:fillRect/>
          </a:stretch>
        </p:blipFill>
        <p:spPr>
          <a:xfrm>
            <a:off x="5909937" y="1408049"/>
            <a:ext cx="4718702" cy="4114800"/>
          </a:xfrm>
          <a:prstGeom prst="rect">
            <a:avLst/>
          </a:prstGeom>
        </p:spPr>
      </p:pic>
      <p:sp>
        <p:nvSpPr>
          <p:cNvPr id="4" name="Text Placeholder 3">
            <a:extLst>
              <a:ext uri="{FF2B5EF4-FFF2-40B4-BE49-F238E27FC236}">
                <a16:creationId xmlns:a16="http://schemas.microsoft.com/office/drawing/2014/main" id="{559C0263-E67B-BC69-9CDC-540558B940DB}"/>
              </a:ext>
            </a:extLst>
          </p:cNvPr>
          <p:cNvSpPr>
            <a:spLocks noGrp="1"/>
          </p:cNvSpPr>
          <p:nvPr>
            <p:ph type="body" sz="half" idx="2"/>
          </p:nvPr>
        </p:nvSpPr>
        <p:spPr/>
        <p:txBody>
          <a:bodyPr vert="horz" lIns="91440" tIns="45720" rIns="91440" bIns="45720" rtlCol="0" anchor="t">
            <a:normAutofit/>
          </a:bodyPr>
          <a:lstStyle/>
          <a:p>
            <a:r>
              <a:rPr lang="en-US" sz="1800" dirty="0">
                <a:solidFill>
                  <a:schemeClr val="accent3"/>
                </a:solidFill>
                <a:ea typeface="+mn-lt"/>
                <a:cs typeface="+mn-lt"/>
              </a:rPr>
              <a:t>We applied SD-WAN routing rules with the “Best Quality” strategy.</a:t>
            </a:r>
            <a:br>
              <a:rPr lang="en-US" sz="1800" dirty="0">
                <a:solidFill>
                  <a:schemeClr val="accent3"/>
                </a:solidFill>
                <a:ea typeface="+mn-lt"/>
                <a:cs typeface="+mn-lt"/>
              </a:rPr>
            </a:br>
            <a:r>
              <a:rPr lang="en-US" sz="1800" dirty="0">
                <a:solidFill>
                  <a:schemeClr val="accent3"/>
                </a:solidFill>
                <a:ea typeface="+mn-lt"/>
                <a:cs typeface="+mn-lt"/>
              </a:rPr>
              <a:t> The rule selects the optimal WAN path based on live SLA performance. If WAN_R1 shows lower latency and packet loss, it becomes the active link; if its performance degrades, traffic shifts automatically to WAN_R2 without user disruption.</a:t>
            </a:r>
          </a:p>
          <a:p>
            <a:endParaRPr lang="en-US" dirty="0">
              <a:solidFill>
                <a:schemeClr val="accent3"/>
              </a:solidFill>
            </a:endParaRPr>
          </a:p>
        </p:txBody>
      </p:sp>
      <p:sp>
        <p:nvSpPr>
          <p:cNvPr id="5" name="Footer Placeholder 4">
            <a:extLst>
              <a:ext uri="{FF2B5EF4-FFF2-40B4-BE49-F238E27FC236}">
                <a16:creationId xmlns:a16="http://schemas.microsoft.com/office/drawing/2014/main" id="{31A8DF1E-9FB9-9B3E-5960-37C3CBE58309}"/>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CC1CDAD2-0B4E-29CD-5FEC-D11EEC195482}"/>
              </a:ext>
            </a:extLst>
          </p:cNvPr>
          <p:cNvSpPr>
            <a:spLocks noGrp="1"/>
          </p:cNvSpPr>
          <p:nvPr>
            <p:ph type="sldNum" sz="quarter" idx="12"/>
          </p:nvPr>
        </p:nvSpPr>
        <p:spPr/>
        <p:txBody>
          <a:bodyPr/>
          <a:lstStyle/>
          <a:p>
            <a:fld id="{87E7843D-FF13-4365-9478-9625B70A2705}" type="slidenum">
              <a:rPr lang="en-US" smtClean="0"/>
              <a:t>7</a:t>
            </a:fld>
            <a:endParaRPr lang="en-US"/>
          </a:p>
        </p:txBody>
      </p:sp>
      <p:sp>
        <p:nvSpPr>
          <p:cNvPr id="8" name="TextBox 7">
            <a:extLst>
              <a:ext uri="{FF2B5EF4-FFF2-40B4-BE49-F238E27FC236}">
                <a16:creationId xmlns:a16="http://schemas.microsoft.com/office/drawing/2014/main" id="{34937623-42BE-25C6-30D5-D6C65B53F363}"/>
              </a:ext>
            </a:extLst>
          </p:cNvPr>
          <p:cNvSpPr txBox="1"/>
          <p:nvPr/>
        </p:nvSpPr>
        <p:spPr>
          <a:xfrm>
            <a:off x="3738725" y="1169254"/>
            <a:ext cx="5167814" cy="46625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153024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78EB459-3385-4BF6-A9E1-154CBA25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87DC3A-54D7-E843-265E-9F11B25ADEF3}"/>
              </a:ext>
            </a:extLst>
          </p:cNvPr>
          <p:cNvSpPr>
            <a:spLocks noGrp="1"/>
          </p:cNvSpPr>
          <p:nvPr>
            <p:ph type="title"/>
          </p:nvPr>
        </p:nvSpPr>
        <p:spPr>
          <a:xfrm>
            <a:off x="700087" y="909637"/>
            <a:ext cx="7601230" cy="1316736"/>
          </a:xfrm>
        </p:spPr>
        <p:txBody>
          <a:bodyPr>
            <a:normAutofit/>
          </a:bodyPr>
          <a:lstStyle/>
          <a:p>
            <a:r>
              <a:rPr lang="en-US" dirty="0">
                <a:solidFill>
                  <a:schemeClr val="accent3"/>
                </a:solidFill>
                <a:ea typeface="+mj-lt"/>
                <a:cs typeface="+mj-lt"/>
              </a:rPr>
              <a:t>Testing &amp; Validation</a:t>
            </a:r>
            <a:endParaRPr lang="en-US" dirty="0">
              <a:solidFill>
                <a:schemeClr val="accent3"/>
              </a:solidFill>
            </a:endParaRPr>
          </a:p>
        </p:txBody>
      </p:sp>
      <p:cxnSp>
        <p:nvCxnSpPr>
          <p:cNvPr id="15" name="Straight Connector 14">
            <a:extLst>
              <a:ext uri="{FF2B5EF4-FFF2-40B4-BE49-F238E27FC236}">
                <a16:creationId xmlns:a16="http://schemas.microsoft.com/office/drawing/2014/main" id="{ED6096EE-B6F5-428C-8EBD-46045203F4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86DF0DD-390A-4094-677E-DE2BF83D76FE}"/>
              </a:ext>
            </a:extLst>
          </p:cNvPr>
          <p:cNvSpPr>
            <a:spLocks noGrp="1"/>
          </p:cNvSpPr>
          <p:nvPr>
            <p:ph idx="1"/>
          </p:nvPr>
        </p:nvSpPr>
        <p:spPr>
          <a:xfrm>
            <a:off x="700088" y="2226373"/>
            <a:ext cx="6479107" cy="3721985"/>
          </a:xfrm>
        </p:spPr>
        <p:txBody>
          <a:bodyPr vert="horz" lIns="91440" tIns="45720" rIns="91440" bIns="45720" rtlCol="0" anchor="t">
            <a:normAutofit/>
          </a:bodyPr>
          <a:lstStyle/>
          <a:p>
            <a:r>
              <a:rPr lang="en-US" dirty="0">
                <a:solidFill>
                  <a:schemeClr val="accent3"/>
                </a:solidFill>
                <a:ea typeface="+mn-lt"/>
                <a:cs typeface="+mn-lt"/>
              </a:rPr>
              <a:t>We tested connectivity between HQ and Branch using ICMP and monitored link behavior.</a:t>
            </a:r>
            <a:br>
              <a:rPr lang="en-US" dirty="0">
                <a:solidFill>
                  <a:schemeClr val="accent3"/>
                </a:solidFill>
                <a:ea typeface="+mn-lt"/>
                <a:cs typeface="+mn-lt"/>
              </a:rPr>
            </a:br>
            <a:r>
              <a:rPr lang="en-US" dirty="0">
                <a:solidFill>
                  <a:schemeClr val="accent3"/>
                </a:solidFill>
                <a:ea typeface="+mn-lt"/>
                <a:cs typeface="+mn-lt"/>
              </a:rPr>
              <a:t> When we manually shut down Router R1, SD-WAN detected the loss of SLA metrics and routed traffic through Router R2 instantly. When R1 came back online, the link selection recalculated based on SLA values.</a:t>
            </a:r>
            <a:endParaRPr lang="en-US" dirty="0">
              <a:solidFill>
                <a:schemeClr val="accent3"/>
              </a:solidFill>
            </a:endParaRPr>
          </a:p>
          <a:p>
            <a:endParaRPr lang="en-US" dirty="0">
              <a:solidFill>
                <a:schemeClr val="accent3"/>
              </a:solidFill>
            </a:endParaRPr>
          </a:p>
        </p:txBody>
      </p:sp>
      <p:pic>
        <p:nvPicPr>
          <p:cNvPr id="8" name="Picture 7" descr="A screenshot of a computer&#10;&#10;AI-generated content may be incorrect.">
            <a:extLst>
              <a:ext uri="{FF2B5EF4-FFF2-40B4-BE49-F238E27FC236}">
                <a16:creationId xmlns:a16="http://schemas.microsoft.com/office/drawing/2014/main" id="{E49B2FDA-CC9C-9366-A2D6-66A328D9D45C}"/>
              </a:ext>
            </a:extLst>
          </p:cNvPr>
          <p:cNvPicPr>
            <a:picLocks noChangeAspect="1"/>
          </p:cNvPicPr>
          <p:nvPr/>
        </p:nvPicPr>
        <p:blipFill>
          <a:blip r:embed="rId2"/>
          <a:stretch>
            <a:fillRect/>
          </a:stretch>
        </p:blipFill>
        <p:spPr>
          <a:xfrm>
            <a:off x="7396010" y="1321361"/>
            <a:ext cx="3981137" cy="132485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F39E0589-99C5-9792-F179-17D004135A3D}"/>
              </a:ext>
            </a:extLst>
          </p:cNvPr>
          <p:cNvPicPr>
            <a:picLocks noChangeAspect="1"/>
          </p:cNvPicPr>
          <p:nvPr/>
        </p:nvPicPr>
        <p:blipFill>
          <a:blip r:embed="rId3"/>
          <a:stretch>
            <a:fillRect/>
          </a:stretch>
        </p:blipFill>
        <p:spPr>
          <a:xfrm>
            <a:off x="7489955" y="3050048"/>
            <a:ext cx="3892411" cy="1214747"/>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30BADA0-48B1-BB6B-769F-045FA0199EDD}"/>
              </a:ext>
            </a:extLst>
          </p:cNvPr>
          <p:cNvPicPr>
            <a:picLocks noChangeAspect="1"/>
          </p:cNvPicPr>
          <p:nvPr/>
        </p:nvPicPr>
        <p:blipFill>
          <a:blip r:embed="rId4"/>
          <a:stretch>
            <a:fillRect/>
          </a:stretch>
        </p:blipFill>
        <p:spPr>
          <a:xfrm>
            <a:off x="7620434" y="4577127"/>
            <a:ext cx="3756713" cy="792829"/>
          </a:xfrm>
          <a:prstGeom prst="rect">
            <a:avLst/>
          </a:prstGeom>
        </p:spPr>
      </p:pic>
      <p:cxnSp>
        <p:nvCxnSpPr>
          <p:cNvPr id="17" name="Straight Connector 16">
            <a:extLst>
              <a:ext uri="{FF2B5EF4-FFF2-40B4-BE49-F238E27FC236}">
                <a16:creationId xmlns:a16="http://schemas.microsoft.com/office/drawing/2014/main" id="{D1B96C29-C58D-485E-91A8-02D01DD170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B37EB77-B3C1-7A8A-6F9C-00102034C370}"/>
              </a:ext>
            </a:extLst>
          </p:cNvPr>
          <p:cNvSpPr>
            <a:spLocks noGrp="1"/>
          </p:cNvSpPr>
          <p:nvPr>
            <p:ph type="ftr" sz="quarter" idx="11"/>
          </p:nvPr>
        </p:nvSpPr>
        <p:spPr>
          <a:xfrm>
            <a:off x="704088" y="6356350"/>
            <a:ext cx="4539727" cy="365125"/>
          </a:xfrm>
        </p:spPr>
        <p:txBody>
          <a:bodyPr>
            <a:normAutofit/>
          </a:bodyPr>
          <a:lstStyle/>
          <a:p>
            <a:pPr>
              <a:spcAft>
                <a:spcPts val="600"/>
              </a:spcAft>
            </a:pPr>
            <a:r>
              <a:rPr lang="en-US" dirty="0"/>
              <a:t>Nada Wesam</a:t>
            </a:r>
            <a:endParaRPr lang="en-US"/>
          </a:p>
        </p:txBody>
      </p:sp>
      <p:sp>
        <p:nvSpPr>
          <p:cNvPr id="5" name="Slide Number Placeholder 4">
            <a:extLst>
              <a:ext uri="{FF2B5EF4-FFF2-40B4-BE49-F238E27FC236}">
                <a16:creationId xmlns:a16="http://schemas.microsoft.com/office/drawing/2014/main" id="{AD338D1C-9F58-6208-8A19-69E4EFE71D6C}"/>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mtClean="0"/>
              <a:pPr>
                <a:lnSpc>
                  <a:spcPct val="90000"/>
                </a:lnSpc>
                <a:spcAft>
                  <a:spcPts val="600"/>
                </a:spcAft>
              </a:pPr>
              <a:t>8</a:t>
            </a:fld>
            <a:endParaRPr lang="en-US"/>
          </a:p>
        </p:txBody>
      </p:sp>
    </p:spTree>
    <p:extLst>
      <p:ext uri="{BB962C8B-B14F-4D97-AF65-F5344CB8AC3E}">
        <p14:creationId xmlns:p14="http://schemas.microsoft.com/office/powerpoint/2010/main" val="2094626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34280-FE24-69C9-AD52-E262F962845A}"/>
              </a:ext>
            </a:extLst>
          </p:cNvPr>
          <p:cNvSpPr>
            <a:spLocks noGrp="1"/>
          </p:cNvSpPr>
          <p:nvPr>
            <p:ph type="title"/>
          </p:nvPr>
        </p:nvSpPr>
        <p:spPr/>
        <p:txBody>
          <a:bodyPr/>
          <a:lstStyle/>
          <a:p>
            <a:r>
              <a:rPr lang="en-US" dirty="0">
                <a:solidFill>
                  <a:schemeClr val="accent3"/>
                </a:solidFill>
                <a:ea typeface="+mj-lt"/>
                <a:cs typeface="+mj-lt"/>
              </a:rPr>
              <a:t>Conclusion</a:t>
            </a:r>
            <a:endParaRPr lang="en-US" dirty="0">
              <a:solidFill>
                <a:schemeClr val="accent3"/>
              </a:solidFill>
            </a:endParaRPr>
          </a:p>
        </p:txBody>
      </p:sp>
      <p:sp>
        <p:nvSpPr>
          <p:cNvPr id="3" name="Content Placeholder 2">
            <a:extLst>
              <a:ext uri="{FF2B5EF4-FFF2-40B4-BE49-F238E27FC236}">
                <a16:creationId xmlns:a16="http://schemas.microsoft.com/office/drawing/2014/main" id="{9C4E2249-A76D-61AA-B864-4CBDE3244A86}"/>
              </a:ext>
            </a:extLst>
          </p:cNvPr>
          <p:cNvSpPr>
            <a:spLocks noGrp="1"/>
          </p:cNvSpPr>
          <p:nvPr>
            <p:ph idx="1"/>
          </p:nvPr>
        </p:nvSpPr>
        <p:spPr/>
        <p:txBody>
          <a:bodyPr vert="horz" lIns="91440" tIns="45720" rIns="91440" bIns="45720" rtlCol="0" anchor="t">
            <a:normAutofit/>
          </a:bodyPr>
          <a:lstStyle/>
          <a:p>
            <a:r>
              <a:rPr lang="en-US" dirty="0">
                <a:solidFill>
                  <a:schemeClr val="accent3"/>
                </a:solidFill>
                <a:ea typeface="+mn-lt"/>
                <a:cs typeface="+mn-lt"/>
              </a:rPr>
              <a:t>The SD-WAN deployment successfully enabled intelligent WAN path selection, redundancy, and simplified management across dual FortiGate firewalls. The project proves the efficiency of Fortinet SD-WAN for scalable, secure, and responsive enterprise networks. It provides full resiliency and prepares the network for future expansion and additional applications.</a:t>
            </a:r>
            <a:endParaRPr lang="en-US" dirty="0">
              <a:solidFill>
                <a:schemeClr val="accent3"/>
              </a:solidFill>
            </a:endParaRPr>
          </a:p>
          <a:p>
            <a:pPr marL="0" indent="0">
              <a:buNone/>
            </a:pPr>
            <a:endParaRPr lang="en-US" dirty="0">
              <a:solidFill>
                <a:schemeClr val="accent3"/>
              </a:solidFill>
            </a:endParaRPr>
          </a:p>
          <a:p>
            <a:endParaRPr lang="en-US" dirty="0">
              <a:solidFill>
                <a:schemeClr val="accent3"/>
              </a:solidFill>
            </a:endParaRPr>
          </a:p>
        </p:txBody>
      </p:sp>
      <p:sp>
        <p:nvSpPr>
          <p:cNvPr id="4" name="Footer Placeholder 3">
            <a:extLst>
              <a:ext uri="{FF2B5EF4-FFF2-40B4-BE49-F238E27FC236}">
                <a16:creationId xmlns:a16="http://schemas.microsoft.com/office/drawing/2014/main" id="{E2DFE40A-B5CC-B15B-A677-A3BED0E09394}"/>
              </a:ext>
            </a:extLst>
          </p:cNvPr>
          <p:cNvSpPr>
            <a:spLocks noGrp="1"/>
          </p:cNvSpPr>
          <p:nvPr>
            <p:ph type="ftr" sz="quarter" idx="11"/>
          </p:nvPr>
        </p:nvSpPr>
        <p:spPr/>
        <p:txBody>
          <a:bodyPr/>
          <a:lstStyle/>
          <a:p>
            <a:r>
              <a:rPr lang="en-US" dirty="0"/>
              <a:t>Nada Wesam</a:t>
            </a:r>
          </a:p>
        </p:txBody>
      </p:sp>
      <p:sp>
        <p:nvSpPr>
          <p:cNvPr id="5" name="Slide Number Placeholder 4">
            <a:extLst>
              <a:ext uri="{FF2B5EF4-FFF2-40B4-BE49-F238E27FC236}">
                <a16:creationId xmlns:a16="http://schemas.microsoft.com/office/drawing/2014/main" id="{4A6760CE-27C4-D9CD-C39B-940F7F9DF103}"/>
              </a:ext>
            </a:extLst>
          </p:cNvPr>
          <p:cNvSpPr>
            <a:spLocks noGrp="1"/>
          </p:cNvSpPr>
          <p:nvPr>
            <p:ph type="sldNum" sz="quarter" idx="12"/>
          </p:nvPr>
        </p:nvSpPr>
        <p:spPr/>
        <p:txBody>
          <a:bodyPr/>
          <a:lstStyle/>
          <a:p>
            <a:fld id="{87E7843D-FF13-4365-9478-9625B70A2705}" type="slidenum">
              <a:rPr lang="en-US" smtClean="0"/>
              <a:t>9</a:t>
            </a:fld>
            <a:endParaRPr lang="en-US"/>
          </a:p>
        </p:txBody>
      </p:sp>
    </p:spTree>
    <p:extLst>
      <p:ext uri="{BB962C8B-B14F-4D97-AF65-F5344CB8AC3E}">
        <p14:creationId xmlns:p14="http://schemas.microsoft.com/office/powerpoint/2010/main" val="321954528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ChronicleVTI</vt:lpstr>
      <vt:lpstr>SD-WAN ON FORTIGATE</vt:lpstr>
      <vt:lpstr>Introduction</vt:lpstr>
      <vt:lpstr>Network Topology</vt:lpstr>
      <vt:lpstr>WAN Interface Configuration  </vt:lpstr>
      <vt:lpstr>SD-WAN Zone &amp; Members</vt:lpstr>
      <vt:lpstr>Performance SLA Configuration</vt:lpstr>
      <vt:lpstr>SD-WAN Rule</vt:lpstr>
      <vt:lpstr>Testing &amp; Validation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241</cp:revision>
  <dcterms:created xsi:type="dcterms:W3CDTF">2013-07-15T20:26:40Z</dcterms:created>
  <dcterms:modified xsi:type="dcterms:W3CDTF">2025-12-06T12:18:24Z</dcterms:modified>
</cp:coreProperties>
</file>