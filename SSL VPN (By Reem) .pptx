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22" r:id="rId5"/>
    <p:sldId id="318" r:id="rId6"/>
    <p:sldId id="323" r:id="rId7"/>
    <p:sldId id="324" r:id="rId8"/>
    <p:sldId id="325" r:id="rId9"/>
    <p:sldId id="326" r:id="rId10"/>
    <p:sldId id="31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>
      <p:cViewPr varScale="1">
        <p:scale>
          <a:sx n="92" d="100"/>
          <a:sy n="92" d="100"/>
        </p:scale>
        <p:origin x="288" y="8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12/6/2025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r>
              <a:rPr lang="en-US" dirty="0"/>
              <a:t>SSL VPN 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53" y="528789"/>
            <a:ext cx="9150675" cy="1427585"/>
          </a:xfrm>
        </p:spPr>
        <p:txBody>
          <a:bodyPr/>
          <a:lstStyle/>
          <a:p>
            <a:r>
              <a:rPr lang="en-US" dirty="0"/>
              <a:t>Introduction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SSL VPN allows remote users to securely connect to the internal network using a browser or FortiClient.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Useful when users need </a:t>
            </a:r>
            <a:r>
              <a:rPr lang="en-US" altLang="en-US" b="1" dirty="0">
                <a:latin typeface="Arial" panose="020B0604020202020204" pitchFamily="34" charset="0"/>
              </a:rPr>
              <a:t>secure access to internal subnets</a:t>
            </a:r>
            <a:r>
              <a:rPr lang="en-US" altLang="en-US" dirty="0">
                <a:latin typeface="Arial" panose="020B0604020202020204" pitchFamily="34" charset="0"/>
              </a:rPr>
              <a:t> from outside the office.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It uses </a:t>
            </a:r>
            <a:r>
              <a:rPr lang="en-US" altLang="en-US" b="1" dirty="0">
                <a:latin typeface="Arial" panose="020B0604020202020204" pitchFamily="34" charset="0"/>
              </a:rPr>
              <a:t>HTTPS encryption (port 443 or custom port)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C52CA-D4AE-7716-187E-FBF40AEA9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AD3C-0C5A-89F8-AB09-C8D34E1F2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53" y="528789"/>
            <a:ext cx="9150675" cy="1427585"/>
          </a:xfrm>
        </p:spPr>
        <p:txBody>
          <a:bodyPr/>
          <a:lstStyle/>
          <a:p>
            <a:r>
              <a:rPr lang="en-US" dirty="0"/>
              <a:t>Configuration Steps (Summary)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2880B-8D81-9437-1A3C-6DBC7BC028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/>
          <a:lstStyle/>
          <a:p>
            <a:r>
              <a:rPr lang="en-US" b="1" dirty="0"/>
              <a:t>a) Create User and Group</a:t>
            </a:r>
          </a:p>
          <a:p>
            <a:r>
              <a:rPr lang="en-US" dirty="0"/>
              <a:t>Created </a:t>
            </a:r>
            <a:r>
              <a:rPr lang="en-US" b="1" dirty="0"/>
              <a:t>user1</a:t>
            </a:r>
            <a:r>
              <a:rPr lang="en-US" dirty="0"/>
              <a:t> (local user).</a:t>
            </a:r>
          </a:p>
          <a:p>
            <a:r>
              <a:rPr lang="en-US" dirty="0"/>
              <a:t>Added user to group </a:t>
            </a:r>
            <a:r>
              <a:rPr lang="en-US" b="1" dirty="0"/>
              <a:t>SSL_VPN_USERS</a:t>
            </a:r>
            <a:r>
              <a:rPr lang="en-US" dirty="0"/>
              <a:t>.</a:t>
            </a:r>
          </a:p>
          <a:p>
            <a:r>
              <a:rPr lang="en-US" b="1" dirty="0"/>
              <a:t>b) Create SSL VPN Portal</a:t>
            </a:r>
          </a:p>
          <a:p>
            <a:r>
              <a:rPr lang="en-US" dirty="0"/>
              <a:t>Portal name: </a:t>
            </a:r>
            <a:r>
              <a:rPr lang="en-US" b="1" dirty="0"/>
              <a:t>tunnel-access</a:t>
            </a:r>
            <a:endParaRPr lang="en-US" dirty="0"/>
          </a:p>
          <a:p>
            <a:r>
              <a:rPr lang="en-US" dirty="0"/>
              <a:t>Enabled </a:t>
            </a:r>
            <a:r>
              <a:rPr lang="en-US" b="1" dirty="0"/>
              <a:t>Tunnel Mode</a:t>
            </a:r>
            <a:r>
              <a:rPr lang="en-US" dirty="0"/>
              <a:t> (Web mode disabled).</a:t>
            </a:r>
          </a:p>
          <a:p>
            <a:r>
              <a:rPr lang="en-US" dirty="0"/>
              <a:t>Split tunneling: </a:t>
            </a:r>
            <a:r>
              <a:rPr lang="en-US" b="1" dirty="0"/>
              <a:t>Enabled</a:t>
            </a:r>
            <a:r>
              <a:rPr lang="en-US" dirty="0"/>
              <a:t> (only allow access to VLAN50).</a:t>
            </a:r>
          </a:p>
          <a:p>
            <a:r>
              <a:rPr lang="en-US" dirty="0"/>
              <a:t>Source IP pool: </a:t>
            </a:r>
            <a:r>
              <a:rPr lang="en-US" b="1" dirty="0"/>
              <a:t>SSLVPN_TUNNEL_ADDR1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F4FA2-DE2D-2D36-FA97-27FE410A65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816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EDBA0-2323-E759-C579-5D0239BE5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600B-0BCF-91CD-4231-A4399CAA7F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6779" y="498763"/>
            <a:ext cx="8552264" cy="599542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c) Configure SSL VPN Settings</a:t>
            </a:r>
          </a:p>
          <a:p>
            <a:r>
              <a:rPr lang="en-US" dirty="0"/>
              <a:t>Listen on: </a:t>
            </a:r>
            <a:r>
              <a:rPr lang="en-US" b="1" dirty="0"/>
              <a:t>port4</a:t>
            </a:r>
            <a:r>
              <a:rPr lang="en-US" dirty="0"/>
              <a:t> (WAN interface).</a:t>
            </a:r>
          </a:p>
          <a:p>
            <a:r>
              <a:rPr lang="en-US" dirty="0"/>
              <a:t>Custom port: </a:t>
            </a:r>
            <a:r>
              <a:rPr lang="en-US" b="1" dirty="0"/>
              <a:t>10443</a:t>
            </a:r>
            <a:r>
              <a:rPr lang="en-US" dirty="0"/>
              <a:t> (to avoid HTTPS conflict).</a:t>
            </a:r>
          </a:p>
          <a:p>
            <a:r>
              <a:rPr lang="en-US" dirty="0"/>
              <a:t>Server certificate: default.</a:t>
            </a:r>
          </a:p>
          <a:p>
            <a:r>
              <a:rPr lang="en-US" dirty="0"/>
              <a:t>Authentication mapping:</a:t>
            </a:r>
          </a:p>
          <a:p>
            <a:pPr lvl="1"/>
            <a:r>
              <a:rPr lang="en-US" dirty="0"/>
              <a:t>Group </a:t>
            </a:r>
            <a:r>
              <a:rPr lang="en-US" b="1" dirty="0"/>
              <a:t>SSL_VPN_USERS → tunnel-access</a:t>
            </a:r>
            <a:r>
              <a:rPr lang="en-US" dirty="0"/>
              <a:t> portal.</a:t>
            </a:r>
          </a:p>
          <a:p>
            <a:r>
              <a:rPr lang="en-US" b="1" dirty="0"/>
              <a:t>d) Firewall Policy</a:t>
            </a:r>
          </a:p>
          <a:p>
            <a:r>
              <a:rPr lang="en-US" dirty="0"/>
              <a:t>Incoming interface: </a:t>
            </a:r>
            <a:r>
              <a:rPr lang="en-US" b="1" dirty="0" err="1"/>
              <a:t>ssl.root</a:t>
            </a:r>
            <a:r>
              <a:rPr lang="en-US" dirty="0"/>
              <a:t> (SSL VPN).</a:t>
            </a:r>
          </a:p>
          <a:p>
            <a:r>
              <a:rPr lang="en-US" dirty="0"/>
              <a:t>Outgoing interface: </a:t>
            </a:r>
            <a:r>
              <a:rPr lang="en-US" b="1" dirty="0"/>
              <a:t>port1</a:t>
            </a:r>
            <a:r>
              <a:rPr lang="en-US" dirty="0"/>
              <a:t> (inside network).</a:t>
            </a:r>
          </a:p>
          <a:p>
            <a:r>
              <a:rPr lang="en-US" dirty="0"/>
              <a:t>Source:</a:t>
            </a:r>
          </a:p>
          <a:p>
            <a:pPr lvl="1"/>
            <a:r>
              <a:rPr lang="en-US" b="1" dirty="0"/>
              <a:t>SSLVPN_TUNNEL_ADDR1</a:t>
            </a:r>
            <a:endParaRPr lang="en-US" dirty="0"/>
          </a:p>
          <a:p>
            <a:pPr lvl="1"/>
            <a:r>
              <a:rPr lang="en-US" b="1" dirty="0"/>
              <a:t>SSL_VPN_USERS</a:t>
            </a:r>
            <a:endParaRPr lang="en-US" dirty="0"/>
          </a:p>
          <a:p>
            <a:r>
              <a:rPr lang="en-US" dirty="0"/>
              <a:t>Destination: </a:t>
            </a:r>
            <a:r>
              <a:rPr lang="en-US" b="1" dirty="0"/>
              <a:t>vlan50 address</a:t>
            </a:r>
            <a:r>
              <a:rPr lang="en-US" dirty="0"/>
              <a:t> (management subnet).</a:t>
            </a:r>
          </a:p>
          <a:p>
            <a:r>
              <a:rPr lang="en-US" dirty="0"/>
              <a:t>NAT: </a:t>
            </a:r>
            <a:r>
              <a:rPr lang="en-US" b="1" dirty="0"/>
              <a:t>Disabled</a:t>
            </a:r>
            <a:endParaRPr lang="en-US" dirty="0"/>
          </a:p>
          <a:p>
            <a:r>
              <a:rPr lang="en-US" dirty="0"/>
              <a:t>Inspection: Flow-based.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0B490-0BBA-C8B4-9993-249A4D027CE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51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352CF-26C2-3F4F-BA36-A44E83A7F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CEA68-8258-E213-0C5B-C0A13916E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53" y="528789"/>
            <a:ext cx="9150675" cy="1427585"/>
          </a:xfrm>
        </p:spPr>
        <p:txBody>
          <a:bodyPr/>
          <a:lstStyle/>
          <a:p>
            <a:r>
              <a:rPr lang="en-US" dirty="0"/>
              <a:t>Why VLAN 50 Was Chosen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00F5E-08D4-A863-465E-363F7F94B1D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/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VLAN 50 represents the </a:t>
            </a:r>
            <a:r>
              <a:rPr lang="en-US" altLang="en-US" b="1" dirty="0">
                <a:latin typeface="Arial" panose="020B0604020202020204" pitchFamily="34" charset="0"/>
              </a:rPr>
              <a:t>Management Network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Admins need remote access to manage devices.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It is safer to give SSL VPN users access only to this subnet, not to all VLANs.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Split tunneling + policy ensures least-privilege access.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F9C7C-BE99-6A2A-5A28-18E4FBF661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22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1B31D-73E5-CF08-0907-A2BACF6D1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3B4D1-8A68-B84D-DBDC-0E31CBDF5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53" y="528789"/>
            <a:ext cx="9150675" cy="1427585"/>
          </a:xfrm>
        </p:spPr>
        <p:txBody>
          <a:bodyPr/>
          <a:lstStyle/>
          <a:p>
            <a:r>
              <a:rPr lang="en-US" dirty="0"/>
              <a:t>Testing Method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7F4D6-E964-D219-26EC-ADC6D1F4614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1629295"/>
            <a:ext cx="8552264" cy="502919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Browser Test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Open browser on host machine.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Navigate to: https://192.168.1.26:10443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Expected Result: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SSL VPN login page appears → login with user1.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Security warning may appear (self-signed certificate).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FortiClient Test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Open FortiClient → Remote Access → Add SSL VPN.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Remote gateway: 192.168.1.26, port: 10443.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Login with user1.</a:t>
            </a:r>
          </a:p>
          <a:p>
            <a:pPr lvl="1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Expected Result: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VPN tunnel establishes → PC receives VPN IP → can reach VLAN50 resources.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Notes: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Full end-to-end testing from a separate VM was planned but not executed due to lab limitations.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Expected behavior is based on verified configuration.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E1361-8292-EBD1-91AB-B878AD4F6E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587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872" y="582445"/>
            <a:ext cx="4964671" cy="5253089"/>
          </a:xfrm>
        </p:spPr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{E5B17042-5B9D-4AB2-9452-F58626AE728F}TF3977e381-cba5-49b1-ba43-b5d865517af907ebbda9_win32-372d4d6ae720</Template>
  <TotalTime>32</TotalTime>
  <Words>364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Tisa Offc Serif Pro</vt:lpstr>
      <vt:lpstr>Univers Light</vt:lpstr>
      <vt:lpstr>Custom</vt:lpstr>
      <vt:lpstr>SSL VPN </vt:lpstr>
      <vt:lpstr>Introduction</vt:lpstr>
      <vt:lpstr>Configuration Steps (Summary)</vt:lpstr>
      <vt:lpstr>PowerPoint Presentation</vt:lpstr>
      <vt:lpstr>Why VLAN 50 Was Chosen</vt:lpstr>
      <vt:lpstr>Testing Method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Reem Sallam</dc:creator>
  <cp:lastModifiedBy>Reem Sallam</cp:lastModifiedBy>
  <cp:revision>2</cp:revision>
  <dcterms:created xsi:type="dcterms:W3CDTF">2025-11-30T21:16:28Z</dcterms:created>
  <dcterms:modified xsi:type="dcterms:W3CDTF">2025-12-06T17:15:43Z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