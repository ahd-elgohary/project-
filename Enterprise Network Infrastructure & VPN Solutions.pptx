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74" r:id="rId7"/>
    <p:sldId id="275" r:id="rId8"/>
    <p:sldId id="276" r:id="rId9"/>
    <p:sldId id="261" r:id="rId10"/>
    <p:sldId id="267" r:id="rId11"/>
    <p:sldId id="262" r:id="rId12"/>
    <p:sldId id="266" r:id="rId13"/>
    <p:sldId id="263" r:id="rId14"/>
    <p:sldId id="264" r:id="rId15"/>
    <p:sldId id="269" r:id="rId16"/>
    <p:sldId id="268" r:id="rId17"/>
    <p:sldId id="272" r:id="rId18"/>
    <p:sldId id="273" r:id="rId19"/>
    <p:sldId id="270" r:id="rId20"/>
    <p:sldId id="271" r:id="rId21"/>
    <p:sldId id="265"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49" d="100"/>
          <a:sy n="49" d="100"/>
        </p:scale>
        <p:origin x="1336" y="4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898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17531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12/7/2025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7268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4115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12/7/2025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7051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12/7/2025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7611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12/7/2025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5862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12/7/2025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00916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12/7/2025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3586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12/7/2025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34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12/7/2025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5161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12/7/2025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8918396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1" r:id="rId6"/>
    <p:sldLayoutId id="2147483667" r:id="rId7"/>
    <p:sldLayoutId id="2147483668" r:id="rId8"/>
    <p:sldLayoutId id="2147483669" r:id="rId9"/>
    <p:sldLayoutId id="2147483670" r:id="rId10"/>
    <p:sldLayoutId id="2147483672"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18.jpg"/></Relationships>
</file>

<file path=ppt/slides/_rels/slide23.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20.jpg"/><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3" Type="http://schemas.openxmlformats.org/officeDocument/2006/relationships/hyperlink" Target="https://www.tutorialspoint.com/basics_of_computer_science/basics_of_computer_science_networking" TargetMode="External"/><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22.jpeg"/><Relationship Id="rId4"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1BA7680-B1FB-4B6B-2155-45DD5D6C4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erial view of a city skyline">
            <a:extLst>
              <a:ext uri="{FF2B5EF4-FFF2-40B4-BE49-F238E27FC236}">
                <a16:creationId xmlns:a16="http://schemas.microsoft.com/office/drawing/2014/main" id="{C11827DC-79EA-110C-B8C3-390F3E71DCF7}"/>
              </a:ext>
            </a:extLst>
          </p:cNvPr>
          <p:cNvPicPr>
            <a:picLocks noChangeAspect="1"/>
          </p:cNvPicPr>
          <p:nvPr/>
        </p:nvPicPr>
        <p:blipFill>
          <a:blip r:embed="rId2"/>
          <a:srcRect t="15730"/>
          <a:stretch>
            <a:fillRect/>
          </a:stretch>
        </p:blipFill>
        <p:spPr>
          <a:xfrm>
            <a:off x="20" y="-1"/>
            <a:ext cx="12191980" cy="6858001"/>
          </a:xfrm>
          <a:prstGeom prst="rect">
            <a:avLst/>
          </a:prstGeom>
        </p:spPr>
      </p:pic>
      <p:sp>
        <p:nvSpPr>
          <p:cNvPr id="10" name="Rectangle 9">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32383"/>
            <a:ext cx="12192000" cy="4525617"/>
          </a:xfrm>
          <a:prstGeom prst="rect">
            <a:avLst/>
          </a:prstGeom>
          <a:gradFill>
            <a:gsLst>
              <a:gs pos="0">
                <a:srgbClr val="000000">
                  <a:alpha val="0"/>
                </a:srgbClr>
              </a:gs>
              <a:gs pos="55000">
                <a:srgbClr val="000000">
                  <a:alpha val="35000"/>
                </a:srgbClr>
              </a:gs>
              <a:gs pos="100000">
                <a:srgbClr val="000000">
                  <a:alpha val="4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92EB44E-1A07-DA20-8AAA-3202E2B726C3}"/>
              </a:ext>
            </a:extLst>
          </p:cNvPr>
          <p:cNvSpPr/>
          <p:nvPr/>
        </p:nvSpPr>
        <p:spPr>
          <a:xfrm>
            <a:off x="0" y="0"/>
            <a:ext cx="12192000" cy="6858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822ECE-8FE2-0EF3-0D37-4791C2064F34}"/>
              </a:ext>
            </a:extLst>
          </p:cNvPr>
          <p:cNvSpPr>
            <a:spLocks noGrp="1"/>
          </p:cNvSpPr>
          <p:nvPr>
            <p:ph type="title"/>
          </p:nvPr>
        </p:nvSpPr>
        <p:spPr>
          <a:xfrm>
            <a:off x="624506" y="3991500"/>
            <a:ext cx="8837546" cy="1870483"/>
          </a:xfrm>
        </p:spPr>
        <p:txBody>
          <a:bodyPr vert="horz" lIns="91440" tIns="45720" rIns="91440" bIns="45720" rtlCol="0" anchor="b">
            <a:normAutofit/>
          </a:bodyPr>
          <a:lstStyle/>
          <a:p>
            <a:r>
              <a:rPr lang="en-US" sz="4200" dirty="0">
                <a:solidFill>
                  <a:srgbClr val="FFFFFF"/>
                </a:solidFill>
              </a:rPr>
              <a:t>Enterprise Network Infrastructure &amp; VPN Solutions (HQ &amp; Branch)</a:t>
            </a:r>
          </a:p>
        </p:txBody>
      </p:sp>
      <p:sp>
        <p:nvSpPr>
          <p:cNvPr id="5" name="Rectangle 1">
            <a:extLst>
              <a:ext uri="{FF2B5EF4-FFF2-40B4-BE49-F238E27FC236}">
                <a16:creationId xmlns:a16="http://schemas.microsoft.com/office/drawing/2014/main" id="{B4F5226B-BC98-A774-10C3-3E31716B8461}"/>
              </a:ext>
            </a:extLst>
          </p:cNvPr>
          <p:cNvSpPr>
            <a:spLocks noChangeArrowheads="1"/>
          </p:cNvSpPr>
          <p:nvPr/>
        </p:nvSpPr>
        <p:spPr bwMode="auto">
          <a:xfrm>
            <a:off x="8780206" y="3164681"/>
            <a:ext cx="341179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Arial" panose="020B0604020202020204" pitchFamily="34" charset="0"/>
              </a:rPr>
              <a:t>Team Members :</a:t>
            </a:r>
            <a:r>
              <a:rPr lang="en-US" altLang="en-US" dirty="0">
                <a:latin typeface="Arial" panose="020B0604020202020204" pitchFamily="34" charset="0"/>
              </a:rPr>
              <a:t> </a:t>
            </a:r>
          </a:p>
          <a:p>
            <a:pPr lvl="1" eaLnBrk="0" fontAlgn="base" hangingPunct="0">
              <a:spcBef>
                <a:spcPct val="0"/>
              </a:spcBef>
              <a:spcAft>
                <a:spcPct val="0"/>
              </a:spcAft>
              <a:buFontTx/>
              <a:buChar char="•"/>
            </a:pPr>
            <a:r>
              <a:rPr lang="en-US" altLang="en-US" dirty="0">
                <a:latin typeface="Arial" panose="020B0604020202020204" pitchFamily="34" charset="0"/>
              </a:rPr>
              <a:t>Ahd Assem Elgohary (21067349)</a:t>
            </a:r>
          </a:p>
          <a:p>
            <a:pPr lvl="1" eaLnBrk="0" fontAlgn="base" hangingPunct="0">
              <a:spcBef>
                <a:spcPct val="0"/>
              </a:spcBef>
              <a:spcAft>
                <a:spcPct val="0"/>
              </a:spcAft>
              <a:buFontTx/>
              <a:buChar char="•"/>
            </a:pPr>
            <a:r>
              <a:rPr lang="en-US" altLang="en-US" dirty="0">
                <a:latin typeface="Arial" panose="020B0604020202020204" pitchFamily="34" charset="0"/>
              </a:rPr>
              <a:t>Kholoud Ahmed EL-</a:t>
            </a:r>
            <a:r>
              <a:rPr lang="en-US" altLang="en-US" dirty="0" err="1">
                <a:latin typeface="Arial" panose="020B0604020202020204" pitchFamily="34" charset="0"/>
              </a:rPr>
              <a:t>Sokkary</a:t>
            </a:r>
            <a:r>
              <a:rPr lang="en-US" altLang="en-US" dirty="0">
                <a:latin typeface="Arial" panose="020B0604020202020204" pitchFamily="34" charset="0"/>
              </a:rPr>
              <a:t> (21027261)</a:t>
            </a:r>
          </a:p>
          <a:p>
            <a:pPr lvl="1" eaLnBrk="0" fontAlgn="base" hangingPunct="0">
              <a:spcBef>
                <a:spcPct val="0"/>
              </a:spcBef>
              <a:spcAft>
                <a:spcPct val="0"/>
              </a:spcAft>
              <a:buFontTx/>
              <a:buChar char="•"/>
            </a:pPr>
            <a:r>
              <a:rPr lang="en-US" altLang="en-US" dirty="0">
                <a:latin typeface="Arial" panose="020B0604020202020204" pitchFamily="34" charset="0"/>
              </a:rPr>
              <a:t>Nada Wesam </a:t>
            </a:r>
            <a:r>
              <a:rPr lang="en-US" altLang="en-US" dirty="0" err="1">
                <a:latin typeface="Arial" panose="020B0604020202020204" pitchFamily="34" charset="0"/>
              </a:rPr>
              <a:t>Alhlwany</a:t>
            </a:r>
            <a:r>
              <a:rPr lang="en-US" altLang="en-US" dirty="0">
                <a:latin typeface="Arial" panose="020B0604020202020204" pitchFamily="34" charset="0"/>
              </a:rPr>
              <a:t> (21029590)</a:t>
            </a:r>
          </a:p>
          <a:p>
            <a:pPr lvl="1" eaLnBrk="0" fontAlgn="base" hangingPunct="0">
              <a:spcBef>
                <a:spcPct val="0"/>
              </a:spcBef>
              <a:spcAft>
                <a:spcPct val="0"/>
              </a:spcAft>
              <a:buFontTx/>
              <a:buChar char="•"/>
            </a:pPr>
            <a:r>
              <a:rPr lang="en-US" altLang="en-US" dirty="0">
                <a:latin typeface="Arial" panose="020B0604020202020204" pitchFamily="34" charset="0"/>
              </a:rPr>
              <a:t>Malak Khaled Hamdy (21092572)</a:t>
            </a:r>
          </a:p>
          <a:p>
            <a:pPr lvl="1" eaLnBrk="0" fontAlgn="base" hangingPunct="0">
              <a:spcBef>
                <a:spcPct val="0"/>
              </a:spcBef>
              <a:spcAft>
                <a:spcPct val="0"/>
              </a:spcAft>
              <a:buFontTx/>
              <a:buChar char="•"/>
            </a:pPr>
            <a:r>
              <a:rPr lang="en-US" altLang="en-US" dirty="0">
                <a:latin typeface="Arial" panose="020B0604020202020204" pitchFamily="34" charset="0"/>
              </a:rPr>
              <a:t>Reem Ayman Abdelaziz (21056379)</a:t>
            </a:r>
          </a:p>
          <a:p>
            <a:pPr lvl="1" eaLnBrk="0" fontAlgn="base" hangingPunct="0">
              <a:spcBef>
                <a:spcPct val="0"/>
              </a:spcBef>
              <a:spcAft>
                <a:spcPct val="0"/>
              </a:spcAft>
              <a:buFontTx/>
              <a:buChar char="•"/>
            </a:pPr>
            <a:r>
              <a:rPr lang="en-US" altLang="en-US" dirty="0">
                <a:latin typeface="Arial" panose="020B0604020202020204" pitchFamily="34" charset="0"/>
              </a:rPr>
              <a:t>Aya Allah Anwar Hamdoun (21083747)</a:t>
            </a:r>
          </a:p>
        </p:txBody>
      </p:sp>
    </p:spTree>
    <p:extLst>
      <p:ext uri="{BB962C8B-B14F-4D97-AF65-F5344CB8AC3E}">
        <p14:creationId xmlns:p14="http://schemas.microsoft.com/office/powerpoint/2010/main" val="245241547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5B7A92-B8C4-D8E9-F857-A336C1D2F0E6}"/>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01AE92-B4C9-588B-8D85-101F6643CFB8}"/>
              </a:ext>
            </a:extLst>
          </p:cNvPr>
          <p:cNvSpPr>
            <a:spLocks noGrp="1"/>
          </p:cNvSpPr>
          <p:nvPr>
            <p:ph type="title"/>
          </p:nvPr>
        </p:nvSpPr>
        <p:spPr/>
        <p:txBody>
          <a:bodyPr/>
          <a:lstStyle/>
          <a:p>
            <a:r>
              <a:rPr lang="en-US" sz="4200" dirty="0">
                <a:solidFill>
                  <a:srgbClr val="FFFFFF"/>
                </a:solidFill>
              </a:rPr>
              <a:t>Project Overview &amp; Objectives</a:t>
            </a:r>
          </a:p>
        </p:txBody>
      </p:sp>
      <p:sp>
        <p:nvSpPr>
          <p:cNvPr id="4" name="TextBox 3">
            <a:extLst>
              <a:ext uri="{FF2B5EF4-FFF2-40B4-BE49-F238E27FC236}">
                <a16:creationId xmlns:a16="http://schemas.microsoft.com/office/drawing/2014/main" id="{BB2EA66B-59DE-D7AB-A8D6-7125E1F9FB15}"/>
              </a:ext>
            </a:extLst>
          </p:cNvPr>
          <p:cNvSpPr txBox="1"/>
          <p:nvPr/>
        </p:nvSpPr>
        <p:spPr>
          <a:xfrm>
            <a:off x="245806" y="1680898"/>
            <a:ext cx="11700388" cy="1908215"/>
          </a:xfrm>
          <a:prstGeom prst="rect">
            <a:avLst/>
          </a:prstGeom>
          <a:noFill/>
        </p:spPr>
        <p:txBody>
          <a:bodyPr wrap="square" rtlCol="0">
            <a:spAutoFit/>
          </a:bodyPr>
          <a:lstStyle/>
          <a:p>
            <a:r>
              <a:rPr lang="en-US" sz="2800" b="1" dirty="0">
                <a:solidFill>
                  <a:schemeClr val="accent2"/>
                </a:solidFill>
              </a:rPr>
              <a:t>Project Definition:</a:t>
            </a:r>
            <a:endParaRPr lang="en-US" sz="2800" dirty="0">
              <a:solidFill>
                <a:schemeClr val="accent2"/>
              </a:solidFill>
            </a:endParaRPr>
          </a:p>
          <a:p>
            <a:r>
              <a:rPr lang="en-US" dirty="0">
                <a:solidFill>
                  <a:schemeClr val="bg1"/>
                </a:solidFill>
              </a:rPr>
              <a:t>This project aims to design and implement a secure enterprise network infrastructure connecting a Headquarters (HQ) and a Branch Office using </a:t>
            </a:r>
            <a:r>
              <a:rPr lang="en-US" b="1" dirty="0">
                <a:solidFill>
                  <a:schemeClr val="bg1"/>
                </a:solidFill>
              </a:rPr>
              <a:t>GNS3 Simulator</a:t>
            </a:r>
            <a:r>
              <a:rPr lang="en-US" dirty="0">
                <a:solidFill>
                  <a:schemeClr val="bg1"/>
                </a:solidFill>
              </a:rPr>
              <a:t>.</a:t>
            </a:r>
          </a:p>
          <a:p>
            <a:r>
              <a:rPr lang="en-US" dirty="0">
                <a:solidFill>
                  <a:schemeClr val="bg1"/>
                </a:solidFill>
              </a:rPr>
              <a:t>The infrastructure integrates </a:t>
            </a:r>
            <a:r>
              <a:rPr lang="en-US" b="1" dirty="0">
                <a:solidFill>
                  <a:schemeClr val="bg1"/>
                </a:solidFill>
              </a:rPr>
              <a:t>Cisco Switching</a:t>
            </a:r>
            <a:r>
              <a:rPr lang="en-US" dirty="0">
                <a:solidFill>
                  <a:schemeClr val="bg1"/>
                </a:solidFill>
              </a:rPr>
              <a:t> for Layer 2 security, </a:t>
            </a:r>
            <a:r>
              <a:rPr lang="en-US" b="1" dirty="0">
                <a:solidFill>
                  <a:schemeClr val="bg1"/>
                </a:solidFill>
              </a:rPr>
              <a:t>FortiGate Firewalls</a:t>
            </a:r>
            <a:r>
              <a:rPr lang="en-US" dirty="0">
                <a:solidFill>
                  <a:schemeClr val="bg1"/>
                </a:solidFill>
              </a:rPr>
              <a:t> for Layer 3 protection, and </a:t>
            </a:r>
            <a:r>
              <a:rPr lang="en-US" b="1" dirty="0">
                <a:solidFill>
                  <a:schemeClr val="bg1"/>
                </a:solidFill>
              </a:rPr>
              <a:t>Windows Server 2022</a:t>
            </a:r>
            <a:r>
              <a:rPr lang="en-US" dirty="0">
                <a:solidFill>
                  <a:schemeClr val="bg1"/>
                </a:solidFill>
              </a:rPr>
              <a:t> for centralized management.</a:t>
            </a:r>
          </a:p>
          <a:p>
            <a:endParaRPr lang="en-US" dirty="0">
              <a:solidFill>
                <a:schemeClr val="bg1"/>
              </a:solidFill>
            </a:endParaRPr>
          </a:p>
        </p:txBody>
      </p:sp>
      <p:sp>
        <p:nvSpPr>
          <p:cNvPr id="5" name="Rectangle 1">
            <a:extLst>
              <a:ext uri="{FF2B5EF4-FFF2-40B4-BE49-F238E27FC236}">
                <a16:creationId xmlns:a16="http://schemas.microsoft.com/office/drawing/2014/main" id="{0F8B1BB3-F3E2-E941-1E63-D4BCD16333B5}"/>
              </a:ext>
            </a:extLst>
          </p:cNvPr>
          <p:cNvSpPr>
            <a:spLocks noChangeArrowheads="1"/>
          </p:cNvSpPr>
          <p:nvPr/>
        </p:nvSpPr>
        <p:spPr bwMode="auto">
          <a:xfrm>
            <a:off x="245806" y="3835813"/>
            <a:ext cx="11857704"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en-US" sz="2800" b="1" dirty="0">
                <a:solidFill>
                  <a:schemeClr val="accent2"/>
                </a:solidFill>
              </a:rPr>
              <a:t>Key Objectives: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rPr>
              <a:t>Connectivity: Establish reliable communication between sites using SD-WAN &amp; IPsec technology.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rPr>
              <a:t>Security: Implement Port Security, MAC Filtering, Firewall Policies and Security Profiles to protect against unauthorized access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rPr>
              <a:t>Remote Access: Enable secure remote work capabilities using SSL VPN.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rPr>
              <a:t>Management: Centralize user control via Active Directory and Group Policies.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7003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F4DE5AFD-691B-003F-9400-4A68C1E1389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467923D-70B8-7501-BF93-254E144321C4}"/>
              </a:ext>
            </a:extLst>
          </p:cNvPr>
          <p:cNvSpPr/>
          <p:nvPr/>
        </p:nvSpPr>
        <p:spPr>
          <a:xfrm>
            <a:off x="-1"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263902-B25C-8090-B366-32201F9CAF49}"/>
              </a:ext>
            </a:extLst>
          </p:cNvPr>
          <p:cNvSpPr>
            <a:spLocks noGrp="1"/>
          </p:cNvSpPr>
          <p:nvPr>
            <p:ph type="title"/>
          </p:nvPr>
        </p:nvSpPr>
        <p:spPr/>
        <p:txBody>
          <a:bodyPr/>
          <a:lstStyle/>
          <a:p>
            <a:r>
              <a:rPr lang="en-US" sz="4400" dirty="0">
                <a:solidFill>
                  <a:schemeClr val="bg1"/>
                </a:solidFill>
              </a:rPr>
              <a:t>What is VPN? (Concept &amp; Importance)</a:t>
            </a:r>
            <a:endParaRPr lang="en-US" sz="4200" dirty="0">
              <a:solidFill>
                <a:schemeClr val="bg1"/>
              </a:solidFill>
            </a:endParaRPr>
          </a:p>
        </p:txBody>
      </p:sp>
      <p:sp>
        <p:nvSpPr>
          <p:cNvPr id="8" name="Rectangle 3">
            <a:extLst>
              <a:ext uri="{FF2B5EF4-FFF2-40B4-BE49-F238E27FC236}">
                <a16:creationId xmlns:a16="http://schemas.microsoft.com/office/drawing/2014/main" id="{35D7DF85-6662-7FAA-B14B-6CF51BDD81E8}"/>
              </a:ext>
            </a:extLst>
          </p:cNvPr>
          <p:cNvSpPr>
            <a:spLocks noChangeArrowheads="1"/>
          </p:cNvSpPr>
          <p:nvPr/>
        </p:nvSpPr>
        <p:spPr bwMode="auto">
          <a:xfrm>
            <a:off x="226827" y="1397674"/>
            <a:ext cx="11738343"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800" b="1" dirty="0">
                <a:solidFill>
                  <a:schemeClr val="accent2"/>
                </a:solidFill>
              </a:rPr>
              <a:t>Definition:</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bg1"/>
                </a:solidFill>
              </a:rPr>
              <a:t>VPN (Virtual Private Network) is a technology that allows two remote networks to communicate securely over the public internet by creating an encrypted tunnel.</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bg1"/>
              </a:solidFill>
            </a:endParaRPr>
          </a:p>
        </p:txBody>
      </p:sp>
      <p:sp>
        <p:nvSpPr>
          <p:cNvPr id="12" name="TextBox 11">
            <a:extLst>
              <a:ext uri="{FF2B5EF4-FFF2-40B4-BE49-F238E27FC236}">
                <a16:creationId xmlns:a16="http://schemas.microsoft.com/office/drawing/2014/main" id="{2EFC0B6F-352E-5FCB-43D2-D9C7D7A3E16C}"/>
              </a:ext>
            </a:extLst>
          </p:cNvPr>
          <p:cNvSpPr txBox="1"/>
          <p:nvPr/>
        </p:nvSpPr>
        <p:spPr>
          <a:xfrm>
            <a:off x="73276" y="3078572"/>
            <a:ext cx="5334001" cy="1631216"/>
          </a:xfrm>
          <a:prstGeom prst="rect">
            <a:avLst/>
          </a:prstGeom>
          <a:noFill/>
        </p:spPr>
        <p:txBody>
          <a:bodyPr wrap="square">
            <a:spAutoFit/>
          </a:bodyPr>
          <a:lstStyle/>
          <a:p>
            <a:pPr eaLnBrk="0" fontAlgn="base" hangingPunct="0">
              <a:spcBef>
                <a:spcPct val="0"/>
              </a:spcBef>
              <a:spcAft>
                <a:spcPct val="0"/>
              </a:spcAft>
              <a:buNone/>
            </a:pPr>
            <a:r>
              <a:rPr lang="en-US" sz="2800" b="1" dirty="0">
                <a:solidFill>
                  <a:schemeClr val="accent2"/>
                </a:solidFill>
              </a:rPr>
              <a:t>Security Pillars:</a:t>
            </a:r>
          </a:p>
          <a:p>
            <a:pPr>
              <a:buFont typeface="Arial" panose="020B0604020202020204" pitchFamily="34" charset="0"/>
              <a:buChar char="•"/>
            </a:pPr>
            <a:r>
              <a:rPr lang="en-US" dirty="0">
                <a:solidFill>
                  <a:schemeClr val="bg1"/>
                </a:solidFill>
              </a:rPr>
              <a:t>Confidentiality: Data is encrypted.</a:t>
            </a:r>
          </a:p>
          <a:p>
            <a:pPr>
              <a:buFont typeface="Arial" panose="020B0604020202020204" pitchFamily="34" charset="0"/>
              <a:buChar char="•"/>
            </a:pPr>
            <a:r>
              <a:rPr lang="en-US" dirty="0">
                <a:solidFill>
                  <a:schemeClr val="bg1"/>
                </a:solidFill>
              </a:rPr>
              <a:t>Integrity: Ensures data is not altered.</a:t>
            </a:r>
          </a:p>
          <a:p>
            <a:pPr>
              <a:buFont typeface="Arial" panose="020B0604020202020204" pitchFamily="34" charset="0"/>
              <a:buChar char="•"/>
            </a:pPr>
            <a:r>
              <a:rPr lang="en-US" dirty="0">
                <a:solidFill>
                  <a:schemeClr val="bg1"/>
                </a:solidFill>
              </a:rPr>
              <a:t>Authentication: Verifies the identity of communicating parties</a:t>
            </a:r>
          </a:p>
        </p:txBody>
      </p:sp>
      <p:sp>
        <p:nvSpPr>
          <p:cNvPr id="15" name="Rectangle: Rounded Corners 14">
            <a:extLst>
              <a:ext uri="{FF2B5EF4-FFF2-40B4-BE49-F238E27FC236}">
                <a16:creationId xmlns:a16="http://schemas.microsoft.com/office/drawing/2014/main" id="{64220FCF-5D87-576F-4A86-7E00422B1F7A}"/>
              </a:ext>
            </a:extLst>
          </p:cNvPr>
          <p:cNvSpPr/>
          <p:nvPr/>
        </p:nvSpPr>
        <p:spPr>
          <a:xfrm>
            <a:off x="4280360" y="3428999"/>
            <a:ext cx="2630405" cy="201180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By Usage</a:t>
            </a:r>
          </a:p>
          <a:p>
            <a:pPr algn="ctr"/>
            <a:endParaRPr lang="en-US" sz="2400" b="1" dirty="0"/>
          </a:p>
          <a:p>
            <a:r>
              <a:rPr lang="en-US" b="1" dirty="0"/>
              <a:t>1) Remote Access VPN</a:t>
            </a:r>
          </a:p>
          <a:p>
            <a:r>
              <a:rPr lang="en-US" b="1" dirty="0"/>
              <a:t>2) Site-to-Site VPN</a:t>
            </a:r>
          </a:p>
        </p:txBody>
      </p:sp>
      <p:sp>
        <p:nvSpPr>
          <p:cNvPr id="16" name="Rectangle: Rounded Corners 15">
            <a:extLst>
              <a:ext uri="{FF2B5EF4-FFF2-40B4-BE49-F238E27FC236}">
                <a16:creationId xmlns:a16="http://schemas.microsoft.com/office/drawing/2014/main" id="{05620462-06CE-A38B-DD09-3445673BEF97}"/>
              </a:ext>
            </a:extLst>
          </p:cNvPr>
          <p:cNvSpPr/>
          <p:nvPr/>
        </p:nvSpPr>
        <p:spPr>
          <a:xfrm>
            <a:off x="6965700" y="3462468"/>
            <a:ext cx="2630405" cy="3378924"/>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By Protocol Type</a:t>
            </a:r>
          </a:p>
          <a:p>
            <a:r>
              <a:rPr lang="en-US" b="1" dirty="0"/>
              <a:t>1) PPTP — Point-to-Point Tunneling Protocol</a:t>
            </a:r>
          </a:p>
          <a:p>
            <a:r>
              <a:rPr lang="en-US" b="1" dirty="0"/>
              <a:t>2) L2TP/IPsec — Layer 2 Tunneling Protocol</a:t>
            </a:r>
          </a:p>
          <a:p>
            <a:r>
              <a:rPr lang="en-US" b="1" dirty="0"/>
              <a:t>3) OpenVPN</a:t>
            </a:r>
          </a:p>
          <a:p>
            <a:r>
              <a:rPr lang="en-US" b="1" dirty="0"/>
              <a:t>4) IKEv2/IPsec</a:t>
            </a:r>
          </a:p>
          <a:p>
            <a:r>
              <a:rPr lang="en-US" b="1" dirty="0"/>
              <a:t>5) </a:t>
            </a:r>
            <a:r>
              <a:rPr lang="en-US" b="1" dirty="0" err="1"/>
              <a:t>WireGuard</a:t>
            </a:r>
            <a:endParaRPr lang="en-US" b="1" dirty="0"/>
          </a:p>
        </p:txBody>
      </p:sp>
      <p:sp>
        <p:nvSpPr>
          <p:cNvPr id="17" name="Rectangle: Rounded Corners 16">
            <a:extLst>
              <a:ext uri="{FF2B5EF4-FFF2-40B4-BE49-F238E27FC236}">
                <a16:creationId xmlns:a16="http://schemas.microsoft.com/office/drawing/2014/main" id="{2EE04F71-D3E0-4F78-63D0-203C26924C0C}"/>
              </a:ext>
            </a:extLst>
          </p:cNvPr>
          <p:cNvSpPr/>
          <p:nvPr/>
        </p:nvSpPr>
        <p:spPr>
          <a:xfrm>
            <a:off x="9616529" y="3313864"/>
            <a:ext cx="2630405" cy="352752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By Deployment Method</a:t>
            </a:r>
          </a:p>
          <a:p>
            <a:pPr algn="ctr"/>
            <a:endParaRPr lang="en-US" sz="2400" b="1" dirty="0"/>
          </a:p>
          <a:p>
            <a:r>
              <a:rPr lang="en-US" b="1" dirty="0"/>
              <a:t>1) Client-Based VPN</a:t>
            </a:r>
          </a:p>
          <a:p>
            <a:r>
              <a:rPr lang="en-US" b="1" dirty="0"/>
              <a:t>2) SSL VPN (via browser)</a:t>
            </a:r>
          </a:p>
          <a:p>
            <a:r>
              <a:rPr lang="en-US" b="1" dirty="0"/>
              <a:t>3) IPsec VPN (Site-to-Site)</a:t>
            </a:r>
          </a:p>
        </p:txBody>
      </p:sp>
      <p:sp>
        <p:nvSpPr>
          <p:cNvPr id="18" name="Rectangle: Rounded Corners 17">
            <a:extLst>
              <a:ext uri="{FF2B5EF4-FFF2-40B4-BE49-F238E27FC236}">
                <a16:creationId xmlns:a16="http://schemas.microsoft.com/office/drawing/2014/main" id="{28191ACE-8D6A-667B-79CB-E6D419533E3E}"/>
              </a:ext>
            </a:extLst>
          </p:cNvPr>
          <p:cNvSpPr/>
          <p:nvPr/>
        </p:nvSpPr>
        <p:spPr>
          <a:xfrm>
            <a:off x="6965699" y="2229538"/>
            <a:ext cx="2630405" cy="882502"/>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Types Of VPN</a:t>
            </a:r>
          </a:p>
        </p:txBody>
      </p:sp>
      <p:cxnSp>
        <p:nvCxnSpPr>
          <p:cNvPr id="20" name="Straight Arrow Connector 19">
            <a:extLst>
              <a:ext uri="{FF2B5EF4-FFF2-40B4-BE49-F238E27FC236}">
                <a16:creationId xmlns:a16="http://schemas.microsoft.com/office/drawing/2014/main" id="{B9A7B1D2-87A8-C1B4-89EE-04A3D562B34C}"/>
              </a:ext>
            </a:extLst>
          </p:cNvPr>
          <p:cNvCxnSpPr>
            <a:cxnSpLocks/>
            <a:stCxn id="18" idx="2"/>
            <a:endCxn id="16" idx="0"/>
          </p:cNvCxnSpPr>
          <p:nvPr/>
        </p:nvCxnSpPr>
        <p:spPr>
          <a:xfrm>
            <a:off x="8280902" y="3112040"/>
            <a:ext cx="1" cy="35042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2075243D-D3D0-B182-721C-90A1E30D4894}"/>
              </a:ext>
            </a:extLst>
          </p:cNvPr>
          <p:cNvCxnSpPr>
            <a:stCxn id="18" idx="1"/>
            <a:endCxn id="15" idx="0"/>
          </p:cNvCxnSpPr>
          <p:nvPr/>
        </p:nvCxnSpPr>
        <p:spPr>
          <a:xfrm rot="10800000" flipV="1">
            <a:off x="5595563" y="2670789"/>
            <a:ext cx="1370136" cy="758210"/>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ECD44E7D-26C0-DB66-B7B1-8D7C252CE7A4}"/>
              </a:ext>
            </a:extLst>
          </p:cNvPr>
          <p:cNvCxnSpPr>
            <a:cxnSpLocks/>
            <a:stCxn id="18" idx="3"/>
            <a:endCxn id="17" idx="0"/>
          </p:cNvCxnSpPr>
          <p:nvPr/>
        </p:nvCxnSpPr>
        <p:spPr>
          <a:xfrm>
            <a:off x="9596104" y="2670789"/>
            <a:ext cx="1335628" cy="643075"/>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241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CB35962E-DE0A-2174-C35B-81F5E67223E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C7890CC-7256-B4FA-62DD-3FE965E36270}"/>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05A414-8589-D9A5-8EFD-F8314A45205B}"/>
              </a:ext>
            </a:extLst>
          </p:cNvPr>
          <p:cNvSpPr>
            <a:spLocks noGrp="1"/>
          </p:cNvSpPr>
          <p:nvPr>
            <p:ph type="title"/>
          </p:nvPr>
        </p:nvSpPr>
        <p:spPr/>
        <p:txBody>
          <a:bodyPr/>
          <a:lstStyle/>
          <a:p>
            <a:r>
              <a:rPr lang="en-US" sz="4400" dirty="0">
                <a:solidFill>
                  <a:schemeClr val="bg1"/>
                </a:solidFill>
              </a:rPr>
              <a:t>Project Roadmap (Timeline)</a:t>
            </a:r>
            <a:endParaRPr lang="en-US" sz="4200" dirty="0">
              <a:solidFill>
                <a:schemeClr val="bg1"/>
              </a:solidFill>
            </a:endParaRPr>
          </a:p>
        </p:txBody>
      </p:sp>
      <p:sp>
        <p:nvSpPr>
          <p:cNvPr id="4" name="TextBox 3">
            <a:extLst>
              <a:ext uri="{FF2B5EF4-FFF2-40B4-BE49-F238E27FC236}">
                <a16:creationId xmlns:a16="http://schemas.microsoft.com/office/drawing/2014/main" id="{6A1D7C9C-9754-53FD-3EB0-584163E6D0D9}"/>
              </a:ext>
            </a:extLst>
          </p:cNvPr>
          <p:cNvSpPr txBox="1"/>
          <p:nvPr/>
        </p:nvSpPr>
        <p:spPr>
          <a:xfrm>
            <a:off x="245806" y="2090172"/>
            <a:ext cx="11700388" cy="3062377"/>
          </a:xfrm>
          <a:prstGeom prst="rect">
            <a:avLst/>
          </a:prstGeom>
          <a:noFill/>
        </p:spPr>
        <p:txBody>
          <a:bodyPr wrap="square" rtlCol="0">
            <a:spAutoFit/>
          </a:bodyPr>
          <a:lstStyle/>
          <a:p>
            <a:pPr>
              <a:spcAft>
                <a:spcPts val="600"/>
              </a:spcAft>
            </a:pPr>
            <a:r>
              <a:rPr lang="en-US" sz="2800" b="1" dirty="0">
                <a:solidFill>
                  <a:schemeClr val="accent2"/>
                </a:solidFill>
              </a:rPr>
              <a:t>Network Foundation:</a:t>
            </a:r>
            <a:r>
              <a:rPr lang="en-US" sz="2800" dirty="0">
                <a:solidFill>
                  <a:schemeClr val="accent2"/>
                </a:solidFill>
              </a:rPr>
              <a:t> </a:t>
            </a:r>
            <a:r>
              <a:rPr lang="en-US" sz="2800" dirty="0">
                <a:solidFill>
                  <a:schemeClr val="bg1"/>
                </a:solidFill>
              </a:rPr>
              <a:t>VLAN Segmentation &amp; Layer 2 Security.</a:t>
            </a:r>
          </a:p>
          <a:p>
            <a:pPr>
              <a:spcAft>
                <a:spcPts val="600"/>
              </a:spcAft>
            </a:pPr>
            <a:r>
              <a:rPr lang="en-US" sz="2800" b="1" dirty="0">
                <a:solidFill>
                  <a:schemeClr val="accent2"/>
                </a:solidFill>
              </a:rPr>
              <a:t>Week 1:</a:t>
            </a:r>
            <a:r>
              <a:rPr lang="en-US" sz="2800" dirty="0">
                <a:solidFill>
                  <a:schemeClr val="accent2"/>
                </a:solidFill>
              </a:rPr>
              <a:t> </a:t>
            </a:r>
            <a:r>
              <a:rPr lang="en-US" sz="2800" dirty="0">
                <a:solidFill>
                  <a:schemeClr val="bg1"/>
                </a:solidFill>
              </a:rPr>
              <a:t>SSL VPN Concepts &amp; Configuration.</a:t>
            </a:r>
          </a:p>
          <a:p>
            <a:pPr>
              <a:spcAft>
                <a:spcPts val="600"/>
              </a:spcAft>
            </a:pPr>
            <a:r>
              <a:rPr lang="en-US" sz="2800" b="1" dirty="0">
                <a:solidFill>
                  <a:schemeClr val="accent2"/>
                </a:solidFill>
              </a:rPr>
              <a:t>Week 2:</a:t>
            </a:r>
            <a:r>
              <a:rPr lang="en-US" sz="2800" dirty="0">
                <a:solidFill>
                  <a:schemeClr val="accent2"/>
                </a:solidFill>
              </a:rPr>
              <a:t> </a:t>
            </a:r>
            <a:r>
              <a:rPr lang="en-US" sz="2800" dirty="0">
                <a:solidFill>
                  <a:schemeClr val="bg1"/>
                </a:solidFill>
              </a:rPr>
              <a:t>IPsec VPN Configuration (Site-to-Site).</a:t>
            </a:r>
          </a:p>
          <a:p>
            <a:pPr>
              <a:spcAft>
                <a:spcPts val="600"/>
              </a:spcAft>
            </a:pPr>
            <a:r>
              <a:rPr lang="en-US" sz="2800" b="1" dirty="0">
                <a:solidFill>
                  <a:schemeClr val="accent2"/>
                </a:solidFill>
              </a:rPr>
              <a:t>Week 3:</a:t>
            </a:r>
            <a:r>
              <a:rPr lang="en-US" sz="2800" dirty="0">
                <a:solidFill>
                  <a:schemeClr val="accent2"/>
                </a:solidFill>
              </a:rPr>
              <a:t> </a:t>
            </a:r>
            <a:r>
              <a:rPr lang="en-US" sz="2800" dirty="0">
                <a:solidFill>
                  <a:schemeClr val="bg1"/>
                </a:solidFill>
              </a:rPr>
              <a:t>FortiGate VPN with SD-WAN Optimization.</a:t>
            </a:r>
          </a:p>
          <a:p>
            <a:pPr>
              <a:spcAft>
                <a:spcPts val="600"/>
              </a:spcAft>
            </a:pPr>
            <a:r>
              <a:rPr lang="en-US" sz="2800" b="1" dirty="0">
                <a:solidFill>
                  <a:schemeClr val="accent2"/>
                </a:solidFill>
              </a:rPr>
              <a:t>Windows Server Administration:</a:t>
            </a:r>
            <a:r>
              <a:rPr lang="en-US" sz="2800" dirty="0">
                <a:solidFill>
                  <a:schemeClr val="accent2"/>
                </a:solidFill>
              </a:rPr>
              <a:t> </a:t>
            </a:r>
            <a:r>
              <a:rPr lang="en-US" sz="2800" dirty="0">
                <a:solidFill>
                  <a:schemeClr val="bg1"/>
                </a:solidFill>
              </a:rPr>
              <a:t>Active Directory &amp; GPO.</a:t>
            </a:r>
          </a:p>
          <a:p>
            <a:pPr>
              <a:spcAft>
                <a:spcPts val="600"/>
              </a:spcAft>
            </a:pPr>
            <a:r>
              <a:rPr lang="en-US" sz="2800" b="1" dirty="0">
                <a:solidFill>
                  <a:schemeClr val="accent2"/>
                </a:solidFill>
              </a:rPr>
              <a:t>Conclusion &amp; Final Report.</a:t>
            </a:r>
            <a:endParaRPr lang="en-US" sz="2800" dirty="0">
              <a:solidFill>
                <a:schemeClr val="accent2"/>
              </a:solidFill>
            </a:endParaRPr>
          </a:p>
        </p:txBody>
      </p:sp>
    </p:spTree>
    <p:extLst>
      <p:ext uri="{BB962C8B-B14F-4D97-AF65-F5344CB8AC3E}">
        <p14:creationId xmlns:p14="http://schemas.microsoft.com/office/powerpoint/2010/main" val="1817325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83ED803D-A644-BDE2-315E-05622A62044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78A1766-9961-2D37-3F84-F353FD068AD1}"/>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87150D-BAB1-695E-8CFC-6AF0FC3A2F04}"/>
              </a:ext>
            </a:extLst>
          </p:cNvPr>
          <p:cNvSpPr>
            <a:spLocks noGrp="1"/>
          </p:cNvSpPr>
          <p:nvPr>
            <p:ph type="title"/>
          </p:nvPr>
        </p:nvSpPr>
        <p:spPr>
          <a:xfrm>
            <a:off x="453160" y="345009"/>
            <a:ext cx="10653578" cy="1132258"/>
          </a:xfrm>
        </p:spPr>
        <p:txBody>
          <a:bodyPr>
            <a:normAutofit fontScale="90000"/>
          </a:bodyPr>
          <a:lstStyle/>
          <a:p>
            <a:r>
              <a:rPr lang="en-US" sz="4400" dirty="0">
                <a:solidFill>
                  <a:schemeClr val="bg1"/>
                </a:solidFill>
              </a:rPr>
              <a:t>Network Topology &amp; Segmentation (Foundation)</a:t>
            </a:r>
            <a:endParaRPr lang="en-US" sz="4200" dirty="0">
              <a:solidFill>
                <a:schemeClr val="bg1"/>
              </a:solidFill>
            </a:endParaRPr>
          </a:p>
        </p:txBody>
      </p:sp>
      <p:sp>
        <p:nvSpPr>
          <p:cNvPr id="6" name="Rectangle 2">
            <a:extLst>
              <a:ext uri="{FF2B5EF4-FFF2-40B4-BE49-F238E27FC236}">
                <a16:creationId xmlns:a16="http://schemas.microsoft.com/office/drawing/2014/main" id="{8B045253-4A8B-C74E-91D8-DEF8E2AF6F58}"/>
              </a:ext>
            </a:extLst>
          </p:cNvPr>
          <p:cNvSpPr>
            <a:spLocks noChangeArrowheads="1"/>
          </p:cNvSpPr>
          <p:nvPr/>
        </p:nvSpPr>
        <p:spPr bwMode="auto">
          <a:xfrm>
            <a:off x="0" y="1536144"/>
            <a:ext cx="12192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Infrastructure:</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Two sites (HQ &amp; Branch) connected via dual WAN routers for redundancy.</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VLAN Configuration (Departmental Segmentation):</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VLAN 10 (IT):</a:t>
            </a:r>
            <a:r>
              <a:rPr kumimoji="0" lang="en-US" altLang="en-US" sz="2400" b="0" i="0" u="none" strike="noStrike" cap="none" normalizeH="0" baseline="0" dirty="0">
                <a:ln>
                  <a:noFill/>
                </a:ln>
                <a:solidFill>
                  <a:schemeClr val="bg1"/>
                </a:solidFill>
                <a:effectLst/>
                <a:latin typeface="Arial" panose="020B0604020202020204" pitchFamily="34" charset="0"/>
              </a:rPr>
              <a:t> Technical staff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VLAN 20 (HR):</a:t>
            </a:r>
            <a:r>
              <a:rPr kumimoji="0" lang="en-US" altLang="en-US" sz="2400" b="0" i="0" u="none" strike="noStrike" cap="none" normalizeH="0" baseline="0" dirty="0">
                <a:ln>
                  <a:noFill/>
                </a:ln>
                <a:solidFill>
                  <a:schemeClr val="bg1"/>
                </a:solidFill>
                <a:effectLst/>
                <a:latin typeface="Arial" panose="020B0604020202020204" pitchFamily="34" charset="0"/>
              </a:rPr>
              <a:t> HR users and recruitment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VLAN 30 (Finance):</a:t>
            </a:r>
            <a:r>
              <a:rPr kumimoji="0" lang="en-US" altLang="en-US" sz="2400" b="0" i="0" u="none" strike="noStrike" cap="none" normalizeH="0" baseline="0" dirty="0">
                <a:ln>
                  <a:noFill/>
                </a:ln>
                <a:solidFill>
                  <a:schemeClr val="bg1"/>
                </a:solidFill>
                <a:effectLst/>
                <a:latin typeface="Arial" panose="020B0604020202020204" pitchFamily="34" charset="0"/>
              </a:rPr>
              <a:t> Secured financial transactions (High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VLAN 40 (Sales):</a:t>
            </a:r>
            <a:r>
              <a:rPr kumimoji="0" lang="en-US" altLang="en-US" sz="2400" b="0" i="0" u="none" strike="noStrike" cap="none" normalizeH="0" baseline="0" dirty="0">
                <a:ln>
                  <a:noFill/>
                </a:ln>
                <a:solidFill>
                  <a:schemeClr val="bg1"/>
                </a:solidFill>
                <a:effectLst/>
                <a:latin typeface="Arial" panose="020B0604020202020204" pitchFamily="34" charset="0"/>
              </a:rPr>
              <a:t> Sales team and CRM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VLAN 50 (Management):</a:t>
            </a:r>
            <a:r>
              <a:rPr kumimoji="0" lang="en-US" altLang="en-US" sz="2400" b="0" i="0" u="none" strike="noStrike" cap="none" normalizeH="0" baseline="0" dirty="0">
                <a:ln>
                  <a:noFill/>
                </a:ln>
                <a:solidFill>
                  <a:schemeClr val="bg1"/>
                </a:solidFill>
                <a:effectLst/>
                <a:latin typeface="Arial" panose="020B0604020202020204" pitchFamily="34" charset="0"/>
              </a:rPr>
              <a:t> Executive management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VLAN 60 (Servers):</a:t>
            </a:r>
            <a:r>
              <a:rPr kumimoji="0" lang="en-US" altLang="en-US" sz="2400" b="0" i="0" u="none" strike="noStrike" cap="none" normalizeH="0" baseline="0" dirty="0">
                <a:ln>
                  <a:noFill/>
                </a:ln>
                <a:solidFill>
                  <a:schemeClr val="bg1"/>
                </a:solidFill>
                <a:effectLst/>
                <a:latin typeface="Arial" panose="020B0604020202020204" pitchFamily="34" charset="0"/>
              </a:rPr>
              <a:t> Internal servers network.</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Switch Configuration (Trunk Link):</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mode trunk</a:t>
            </a:r>
            <a:endParaRPr kumimoji="0" lang="en-US" altLang="en-US" sz="24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trunk allowed </a:t>
            </a:r>
            <a:r>
              <a:rPr kumimoji="0" lang="en-US" altLang="en-US" sz="2400" b="0" i="0" u="none" strike="noStrike" cap="none" normalizeH="0" baseline="0" dirty="0" err="1">
                <a:ln>
                  <a:noFill/>
                </a:ln>
                <a:solidFill>
                  <a:schemeClr val="bg1"/>
                </a:solidFill>
                <a:effectLst/>
                <a:latin typeface="Arial Unicode MS" panose="020B0604020202020204" pitchFamily="34" charset="-128"/>
              </a:rPr>
              <a:t>vlan</a:t>
            </a:r>
            <a:r>
              <a:rPr kumimoji="0" lang="en-US" altLang="en-US" sz="2400" b="0" i="0" u="none" strike="noStrike" cap="none" normalizeH="0" baseline="0" dirty="0">
                <a:ln>
                  <a:noFill/>
                </a:ln>
                <a:solidFill>
                  <a:schemeClr val="bg1"/>
                </a:solidFill>
                <a:effectLst/>
                <a:latin typeface="Arial Unicode MS" panose="020B0604020202020204" pitchFamily="34" charset="-128"/>
              </a:rPr>
              <a:t> 10,20,30,40,50,60</a:t>
            </a:r>
            <a:r>
              <a:rPr kumimoji="0" lang="en-US" altLang="en-US" sz="2400" b="0" i="0" u="none" strike="noStrike" cap="none" normalizeH="0" baseline="0" dirty="0">
                <a:ln>
                  <a:noFill/>
                </a:ln>
                <a:solidFill>
                  <a:schemeClr val="bg1"/>
                </a:solidFill>
                <a:effectLst/>
              </a:rPr>
              <a:t> (Allows all VLAN traffic to pass to the FortiGate firewall)</a:t>
            </a:r>
            <a:r>
              <a:rPr kumimoji="0" lang="en-US" altLang="en-US" sz="2400" b="0" i="0" u="none" strike="noStrike" cap="none" normalizeH="0" baseline="0" dirty="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2066381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71EB8A7F-F7F0-CF25-489A-12EBD7A0AD7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0F031B0-0EA3-B098-52E7-96F348FD1B22}"/>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FE749C-1D75-F703-222D-6B29485411D3}"/>
              </a:ext>
            </a:extLst>
          </p:cNvPr>
          <p:cNvSpPr>
            <a:spLocks noGrp="1"/>
          </p:cNvSpPr>
          <p:nvPr>
            <p:ph type="title"/>
          </p:nvPr>
        </p:nvSpPr>
        <p:spPr>
          <a:xfrm>
            <a:off x="453160" y="345009"/>
            <a:ext cx="10653578" cy="1132258"/>
          </a:xfrm>
        </p:spPr>
        <p:txBody>
          <a:bodyPr>
            <a:normAutofit fontScale="90000"/>
          </a:bodyPr>
          <a:lstStyle/>
          <a:p>
            <a:r>
              <a:rPr lang="en-US" sz="4400" dirty="0">
                <a:solidFill>
                  <a:schemeClr val="bg1"/>
                </a:solidFill>
              </a:rPr>
              <a:t>Cont. Network Topology &amp; Segmentation (DHCP From </a:t>
            </a:r>
            <a:r>
              <a:rPr lang="en-US" sz="4400" dirty="0" err="1">
                <a:solidFill>
                  <a:schemeClr val="bg1"/>
                </a:solidFill>
              </a:rPr>
              <a:t>Fortigate</a:t>
            </a:r>
            <a:r>
              <a:rPr lang="en-US" sz="4400" dirty="0">
                <a:solidFill>
                  <a:schemeClr val="bg1"/>
                </a:solidFill>
              </a:rPr>
              <a:t>)</a:t>
            </a:r>
            <a:endParaRPr lang="en-US" sz="4200" dirty="0">
              <a:solidFill>
                <a:schemeClr val="bg1"/>
              </a:solidFill>
            </a:endParaRPr>
          </a:p>
        </p:txBody>
      </p:sp>
      <p:pic>
        <p:nvPicPr>
          <p:cNvPr id="4" name="Picture 3">
            <a:extLst>
              <a:ext uri="{FF2B5EF4-FFF2-40B4-BE49-F238E27FC236}">
                <a16:creationId xmlns:a16="http://schemas.microsoft.com/office/drawing/2014/main" id="{DBEF174C-235B-B2E8-E34A-0B4009209EAA}"/>
              </a:ext>
            </a:extLst>
          </p:cNvPr>
          <p:cNvPicPr/>
          <p:nvPr/>
        </p:nvPicPr>
        <p:blipFill>
          <a:blip r:embed="rId4"/>
          <a:stretch>
            <a:fillRect/>
          </a:stretch>
        </p:blipFill>
        <p:spPr>
          <a:xfrm>
            <a:off x="453160" y="1822276"/>
            <a:ext cx="5248275" cy="4114800"/>
          </a:xfrm>
          <a:prstGeom prst="rect">
            <a:avLst/>
          </a:prstGeom>
        </p:spPr>
      </p:pic>
      <p:pic>
        <p:nvPicPr>
          <p:cNvPr id="5" name="Picture 4">
            <a:extLst>
              <a:ext uri="{FF2B5EF4-FFF2-40B4-BE49-F238E27FC236}">
                <a16:creationId xmlns:a16="http://schemas.microsoft.com/office/drawing/2014/main" id="{289D662F-9A4C-C8F8-E77E-3D5A3D5CC9E3}"/>
              </a:ext>
            </a:extLst>
          </p:cNvPr>
          <p:cNvPicPr/>
          <p:nvPr/>
        </p:nvPicPr>
        <p:blipFill>
          <a:blip r:embed="rId5"/>
          <a:stretch>
            <a:fillRect/>
          </a:stretch>
        </p:blipFill>
        <p:spPr>
          <a:xfrm>
            <a:off x="6490567" y="1803226"/>
            <a:ext cx="5324475" cy="4152900"/>
          </a:xfrm>
          <a:prstGeom prst="rect">
            <a:avLst/>
          </a:prstGeom>
        </p:spPr>
      </p:pic>
    </p:spTree>
    <p:extLst>
      <p:ext uri="{BB962C8B-B14F-4D97-AF65-F5344CB8AC3E}">
        <p14:creationId xmlns:p14="http://schemas.microsoft.com/office/powerpoint/2010/main" val="558591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CC154586-CA7A-A3C2-36D0-A422814B7BF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DE6DBC1-72BC-96DD-B7C8-306A0080F0E9}"/>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454F07-792B-38EF-DC73-C1DCDF4878E1}"/>
              </a:ext>
            </a:extLst>
          </p:cNvPr>
          <p:cNvSpPr>
            <a:spLocks noGrp="1"/>
          </p:cNvSpPr>
          <p:nvPr>
            <p:ph type="title"/>
          </p:nvPr>
        </p:nvSpPr>
        <p:spPr>
          <a:xfrm>
            <a:off x="453160" y="345009"/>
            <a:ext cx="10653578" cy="1132258"/>
          </a:xfrm>
        </p:spPr>
        <p:txBody>
          <a:bodyPr>
            <a:normAutofit fontScale="90000"/>
          </a:bodyPr>
          <a:lstStyle/>
          <a:p>
            <a:r>
              <a:rPr lang="en-US" sz="4400" dirty="0">
                <a:solidFill>
                  <a:schemeClr val="bg1"/>
                </a:solidFill>
              </a:rPr>
              <a:t>Cont. Network Topology &amp; Segmentation (Helper Address For DHCP &amp; Test)</a:t>
            </a:r>
            <a:endParaRPr lang="en-US" sz="4200" dirty="0">
              <a:solidFill>
                <a:schemeClr val="bg1"/>
              </a:solidFill>
            </a:endParaRPr>
          </a:p>
        </p:txBody>
      </p:sp>
      <p:pic>
        <p:nvPicPr>
          <p:cNvPr id="6" name="Picture 5">
            <a:extLst>
              <a:ext uri="{FF2B5EF4-FFF2-40B4-BE49-F238E27FC236}">
                <a16:creationId xmlns:a16="http://schemas.microsoft.com/office/drawing/2014/main" id="{4EBF25D3-6623-77B3-8D4A-0FD7962B1C7C}"/>
              </a:ext>
            </a:extLst>
          </p:cNvPr>
          <p:cNvPicPr/>
          <p:nvPr/>
        </p:nvPicPr>
        <p:blipFill>
          <a:blip r:embed="rId4"/>
          <a:stretch>
            <a:fillRect/>
          </a:stretch>
        </p:blipFill>
        <p:spPr>
          <a:xfrm>
            <a:off x="453159" y="1685925"/>
            <a:ext cx="4719731" cy="4205424"/>
          </a:xfrm>
          <a:prstGeom prst="rect">
            <a:avLst/>
          </a:prstGeom>
        </p:spPr>
      </p:pic>
      <p:pic>
        <p:nvPicPr>
          <p:cNvPr id="7" name="Picture 6">
            <a:extLst>
              <a:ext uri="{FF2B5EF4-FFF2-40B4-BE49-F238E27FC236}">
                <a16:creationId xmlns:a16="http://schemas.microsoft.com/office/drawing/2014/main" id="{D13D672B-F189-3208-AB60-42FD9EBBE709}"/>
              </a:ext>
            </a:extLst>
          </p:cNvPr>
          <p:cNvPicPr/>
          <p:nvPr/>
        </p:nvPicPr>
        <p:blipFill>
          <a:blip r:embed="rId5"/>
          <a:stretch>
            <a:fillRect/>
          </a:stretch>
        </p:blipFill>
        <p:spPr>
          <a:xfrm>
            <a:off x="5765668" y="1685925"/>
            <a:ext cx="5973173" cy="4477204"/>
          </a:xfrm>
          <a:prstGeom prst="rect">
            <a:avLst/>
          </a:prstGeom>
        </p:spPr>
      </p:pic>
    </p:spTree>
    <p:extLst>
      <p:ext uri="{BB962C8B-B14F-4D97-AF65-F5344CB8AC3E}">
        <p14:creationId xmlns:p14="http://schemas.microsoft.com/office/powerpoint/2010/main" val="3817703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61E134EF-4A7B-DADE-8DC8-0BDDC5C938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0A6B4A8-CDA2-DC62-B860-A7AC6B5DAE92}"/>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E4C2C7-FA5B-ECA8-BF04-AD294F5548F9}"/>
              </a:ext>
            </a:extLst>
          </p:cNvPr>
          <p:cNvSpPr>
            <a:spLocks noGrp="1"/>
          </p:cNvSpPr>
          <p:nvPr>
            <p:ph type="title"/>
          </p:nvPr>
        </p:nvSpPr>
        <p:spPr>
          <a:xfrm>
            <a:off x="453160" y="345009"/>
            <a:ext cx="10653578" cy="1132258"/>
          </a:xfrm>
        </p:spPr>
        <p:txBody>
          <a:bodyPr>
            <a:normAutofit fontScale="90000"/>
          </a:bodyPr>
          <a:lstStyle/>
          <a:p>
            <a:r>
              <a:rPr lang="en-US" sz="4400" dirty="0">
                <a:solidFill>
                  <a:schemeClr val="bg1"/>
                </a:solidFill>
              </a:rPr>
              <a:t>Cont. Network Topology &amp; Segmentation (</a:t>
            </a:r>
            <a:r>
              <a:rPr lang="en-US" sz="4400" dirty="0" err="1">
                <a:solidFill>
                  <a:schemeClr val="bg1"/>
                </a:solidFill>
              </a:rPr>
              <a:t>Fortigate</a:t>
            </a:r>
            <a:r>
              <a:rPr lang="en-US" sz="4400" dirty="0">
                <a:solidFill>
                  <a:schemeClr val="bg1"/>
                </a:solidFill>
              </a:rPr>
              <a:t> DHCP Client)</a:t>
            </a:r>
            <a:endParaRPr lang="en-US" sz="4200" dirty="0">
              <a:solidFill>
                <a:schemeClr val="bg1"/>
              </a:solidFill>
            </a:endParaRPr>
          </a:p>
        </p:txBody>
      </p:sp>
      <p:pic>
        <p:nvPicPr>
          <p:cNvPr id="4" name="Picture 3">
            <a:extLst>
              <a:ext uri="{FF2B5EF4-FFF2-40B4-BE49-F238E27FC236}">
                <a16:creationId xmlns:a16="http://schemas.microsoft.com/office/drawing/2014/main" id="{350339C5-036A-6AA4-C30D-776700803163}"/>
              </a:ext>
            </a:extLst>
          </p:cNvPr>
          <p:cNvPicPr/>
          <p:nvPr/>
        </p:nvPicPr>
        <p:blipFill>
          <a:blip r:embed="rId4"/>
          <a:stretch>
            <a:fillRect/>
          </a:stretch>
        </p:blipFill>
        <p:spPr>
          <a:xfrm>
            <a:off x="870857" y="1608160"/>
            <a:ext cx="10450285" cy="4904831"/>
          </a:xfrm>
          <a:prstGeom prst="rect">
            <a:avLst/>
          </a:prstGeom>
        </p:spPr>
      </p:pic>
    </p:spTree>
    <p:extLst>
      <p:ext uri="{BB962C8B-B14F-4D97-AF65-F5344CB8AC3E}">
        <p14:creationId xmlns:p14="http://schemas.microsoft.com/office/powerpoint/2010/main" val="1133535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97090C7A-7BFA-8D85-4B4D-056D9BB425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4E73E7-1B07-604B-9307-C5CFC12D9136}"/>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AE0CEF-6B71-2ADB-A44F-7DC98FCF5D7C}"/>
              </a:ext>
            </a:extLst>
          </p:cNvPr>
          <p:cNvSpPr>
            <a:spLocks noGrp="1"/>
          </p:cNvSpPr>
          <p:nvPr>
            <p:ph type="title"/>
          </p:nvPr>
        </p:nvSpPr>
        <p:spPr/>
        <p:txBody>
          <a:bodyPr/>
          <a:lstStyle/>
          <a:p>
            <a:r>
              <a:rPr lang="en-US" sz="4400" dirty="0">
                <a:solidFill>
                  <a:schemeClr val="bg1"/>
                </a:solidFill>
              </a:rPr>
              <a:t>Layer 2 Security (Port Security)</a:t>
            </a:r>
            <a:endParaRPr lang="en-US" sz="4200" dirty="0">
              <a:solidFill>
                <a:schemeClr val="bg1"/>
              </a:solidFill>
            </a:endParaRPr>
          </a:p>
        </p:txBody>
      </p:sp>
      <p:sp>
        <p:nvSpPr>
          <p:cNvPr id="6" name="Rectangle 2">
            <a:extLst>
              <a:ext uri="{FF2B5EF4-FFF2-40B4-BE49-F238E27FC236}">
                <a16:creationId xmlns:a16="http://schemas.microsoft.com/office/drawing/2014/main" id="{6E8CACD7-087B-777F-50A7-6EC5E5C522CE}"/>
              </a:ext>
            </a:extLst>
          </p:cNvPr>
          <p:cNvSpPr>
            <a:spLocks noChangeArrowheads="1"/>
          </p:cNvSpPr>
          <p:nvPr/>
        </p:nvSpPr>
        <p:spPr bwMode="auto">
          <a:xfrm>
            <a:off x="0" y="1299435"/>
            <a:ext cx="1219200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Objective: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1"/>
                </a:solidFill>
                <a:effectLst/>
                <a:latin typeface="Arial" panose="020B0604020202020204" pitchFamily="34" charset="0"/>
              </a:rPr>
              <a:t>Prevent unauthorized devices from accessing the network and block MAC Spoofing attacks.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Configuration (Access Switch):</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mode access</a:t>
            </a:r>
            <a:endParaRPr kumimoji="0" lang="en-US" altLang="en-US" sz="24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port-security</a:t>
            </a:r>
            <a:endParaRPr kumimoji="0" lang="en-US" altLang="en-US" sz="24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port-security maximum 1</a:t>
            </a:r>
            <a:r>
              <a:rPr kumimoji="0" lang="en-US" altLang="en-US" sz="2400" b="0" i="0" u="none" strike="noStrike" cap="none" normalizeH="0" baseline="0" dirty="0">
                <a:ln>
                  <a:noFill/>
                </a:ln>
                <a:solidFill>
                  <a:schemeClr val="bg1"/>
                </a:solidFill>
                <a:effectLst/>
              </a:rPr>
              <a:t> (Limits access to only one device per port)</a:t>
            </a:r>
            <a:r>
              <a:rPr kumimoji="0" lang="en-US" altLang="en-US" sz="24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port-security mac-address sticky</a:t>
            </a:r>
            <a:r>
              <a:rPr kumimoji="0" lang="en-US" altLang="en-US" sz="2400" b="0" i="0" u="none" strike="noStrike" cap="none" normalizeH="0" baseline="0" dirty="0">
                <a:ln>
                  <a:noFill/>
                </a:ln>
                <a:solidFill>
                  <a:schemeClr val="bg1"/>
                </a:solidFill>
                <a:effectLst/>
              </a:rPr>
              <a:t> (Dynamically learns and saves the legitimate MAC address)</a:t>
            </a:r>
            <a:r>
              <a:rPr kumimoji="0" lang="en-US" altLang="en-US" sz="24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Unicode MS" panose="020B0604020202020204" pitchFamily="34" charset="-128"/>
              </a:rPr>
              <a:t>switchport port-security violation shutdown</a:t>
            </a:r>
            <a:r>
              <a:rPr kumimoji="0" lang="en-US" altLang="en-US" sz="2400" b="0" i="0" u="none" strike="noStrike" cap="none" normalizeH="0" baseline="0" dirty="0">
                <a:ln>
                  <a:noFill/>
                </a:ln>
                <a:solidFill>
                  <a:schemeClr val="bg1"/>
                </a:solidFill>
                <a:effectLst/>
              </a:rPr>
              <a:t> (Port shuts down immediately if a violation occurs)</a:t>
            </a:r>
            <a:r>
              <a:rPr kumimoji="0" lang="en-US" altLang="en-US" sz="24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Result:</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400" b="0" i="0" u="none" strike="noStrike" cap="none" normalizeH="0" baseline="0" dirty="0">
                <a:ln>
                  <a:noFill/>
                </a:ln>
                <a:solidFill>
                  <a:schemeClr val="bg1"/>
                </a:solidFill>
                <a:effectLst/>
                <a:latin typeface="Arial" panose="020B0604020202020204" pitchFamily="34" charset="0"/>
              </a:rPr>
              <a:t>The switch successfully detected an unauthorized Kali Linux device and disabled the port.</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215641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F19B2A81-D947-232A-B55D-F2F44F70F69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574FF3B-AC55-B84E-DBD6-BDB91A55DBD0}"/>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489DDD-B112-6196-6D11-9F3DD88F4BA9}"/>
              </a:ext>
            </a:extLst>
          </p:cNvPr>
          <p:cNvSpPr>
            <a:spLocks noGrp="1"/>
          </p:cNvSpPr>
          <p:nvPr>
            <p:ph type="title"/>
          </p:nvPr>
        </p:nvSpPr>
        <p:spPr/>
        <p:txBody>
          <a:bodyPr/>
          <a:lstStyle/>
          <a:p>
            <a:r>
              <a:rPr lang="en-US" sz="4200" dirty="0">
                <a:solidFill>
                  <a:schemeClr val="bg1"/>
                </a:solidFill>
              </a:rPr>
              <a:t>Advanced Security (MAC Filtering)</a:t>
            </a:r>
          </a:p>
        </p:txBody>
      </p:sp>
      <p:sp>
        <p:nvSpPr>
          <p:cNvPr id="4" name="Rectangle 1">
            <a:extLst>
              <a:ext uri="{FF2B5EF4-FFF2-40B4-BE49-F238E27FC236}">
                <a16:creationId xmlns:a16="http://schemas.microsoft.com/office/drawing/2014/main" id="{B21840CF-EE7D-4A25-0D74-06FB4877AFD3}"/>
              </a:ext>
            </a:extLst>
          </p:cNvPr>
          <p:cNvSpPr>
            <a:spLocks noChangeArrowheads="1"/>
          </p:cNvSpPr>
          <p:nvPr/>
        </p:nvSpPr>
        <p:spPr bwMode="auto">
          <a:xfrm>
            <a:off x="0" y="1477268"/>
            <a:ext cx="121920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accent2"/>
                </a:solidFill>
                <a:effectLst/>
                <a:latin typeface="Arial" panose="020B0604020202020204" pitchFamily="34" charset="0"/>
              </a:rPr>
              <a:t>Strict MAC filtering </a:t>
            </a:r>
            <a:r>
              <a:rPr kumimoji="0" lang="en-US" altLang="en-US" sz="2800" b="0" i="0" u="none" strike="noStrike" cap="none" normalizeH="0" baseline="0" dirty="0">
                <a:ln>
                  <a:noFill/>
                </a:ln>
                <a:solidFill>
                  <a:schemeClr val="bg1"/>
                </a:solidFill>
                <a:effectLst/>
                <a:latin typeface="Arial" panose="020B0604020202020204" pitchFamily="34" charset="0"/>
              </a:rPr>
              <a:t>applied on </a:t>
            </a:r>
            <a:r>
              <a:rPr kumimoji="0" lang="en-US" altLang="en-US" sz="2800" b="1" i="0" u="none" strike="noStrike" cap="none" normalizeH="0" baseline="0" dirty="0">
                <a:ln>
                  <a:noFill/>
                </a:ln>
                <a:solidFill>
                  <a:schemeClr val="bg1"/>
                </a:solidFill>
                <a:effectLst/>
                <a:latin typeface="Arial" panose="020B0604020202020204" pitchFamily="34" charset="0"/>
              </a:rPr>
              <a:t>Finance VLAN (30)</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Policy:</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Deny_Unknown_Finance_MACS</a:t>
            </a:r>
            <a:r>
              <a:rPr kumimoji="0" lang="en-US" altLang="en-US" sz="2800" b="0" i="0" u="none" strike="noStrike" cap="none" normalizeH="0" baseline="0" dirty="0">
                <a:ln>
                  <a:noFill/>
                </a:ln>
                <a:solidFill>
                  <a:schemeClr val="bg1"/>
                </a:solidFill>
                <a:effectLst/>
              </a:rPr>
              <a:t> blocks any device not explicitly listed in the allowed address objects, ensuring zero-trust access for the financial subnet</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solidFill>
                <a:schemeClr val="bg1"/>
              </a:solidFill>
              <a:latin typeface="Arial" panose="020B0604020202020204" pitchFamily="34" charset="0"/>
            </a:endParaRPr>
          </a:p>
          <a:p>
            <a:pPr lvl="0" eaLnBrk="0" fontAlgn="base" hangingPunct="0">
              <a:spcBef>
                <a:spcPct val="0"/>
              </a:spcBef>
              <a:spcAft>
                <a:spcPct val="0"/>
              </a:spcAft>
            </a:pPr>
            <a:r>
              <a:rPr kumimoji="0" lang="en-US" altLang="en-US" sz="2800" b="1" i="0" u="none" strike="noStrike" cap="none" normalizeH="0" baseline="0" dirty="0">
                <a:ln>
                  <a:noFill/>
                </a:ln>
                <a:solidFill>
                  <a:schemeClr val="accent2"/>
                </a:solidFill>
                <a:effectLst/>
                <a:latin typeface="Arial" panose="020B0604020202020204" pitchFamily="34" charset="0"/>
              </a:rPr>
              <a:t>Note on Log Evidence </a:t>
            </a:r>
            <a:r>
              <a:rPr kumimoji="0" lang="en-US" altLang="en-US" sz="2800" b="0" i="0" u="none" strike="noStrike" cap="none" normalizeH="0" baseline="0" dirty="0">
                <a:ln>
                  <a:noFill/>
                </a:ln>
                <a:solidFill>
                  <a:schemeClr val="bg1"/>
                </a:solidFill>
                <a:effectLst/>
                <a:latin typeface="Arial" panose="020B0604020202020204" pitchFamily="34" charset="0"/>
              </a:rPr>
              <a:t>(FortiGate)The FortiGate log evidence for denied MAC traffic was not generated, because Port Security on the access switch blocked the unauthorized device locally before its traffic could reach the firewall. As a result, no packets from the attacker were forwarded to the FortiGate, and therefore no deny logs were created at the firewall level.</a:t>
            </a:r>
          </a:p>
        </p:txBody>
      </p:sp>
    </p:spTree>
    <p:extLst>
      <p:ext uri="{BB962C8B-B14F-4D97-AF65-F5344CB8AC3E}">
        <p14:creationId xmlns:p14="http://schemas.microsoft.com/office/powerpoint/2010/main" val="2366204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2268C98F-4AA9-BD81-8FD3-7B8220419BD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7CC19B3-B1DD-8F7C-699A-5501D4490B65}"/>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907BD2-80A6-3C7A-F039-A9B9FF8FD01C}"/>
              </a:ext>
            </a:extLst>
          </p:cNvPr>
          <p:cNvSpPr>
            <a:spLocks noGrp="1"/>
          </p:cNvSpPr>
          <p:nvPr>
            <p:ph type="title"/>
          </p:nvPr>
        </p:nvSpPr>
        <p:spPr/>
        <p:txBody>
          <a:bodyPr>
            <a:normAutofit fontScale="90000"/>
          </a:bodyPr>
          <a:lstStyle/>
          <a:p>
            <a:r>
              <a:rPr lang="en-US" sz="4400" dirty="0">
                <a:solidFill>
                  <a:schemeClr val="bg1"/>
                </a:solidFill>
              </a:rPr>
              <a:t>Layer 3 Security (Firewall Policies &amp; Profiles)</a:t>
            </a:r>
            <a:endParaRPr lang="en-US" sz="4200" dirty="0">
              <a:solidFill>
                <a:schemeClr val="bg1"/>
              </a:solidFill>
            </a:endParaRPr>
          </a:p>
        </p:txBody>
      </p:sp>
      <p:sp>
        <p:nvSpPr>
          <p:cNvPr id="6" name="Rectangle 2">
            <a:extLst>
              <a:ext uri="{FF2B5EF4-FFF2-40B4-BE49-F238E27FC236}">
                <a16:creationId xmlns:a16="http://schemas.microsoft.com/office/drawing/2014/main" id="{DE7E40BF-07AE-4CCE-6644-62D6FD9702B2}"/>
              </a:ext>
            </a:extLst>
          </p:cNvPr>
          <p:cNvSpPr>
            <a:spLocks noChangeArrowheads="1"/>
          </p:cNvSpPr>
          <p:nvPr/>
        </p:nvSpPr>
        <p:spPr bwMode="auto">
          <a:xfrm>
            <a:off x="0" y="1901649"/>
            <a:ext cx="12192000" cy="450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Firewall Policies:</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Created 6 separate internet access policies for each VLAN (IT-HR-Finance-Sales-Management-Servers) To the Internet</a:t>
            </a:r>
          </a:p>
          <a:p>
            <a:pPr marL="0" marR="0" lvl="0" indent="0" algn="l" defTabSz="914400" rtl="0" eaLnBrk="0" fontAlgn="base" latinLnBrk="0" hangingPunct="0">
              <a:lnSpc>
                <a:spcPct val="100000"/>
              </a:lnSpc>
              <a:spcBef>
                <a:spcPct val="0"/>
              </a:spcBef>
              <a:spcAft>
                <a:spcPts val="60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Web Filtering Profiles (Productivity &amp; Security):</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IT:</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Allow</a:t>
            </a:r>
            <a:r>
              <a:rPr lang="en-US" altLang="en-US" sz="2800" dirty="0">
                <a:solidFill>
                  <a:schemeClr val="bg1"/>
                </a:solidFill>
                <a:latin typeface="Arial" panose="020B0604020202020204" pitchFamily="34" charset="0"/>
              </a:rPr>
              <a:t> Microsoft, Block Facebook</a:t>
            </a:r>
            <a:r>
              <a:rPr kumimoji="0" lang="en-US" altLang="en-US" sz="1050" b="0" i="0" u="none" strike="noStrike" cap="none" normalizeH="0" baseline="0" dirty="0">
                <a:ln>
                  <a:noFill/>
                </a:ln>
                <a:solidFill>
                  <a:schemeClr val="tx1"/>
                </a:solidFill>
                <a:effectLst/>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HR:</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lang="en-US" altLang="en-US" sz="2800" dirty="0">
                <a:solidFill>
                  <a:schemeClr val="bg1"/>
                </a:solidFill>
                <a:latin typeface="Arial" panose="020B0604020202020204" pitchFamily="34" charset="0"/>
              </a:rPr>
              <a:t>Allow Zoom, Block Reddit</a:t>
            </a:r>
            <a:r>
              <a:rPr kumimoji="0" lang="en-US" altLang="en-US" sz="1050" b="0" i="0" u="none" strike="noStrike" cap="none" normalizeH="0" baseline="0" dirty="0">
                <a:ln>
                  <a:noFill/>
                </a:ln>
                <a:solidFill>
                  <a:schemeClr val="tx1"/>
                </a:solidFill>
                <a:effectLst/>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Finance:</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lang="en-US" altLang="en-US" sz="2800" dirty="0">
                <a:solidFill>
                  <a:schemeClr val="bg1"/>
                </a:solidFill>
                <a:latin typeface="Arial" panose="020B0604020202020204" pitchFamily="34" charset="0"/>
              </a:rPr>
              <a:t>Allow Investopedia, Block TikTok</a:t>
            </a:r>
            <a:r>
              <a:rPr kumimoji="0" lang="en-US" altLang="en-US" sz="1050" b="0" i="0" u="none" strike="noStrike" cap="none" normalizeH="0" baseline="0" dirty="0">
                <a:ln>
                  <a:noFill/>
                </a:ln>
                <a:solidFill>
                  <a:schemeClr val="tx1"/>
                </a:solidFill>
                <a:effectLst/>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Sales:</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lang="en-US" altLang="en-US" sz="2800" dirty="0">
                <a:solidFill>
                  <a:schemeClr val="bg1"/>
                </a:solidFill>
                <a:latin typeface="Arial" panose="020B0604020202020204" pitchFamily="34" charset="0"/>
              </a:rPr>
              <a:t>Allow Shopify, Block YouTube</a:t>
            </a:r>
            <a:r>
              <a:rPr kumimoji="0" lang="en-US" altLang="en-US" sz="1050" b="0" i="0" u="none" strike="noStrike" cap="none" normalizeH="0" baseline="0" dirty="0">
                <a:ln>
                  <a:noFill/>
                </a:ln>
                <a:solidFill>
                  <a:schemeClr val="tx1"/>
                </a:solidFill>
                <a:effectLst/>
              </a:rPr>
              <a:t>.</a:t>
            </a:r>
          </a:p>
          <a:p>
            <a:pPr eaLnBrk="0" fontAlgn="base" hangingPunct="0">
              <a:spcBef>
                <a:spcPct val="0"/>
              </a:spcBef>
              <a:spcAft>
                <a:spcPts val="600"/>
              </a:spcAft>
              <a:buFontTx/>
              <a:buChar char="•"/>
            </a:pPr>
            <a:r>
              <a:rPr lang="en-US" sz="2800" b="1" dirty="0">
                <a:solidFill>
                  <a:schemeClr val="accent2"/>
                </a:solidFill>
                <a:latin typeface="Arial" panose="020B0604020202020204" pitchFamily="34" charset="0"/>
                <a:sym typeface="Canva Sans"/>
              </a:rPr>
              <a:t>Management: </a:t>
            </a:r>
            <a:r>
              <a:rPr lang="en-US" sz="2800" dirty="0">
                <a:solidFill>
                  <a:schemeClr val="bg1"/>
                </a:solidFill>
                <a:latin typeface="Arial" panose="020B0604020202020204" pitchFamily="34" charset="0"/>
                <a:sym typeface="Canva Sans"/>
              </a:rPr>
              <a:t>Allow LinkedIn — Block Facebook</a:t>
            </a:r>
          </a:p>
          <a:p>
            <a:pPr eaLnBrk="0" fontAlgn="base" hangingPunct="0">
              <a:spcBef>
                <a:spcPct val="0"/>
              </a:spcBef>
              <a:spcAft>
                <a:spcPts val="600"/>
              </a:spcAft>
              <a:buFontTx/>
              <a:buChar char="•"/>
            </a:pPr>
            <a:r>
              <a:rPr lang="en-US" sz="2800" b="1" dirty="0">
                <a:solidFill>
                  <a:schemeClr val="accent2"/>
                </a:solidFill>
                <a:latin typeface="Arial" panose="020B0604020202020204" pitchFamily="34" charset="0"/>
                <a:sym typeface="Canva Sans"/>
              </a:rPr>
              <a:t>Servers: </a:t>
            </a:r>
            <a:r>
              <a:rPr lang="en-US" sz="2800" dirty="0">
                <a:solidFill>
                  <a:schemeClr val="bg1"/>
                </a:solidFill>
                <a:latin typeface="Arial" panose="020B0604020202020204" pitchFamily="34" charset="0"/>
                <a:sym typeface="Canva Sans"/>
              </a:rPr>
              <a:t>Allow GitHub — Block TikTok</a:t>
            </a:r>
          </a:p>
        </p:txBody>
      </p:sp>
    </p:spTree>
    <p:extLst>
      <p:ext uri="{BB962C8B-B14F-4D97-AF65-F5344CB8AC3E}">
        <p14:creationId xmlns:p14="http://schemas.microsoft.com/office/powerpoint/2010/main" val="3587714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38FDD02B-455D-C45B-679F-8BF47364252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23792E7-00B7-ABBE-184C-A6890571E8A8}"/>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165982-9E2F-361F-3EF6-1934BBDE8FF5}"/>
              </a:ext>
            </a:extLst>
          </p:cNvPr>
          <p:cNvSpPr>
            <a:spLocks noGrp="1"/>
          </p:cNvSpPr>
          <p:nvPr>
            <p:ph type="title"/>
          </p:nvPr>
        </p:nvSpPr>
        <p:spPr/>
        <p:txBody>
          <a:bodyPr>
            <a:normAutofit fontScale="90000"/>
          </a:bodyPr>
          <a:lstStyle/>
          <a:p>
            <a:r>
              <a:rPr lang="en-US" sz="4400" dirty="0">
                <a:solidFill>
                  <a:schemeClr val="bg1"/>
                </a:solidFill>
              </a:rPr>
              <a:t>Cont. Layer 3 Security (Firewall Policies &amp; Profiles)</a:t>
            </a:r>
            <a:endParaRPr lang="en-US" sz="4200" dirty="0">
              <a:solidFill>
                <a:schemeClr val="bg1"/>
              </a:solidFill>
            </a:endParaRPr>
          </a:p>
        </p:txBody>
      </p:sp>
      <p:sp>
        <p:nvSpPr>
          <p:cNvPr id="7" name="Rectangle 2">
            <a:extLst>
              <a:ext uri="{FF2B5EF4-FFF2-40B4-BE49-F238E27FC236}">
                <a16:creationId xmlns:a16="http://schemas.microsoft.com/office/drawing/2014/main" id="{F870A953-6DBF-761A-28CD-2178E9BF7A45}"/>
              </a:ext>
            </a:extLst>
          </p:cNvPr>
          <p:cNvSpPr>
            <a:spLocks noChangeArrowheads="1"/>
          </p:cNvSpPr>
          <p:nvPr/>
        </p:nvSpPr>
        <p:spPr bwMode="auto">
          <a:xfrm>
            <a:off x="0" y="2371010"/>
            <a:ext cx="1219200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tabLst/>
            </a:pPr>
            <a:r>
              <a:rPr lang="en-US" altLang="en-US" sz="2800" b="1" dirty="0">
                <a:solidFill>
                  <a:schemeClr val="accent2"/>
                </a:solidFill>
                <a:latin typeface="Arial" panose="020B0604020202020204" pitchFamily="34" charset="0"/>
              </a:rPr>
              <a:t>Antivirus Settings:</a:t>
            </a:r>
            <a:r>
              <a:rPr kumimoji="0" lang="en-US" altLang="en-US" sz="2800" b="0" i="0" u="none" strike="noStrike" cap="none" normalizeH="0" baseline="0" dirty="0">
                <a:ln>
                  <a:noFill/>
                </a:ln>
                <a:solidFill>
                  <a:schemeClr val="accent2"/>
                </a:solidFill>
                <a:effectLst/>
                <a:latin typeface="Arial" panose="020B0604020202020204" pitchFamily="34" charset="0"/>
              </a:rPr>
              <a:t> </a:t>
            </a: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Enabled all protocols: HTTP, HTTPS, FTP, IMAP, POP3, SMTP</a:t>
            </a: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lang="en-US" altLang="en-US" sz="2800" dirty="0">
                <a:solidFill>
                  <a:schemeClr val="bg1"/>
                </a:solidFill>
                <a:latin typeface="Arial" panose="020B0604020202020204" pitchFamily="34" charset="0"/>
              </a:rPr>
              <a:t>Enabled include mobile malware protection</a:t>
            </a: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Ena</a:t>
            </a:r>
            <a:r>
              <a:rPr lang="en-US" altLang="en-US" sz="2800" dirty="0">
                <a:solidFill>
                  <a:schemeClr val="bg1"/>
                </a:solidFill>
                <a:latin typeface="Arial" panose="020B0604020202020204" pitchFamily="34" charset="0"/>
              </a:rPr>
              <a:t>bled quarantine</a:t>
            </a:r>
          </a:p>
          <a:p>
            <a:pPr eaLnBrk="0" fontAlgn="base" hangingPunct="0">
              <a:spcBef>
                <a:spcPct val="0"/>
              </a:spcBef>
              <a:spcAft>
                <a:spcPts val="600"/>
              </a:spcAft>
            </a:pPr>
            <a:r>
              <a:rPr lang="en-US" altLang="en-US" sz="2800" b="1" dirty="0">
                <a:solidFill>
                  <a:schemeClr val="accent2"/>
                </a:solidFill>
                <a:latin typeface="Arial" panose="020B0604020202020204" pitchFamily="34" charset="0"/>
              </a:rPr>
              <a:t>Application Control: </a:t>
            </a:r>
          </a:p>
          <a:p>
            <a:pPr marL="457200" indent="-457200" eaLnBrk="0" fontAlgn="base" hangingPunct="0">
              <a:spcBef>
                <a:spcPct val="0"/>
              </a:spcBef>
              <a:spcAft>
                <a:spcPts val="600"/>
              </a:spcAft>
              <a:buFont typeface="Arial" panose="020B0604020202020204" pitchFamily="34" charset="0"/>
              <a:buChar char="•"/>
            </a:pPr>
            <a:r>
              <a:rPr lang="en-US" altLang="en-US" sz="2800" dirty="0">
                <a:solidFill>
                  <a:schemeClr val="bg1"/>
                </a:solidFill>
                <a:latin typeface="Arial" panose="020B0604020202020204" pitchFamily="34" charset="0"/>
              </a:rPr>
              <a:t>Applied Allow &amp; Block Actions for specific applications per VLAN needs</a:t>
            </a:r>
          </a:p>
          <a:p>
            <a:pPr marL="457200" indent="-457200" eaLnBrk="0" fontAlgn="base" hangingPunct="0">
              <a:spcBef>
                <a:spcPct val="0"/>
              </a:spcBef>
              <a:spcAft>
                <a:spcPts val="600"/>
              </a:spcAft>
              <a:buFont typeface="Arial" panose="020B0604020202020204" pitchFamily="34" charset="0"/>
              <a:buChar char="•"/>
            </a:pPr>
            <a:r>
              <a:rPr lang="en-US" altLang="en-US" sz="2800" dirty="0">
                <a:solidFill>
                  <a:schemeClr val="bg1"/>
                </a:solidFill>
                <a:latin typeface="Arial" panose="020B0604020202020204" pitchFamily="34" charset="0"/>
              </a:rPr>
              <a:t>Added Application Filters to block unnecessary applications</a:t>
            </a:r>
          </a:p>
        </p:txBody>
      </p:sp>
    </p:spTree>
    <p:extLst>
      <p:ext uri="{BB962C8B-B14F-4D97-AF65-F5344CB8AC3E}">
        <p14:creationId xmlns:p14="http://schemas.microsoft.com/office/powerpoint/2010/main" val="3565598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537F28A2-FB62-42DA-0166-EBDD963D32E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9004D6-0AF1-3844-EAC5-74D7E43D0002}"/>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1BFD31-8F99-C7C4-7F53-88C84CBEADAE}"/>
              </a:ext>
            </a:extLst>
          </p:cNvPr>
          <p:cNvSpPr>
            <a:spLocks noGrp="1"/>
          </p:cNvSpPr>
          <p:nvPr>
            <p:ph type="title"/>
          </p:nvPr>
        </p:nvSpPr>
        <p:spPr/>
        <p:txBody>
          <a:bodyPr/>
          <a:lstStyle/>
          <a:p>
            <a:r>
              <a:rPr lang="en-US" sz="4200" dirty="0">
                <a:solidFill>
                  <a:srgbClr val="FFFFFF"/>
                </a:solidFill>
              </a:rPr>
              <a:t>SSL VPN (Remote Access)</a:t>
            </a:r>
          </a:p>
        </p:txBody>
      </p:sp>
      <p:sp>
        <p:nvSpPr>
          <p:cNvPr id="5" name="Rectangle 1">
            <a:extLst>
              <a:ext uri="{FF2B5EF4-FFF2-40B4-BE49-F238E27FC236}">
                <a16:creationId xmlns:a16="http://schemas.microsoft.com/office/drawing/2014/main" id="{BF679A62-15FC-2E65-2A40-3EF4D842CC9C}"/>
              </a:ext>
            </a:extLst>
          </p:cNvPr>
          <p:cNvSpPr>
            <a:spLocks noChangeArrowheads="1"/>
          </p:cNvSpPr>
          <p:nvPr/>
        </p:nvSpPr>
        <p:spPr bwMode="auto">
          <a:xfrm>
            <a:off x="0" y="1318506"/>
            <a:ext cx="12192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Objective:</a:t>
            </a:r>
            <a:r>
              <a:rPr kumimoji="0" lang="en-US" altLang="en-US" sz="2800" b="0" i="0" u="none" strike="noStrike" cap="none" normalizeH="0" baseline="0" dirty="0">
                <a:ln>
                  <a:noFill/>
                </a:ln>
                <a:solidFill>
                  <a:schemeClr val="accent2"/>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bg1"/>
                </a:solidFill>
                <a:effectLst/>
                <a:latin typeface="Arial" panose="020B0604020202020204" pitchFamily="34" charset="0"/>
              </a:rPr>
              <a:t>Allow secure remote access for admins to manage the network.</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Configuration Details:</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Portal Mode:</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Tunnel Mode.</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Split Tunneling:</a:t>
            </a:r>
            <a:r>
              <a:rPr kumimoji="0" lang="en-US" altLang="en-US" sz="2800" b="0" i="0" u="none" strike="noStrike" cap="none" normalizeH="0" baseline="0" dirty="0">
                <a:ln>
                  <a:noFill/>
                </a:ln>
                <a:solidFill>
                  <a:schemeClr val="accent2"/>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bg1"/>
                </a:solidFill>
                <a:effectLst/>
                <a:latin typeface="Arial" panose="020B0604020202020204" pitchFamily="34" charset="0"/>
              </a:rPr>
              <a:t>Enabled</a:t>
            </a:r>
            <a:r>
              <a:rPr kumimoji="0" lang="en-US" altLang="en-US" sz="2800" b="0" i="0" u="none" strike="noStrike" cap="none" normalizeH="0" baseline="0" dirty="0">
                <a:ln>
                  <a:noFill/>
                </a:ln>
                <a:solidFill>
                  <a:schemeClr val="bg1"/>
                </a:solidFill>
                <a:effectLst/>
                <a:latin typeface="Arial" panose="020B0604020202020204" pitchFamily="34" charset="0"/>
              </a:rPr>
              <a:t> (Traffic is restricted only to </a:t>
            </a:r>
            <a:r>
              <a:rPr kumimoji="0" lang="en-US" altLang="en-US" sz="2800" b="1" i="0" u="none" strike="noStrike" cap="none" normalizeH="0" baseline="0" dirty="0">
                <a:ln>
                  <a:noFill/>
                </a:ln>
                <a:solidFill>
                  <a:schemeClr val="bg1"/>
                </a:solidFill>
                <a:effectLst/>
                <a:latin typeface="Arial" panose="020B0604020202020204" pitchFamily="34" charset="0"/>
              </a:rPr>
              <a:t>VLAN 50 Management</a:t>
            </a:r>
            <a:r>
              <a:rPr kumimoji="0" lang="en-US" altLang="en-US" sz="2800" b="0" i="0" u="none" strike="noStrike" cap="none" normalizeH="0" baseline="0" dirty="0">
                <a:ln>
                  <a:noFill/>
                </a:ln>
                <a:solidFill>
                  <a:schemeClr val="bg1"/>
                </a:solidFill>
                <a:effectLst/>
                <a:latin typeface="Arial" panose="020B0604020202020204" pitchFamily="34" charset="0"/>
              </a:rPr>
              <a:t> subnet for security).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User Group:</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SSL_VPN_USERS</a:t>
            </a:r>
            <a:r>
              <a:rPr kumimoji="0" lang="en-US" altLang="en-US" sz="2800" b="0" i="0" u="none" strike="noStrike" cap="none" normalizeH="0" baseline="0" dirty="0">
                <a:ln>
                  <a:noFill/>
                </a:ln>
                <a:solidFill>
                  <a:schemeClr val="bg1"/>
                </a:solidFill>
                <a:effectLst/>
              </a:rPr>
              <a:t>.</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Custom Port:</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10443</a:t>
            </a:r>
            <a:r>
              <a:rPr kumimoji="0" lang="en-US" altLang="en-US" sz="2800" b="0" i="0" u="none" strike="noStrike" cap="none" normalizeH="0" baseline="0" dirty="0">
                <a:ln>
                  <a:noFill/>
                </a:ln>
                <a:solidFill>
                  <a:schemeClr val="bg1"/>
                </a:solidFill>
                <a:effectLst/>
              </a:rPr>
              <a:t> (Configured to avoid conflicts with standard HTTPS services)</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Access Policy:</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Firewall policy allows traffic from </a:t>
            </a:r>
            <a:r>
              <a:rPr kumimoji="0" lang="en-US" altLang="en-US" sz="2800" b="0" i="0" u="none" strike="noStrike" cap="none" normalizeH="0" baseline="0" dirty="0" err="1">
                <a:ln>
                  <a:noFill/>
                </a:ln>
                <a:solidFill>
                  <a:schemeClr val="bg1"/>
                </a:solidFill>
                <a:effectLst/>
                <a:latin typeface="Arial Unicode MS" panose="020B0604020202020204" pitchFamily="34" charset="-128"/>
              </a:rPr>
              <a:t>ssl.root</a:t>
            </a:r>
            <a:r>
              <a:rPr kumimoji="0" lang="en-US" altLang="en-US" sz="2800" b="0" i="0" u="none" strike="noStrike" cap="none" normalizeH="0" baseline="0" dirty="0">
                <a:ln>
                  <a:noFill/>
                </a:ln>
                <a:solidFill>
                  <a:schemeClr val="bg1"/>
                </a:solidFill>
                <a:effectLst/>
              </a:rPr>
              <a:t> interface to </a:t>
            </a:r>
            <a:r>
              <a:rPr kumimoji="0" lang="en-US" altLang="en-US" sz="2800" b="0" i="0" u="none" strike="noStrike" cap="none" normalizeH="0" baseline="0" dirty="0">
                <a:ln>
                  <a:noFill/>
                </a:ln>
                <a:solidFill>
                  <a:schemeClr val="bg1"/>
                </a:solidFill>
                <a:effectLst/>
                <a:latin typeface="Arial Unicode MS" panose="020B0604020202020204" pitchFamily="34" charset="-128"/>
              </a:rPr>
              <a:t>VLAN 50</a:t>
            </a:r>
            <a:r>
              <a:rPr kumimoji="0" lang="en-US" altLang="en-US" sz="2800" b="0" i="0" u="none" strike="noStrike" cap="none" normalizeH="0" baseline="0" dirty="0">
                <a:ln>
                  <a:noFill/>
                </a:ln>
                <a:solidFill>
                  <a:schemeClr val="bg1"/>
                </a:solidFill>
                <a:effectLst/>
              </a:rPr>
              <a:t> only</a:t>
            </a:r>
            <a:r>
              <a:rPr kumimoji="0" lang="en-US" altLang="en-US" sz="2800" b="0" i="0" u="none" strike="noStrike" cap="none" normalizeH="0" baseline="0" dirty="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1387985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5223836C-F8D3-105D-45DF-A8920550743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76A0BE6-858A-D71A-D1E0-C6DE532CA479}"/>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643DFC-659B-911C-EEF6-79DFE4649C63}"/>
              </a:ext>
            </a:extLst>
          </p:cNvPr>
          <p:cNvSpPr>
            <a:spLocks noGrp="1"/>
          </p:cNvSpPr>
          <p:nvPr>
            <p:ph type="title"/>
          </p:nvPr>
        </p:nvSpPr>
        <p:spPr/>
        <p:txBody>
          <a:bodyPr/>
          <a:lstStyle/>
          <a:p>
            <a:r>
              <a:rPr lang="en-US" sz="4200" dirty="0">
                <a:solidFill>
                  <a:srgbClr val="FFFFFF"/>
                </a:solidFill>
              </a:rPr>
              <a:t>IPsec VPN (Site-to-Site)</a:t>
            </a:r>
          </a:p>
        </p:txBody>
      </p:sp>
      <p:sp>
        <p:nvSpPr>
          <p:cNvPr id="6" name="TextBox 5">
            <a:extLst>
              <a:ext uri="{FF2B5EF4-FFF2-40B4-BE49-F238E27FC236}">
                <a16:creationId xmlns:a16="http://schemas.microsoft.com/office/drawing/2014/main" id="{6E5D4037-E0A8-63E4-1CAA-ECAFBA4142D1}"/>
              </a:ext>
            </a:extLst>
          </p:cNvPr>
          <p:cNvSpPr txBox="1"/>
          <p:nvPr/>
        </p:nvSpPr>
        <p:spPr>
          <a:xfrm>
            <a:off x="0" y="1558744"/>
            <a:ext cx="12192000" cy="1870256"/>
          </a:xfrm>
          <a:prstGeom prst="rect">
            <a:avLst/>
          </a:prstGeom>
          <a:noFill/>
        </p:spPr>
        <p:txBody>
          <a:bodyPr wrap="square">
            <a:spAutoFit/>
          </a:bodyPr>
          <a:lstStyle/>
          <a:p>
            <a:pPr algn="l">
              <a:lnSpc>
                <a:spcPts val="3499"/>
              </a:lnSpc>
              <a:spcBef>
                <a:spcPct val="0"/>
              </a:spcBef>
            </a:pPr>
            <a:r>
              <a:rPr lang="en-US" sz="2800" dirty="0">
                <a:solidFill>
                  <a:schemeClr val="accent2"/>
                </a:solidFill>
                <a:latin typeface="Inter"/>
                <a:ea typeface="Inter"/>
                <a:cs typeface="Inter"/>
                <a:sym typeface="Inter"/>
              </a:rPr>
              <a:t>I</a:t>
            </a:r>
            <a:r>
              <a:rPr lang="en-US" sz="2800" b="1" dirty="0">
                <a:solidFill>
                  <a:schemeClr val="accent2"/>
                </a:solidFill>
                <a:latin typeface="Inter Bold"/>
                <a:ea typeface="Inter Bold"/>
                <a:cs typeface="Inter Bold"/>
                <a:sym typeface="Inter Bold"/>
              </a:rPr>
              <a:t>Psec (Internet Protocol Security)</a:t>
            </a:r>
            <a:endParaRPr lang="en-US" sz="2800" b="1" dirty="0">
              <a:solidFill>
                <a:schemeClr val="accent2"/>
              </a:solidFill>
              <a:latin typeface="Inter"/>
              <a:ea typeface="Inter Bold"/>
              <a:cs typeface="Inter Bold"/>
              <a:sym typeface="Inter"/>
            </a:endParaRPr>
          </a:p>
          <a:p>
            <a:pPr algn="l">
              <a:lnSpc>
                <a:spcPts val="3499"/>
              </a:lnSpc>
              <a:spcBef>
                <a:spcPct val="0"/>
              </a:spcBef>
            </a:pPr>
            <a:r>
              <a:rPr lang="en-US" sz="2800" dirty="0">
                <a:solidFill>
                  <a:schemeClr val="bg1"/>
                </a:solidFill>
                <a:latin typeface="Inter"/>
                <a:ea typeface="Inter"/>
                <a:cs typeface="Inter"/>
                <a:sym typeface="Inter"/>
              </a:rPr>
              <a:t>Is a set of protocols (IKE, ESP, AH) used to make two remote sites ( two LAN networks) communicate as if they are on the same local network over the internet by creating an encrypted tunnel between them. </a:t>
            </a:r>
          </a:p>
        </p:txBody>
      </p:sp>
      <p:sp>
        <p:nvSpPr>
          <p:cNvPr id="7" name="TextBox 8">
            <a:extLst>
              <a:ext uri="{FF2B5EF4-FFF2-40B4-BE49-F238E27FC236}">
                <a16:creationId xmlns:a16="http://schemas.microsoft.com/office/drawing/2014/main" id="{7074914E-D3EA-71EE-C5D4-B97AAA5C3664}"/>
              </a:ext>
            </a:extLst>
          </p:cNvPr>
          <p:cNvSpPr txBox="1"/>
          <p:nvPr/>
        </p:nvSpPr>
        <p:spPr>
          <a:xfrm>
            <a:off x="0" y="3888158"/>
            <a:ext cx="12192001" cy="2216569"/>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3499"/>
              </a:lnSpc>
              <a:spcBef>
                <a:spcPct val="0"/>
              </a:spcBef>
            </a:pPr>
            <a:r>
              <a:rPr lang="en-US" sz="2800" b="1" dirty="0">
                <a:solidFill>
                  <a:schemeClr val="accent2"/>
                </a:solidFill>
                <a:latin typeface="Inter Bold"/>
                <a:ea typeface="Inter Bold"/>
                <a:cs typeface="Inter Bold"/>
                <a:sym typeface="Inter Bold"/>
              </a:rPr>
              <a:t>Why use IPsec?</a:t>
            </a:r>
          </a:p>
          <a:p>
            <a:pPr marL="342900" indent="-342900" algn="l">
              <a:lnSpc>
                <a:spcPts val="3499"/>
              </a:lnSpc>
              <a:spcBef>
                <a:spcPct val="0"/>
              </a:spcBef>
              <a:buFont typeface="Arial" panose="020B0604020202020204" pitchFamily="34" charset="0"/>
              <a:buChar char="•"/>
            </a:pPr>
            <a:r>
              <a:rPr lang="en-US" sz="2800" dirty="0">
                <a:solidFill>
                  <a:schemeClr val="bg1"/>
                </a:solidFill>
                <a:latin typeface="Inter"/>
                <a:ea typeface="Inter"/>
                <a:cs typeface="Inter"/>
                <a:sym typeface="Inter"/>
              </a:rPr>
              <a:t>Connect company branches together (Site-to-Site)</a:t>
            </a:r>
          </a:p>
          <a:p>
            <a:pPr marL="342900" indent="-342900" algn="l">
              <a:lnSpc>
                <a:spcPts val="3499"/>
              </a:lnSpc>
              <a:spcBef>
                <a:spcPct val="0"/>
              </a:spcBef>
              <a:buFont typeface="Arial" panose="020B0604020202020204" pitchFamily="34" charset="0"/>
              <a:buChar char="•"/>
            </a:pPr>
            <a:r>
              <a:rPr lang="en-US" sz="2800" dirty="0">
                <a:solidFill>
                  <a:schemeClr val="bg1"/>
                </a:solidFill>
                <a:latin typeface="Inter"/>
                <a:ea typeface="Inter"/>
                <a:cs typeface="Inter"/>
                <a:sym typeface="Inter"/>
              </a:rPr>
              <a:t>Allow remote users to securely access the corporate network (Remote Access)</a:t>
            </a:r>
          </a:p>
          <a:p>
            <a:pPr marL="342900" indent="-342900" algn="l">
              <a:lnSpc>
                <a:spcPts val="3499"/>
              </a:lnSpc>
              <a:spcBef>
                <a:spcPct val="0"/>
              </a:spcBef>
              <a:buFont typeface="Arial" panose="020B0604020202020204" pitchFamily="34" charset="0"/>
              <a:buChar char="•"/>
            </a:pPr>
            <a:r>
              <a:rPr lang="en-US" sz="2800" dirty="0">
                <a:solidFill>
                  <a:schemeClr val="bg1"/>
                </a:solidFill>
                <a:latin typeface="Inter"/>
                <a:ea typeface="Inter"/>
                <a:cs typeface="Inter"/>
                <a:sym typeface="Inter"/>
              </a:rPr>
              <a:t>Protect sensitive data in transit, such as financial or medical information</a:t>
            </a:r>
          </a:p>
          <a:p>
            <a:pPr marL="342900" indent="-342900" algn="l">
              <a:lnSpc>
                <a:spcPts val="3499"/>
              </a:lnSpc>
              <a:spcBef>
                <a:spcPct val="0"/>
              </a:spcBef>
              <a:buFont typeface="Arial" panose="020B0604020202020204" pitchFamily="34" charset="0"/>
              <a:buChar char="•"/>
            </a:pPr>
            <a:r>
              <a:rPr lang="en-US" sz="2800" dirty="0">
                <a:solidFill>
                  <a:schemeClr val="bg1"/>
                </a:solidFill>
                <a:latin typeface="Inter"/>
                <a:ea typeface="Inter"/>
                <a:cs typeface="Inter"/>
                <a:sym typeface="Inter"/>
              </a:rPr>
              <a:t>Secure traffic traveling over the public Internet</a:t>
            </a:r>
          </a:p>
        </p:txBody>
      </p:sp>
    </p:spTree>
    <p:extLst>
      <p:ext uri="{BB962C8B-B14F-4D97-AF65-F5344CB8AC3E}">
        <p14:creationId xmlns:p14="http://schemas.microsoft.com/office/powerpoint/2010/main" val="1298362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7B3D033A-CD74-2330-2D2C-0B9D07282E8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C1A29A9-ED18-8BEC-9E8A-000CF35E8EC9}"/>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Freeform 4">
            <a:extLst>
              <a:ext uri="{FF2B5EF4-FFF2-40B4-BE49-F238E27FC236}">
                <a16:creationId xmlns:a16="http://schemas.microsoft.com/office/drawing/2014/main" id="{AACA52A2-1A48-A2E9-53F5-532B082C22F3}"/>
              </a:ext>
            </a:extLst>
          </p:cNvPr>
          <p:cNvSpPr/>
          <p:nvPr/>
        </p:nvSpPr>
        <p:spPr>
          <a:xfrm>
            <a:off x="241921" y="3698956"/>
            <a:ext cx="3920855" cy="2727507"/>
          </a:xfrm>
          <a:custGeom>
            <a:avLst/>
            <a:gdLst/>
            <a:ahLst/>
            <a:cxnLst/>
            <a:rect l="l" t="t" r="r" b="b"/>
            <a:pathLst>
              <a:path w="6577725" h="2727507">
                <a:moveTo>
                  <a:pt x="0" y="0"/>
                </a:moveTo>
                <a:lnTo>
                  <a:pt x="6577725" y="0"/>
                </a:lnTo>
                <a:lnTo>
                  <a:pt x="6577725" y="2727507"/>
                </a:lnTo>
                <a:lnTo>
                  <a:pt x="0" y="2727507"/>
                </a:lnTo>
                <a:lnTo>
                  <a:pt x="0" y="0"/>
                </a:lnTo>
                <a:close/>
              </a:path>
            </a:pathLst>
          </a:custGeom>
          <a:blipFill>
            <a:blip r:embed="rId4"/>
            <a:stretch>
              <a:fillRect l="-9224" t="-11122" r="-13346" b="-18200"/>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1"/>
              </a:solidFill>
            </a:endParaRPr>
          </a:p>
        </p:txBody>
      </p:sp>
      <p:sp>
        <p:nvSpPr>
          <p:cNvPr id="9" name="TextBox 8">
            <a:extLst>
              <a:ext uri="{FF2B5EF4-FFF2-40B4-BE49-F238E27FC236}">
                <a16:creationId xmlns:a16="http://schemas.microsoft.com/office/drawing/2014/main" id="{0B0F9D90-A83A-FA0F-C8F3-AEB51B66D32D}"/>
              </a:ext>
            </a:extLst>
          </p:cNvPr>
          <p:cNvSpPr txBox="1"/>
          <p:nvPr/>
        </p:nvSpPr>
        <p:spPr>
          <a:xfrm>
            <a:off x="3477986" y="52859"/>
            <a:ext cx="4927037" cy="100584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8959"/>
              </a:lnSpc>
            </a:pPr>
            <a:r>
              <a:rPr lang="en-US" sz="3200" b="1" dirty="0">
                <a:solidFill>
                  <a:schemeClr val="bg1"/>
                </a:solidFill>
                <a:latin typeface="Open Sauce Bold"/>
                <a:ea typeface="Open Sauce Bold"/>
                <a:cs typeface="Open Sauce Bold"/>
                <a:sym typeface="Open Sauce Bold"/>
              </a:rPr>
              <a:t>IPSEC VPN Types </a:t>
            </a:r>
          </a:p>
        </p:txBody>
      </p:sp>
      <p:sp>
        <p:nvSpPr>
          <p:cNvPr id="10" name="Freeform 9">
            <a:extLst>
              <a:ext uri="{FF2B5EF4-FFF2-40B4-BE49-F238E27FC236}">
                <a16:creationId xmlns:a16="http://schemas.microsoft.com/office/drawing/2014/main" id="{3CC6BA50-52EA-8EAF-BB2D-D44036FDA508}"/>
              </a:ext>
            </a:extLst>
          </p:cNvPr>
          <p:cNvSpPr/>
          <p:nvPr/>
        </p:nvSpPr>
        <p:spPr>
          <a:xfrm>
            <a:off x="4404697" y="3562878"/>
            <a:ext cx="3818429" cy="3070605"/>
          </a:xfrm>
          <a:custGeom>
            <a:avLst/>
            <a:gdLst/>
            <a:ahLst/>
            <a:cxnLst/>
            <a:rect l="l" t="t" r="r" b="b"/>
            <a:pathLst>
              <a:path w="5269545" h="3070605">
                <a:moveTo>
                  <a:pt x="0" y="0"/>
                </a:moveTo>
                <a:lnTo>
                  <a:pt x="5269546" y="0"/>
                </a:lnTo>
                <a:lnTo>
                  <a:pt x="5269546" y="3070605"/>
                </a:lnTo>
                <a:lnTo>
                  <a:pt x="0" y="3070605"/>
                </a:lnTo>
                <a:lnTo>
                  <a:pt x="0" y="0"/>
                </a:lnTo>
                <a:close/>
              </a:path>
            </a:pathLst>
          </a:custGeom>
          <a:blipFill>
            <a:blip r:embed="rId5"/>
            <a:stretch>
              <a:fillRect r="-5450"/>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1"/>
              </a:solidFill>
            </a:endParaRPr>
          </a:p>
        </p:txBody>
      </p:sp>
      <p:grpSp>
        <p:nvGrpSpPr>
          <p:cNvPr id="11" name="Group 10">
            <a:extLst>
              <a:ext uri="{FF2B5EF4-FFF2-40B4-BE49-F238E27FC236}">
                <a16:creationId xmlns:a16="http://schemas.microsoft.com/office/drawing/2014/main" id="{1360AFE2-5B83-5EEA-8DA8-678B31331F33}"/>
              </a:ext>
            </a:extLst>
          </p:cNvPr>
          <p:cNvGrpSpPr/>
          <p:nvPr/>
        </p:nvGrpSpPr>
        <p:grpSpPr>
          <a:xfrm>
            <a:off x="4863171" y="1765697"/>
            <a:ext cx="2803896" cy="1482253"/>
            <a:chOff x="0" y="-241101"/>
            <a:chExt cx="6271849" cy="1976337"/>
          </a:xfrm>
        </p:grpSpPr>
        <p:grpSp>
          <p:nvGrpSpPr>
            <p:cNvPr id="23" name="Group 22">
              <a:extLst>
                <a:ext uri="{FF2B5EF4-FFF2-40B4-BE49-F238E27FC236}">
                  <a16:creationId xmlns:a16="http://schemas.microsoft.com/office/drawing/2014/main" id="{D4615C65-10D8-B850-10D4-A4841438AAE9}"/>
                </a:ext>
              </a:extLst>
            </p:cNvPr>
            <p:cNvGrpSpPr/>
            <p:nvPr/>
          </p:nvGrpSpPr>
          <p:grpSpPr>
            <a:xfrm>
              <a:off x="0" y="-241101"/>
              <a:ext cx="6271849" cy="1976337"/>
              <a:chOff x="0" y="-47625"/>
              <a:chExt cx="1238884" cy="390388"/>
            </a:xfrm>
          </p:grpSpPr>
          <p:sp>
            <p:nvSpPr>
              <p:cNvPr id="25" name="Freeform 12">
                <a:extLst>
                  <a:ext uri="{FF2B5EF4-FFF2-40B4-BE49-F238E27FC236}">
                    <a16:creationId xmlns:a16="http://schemas.microsoft.com/office/drawing/2014/main" id="{FC99DE03-2C83-EF65-899C-0DC4769DF816}"/>
                  </a:ext>
                </a:extLst>
              </p:cNvPr>
              <p:cNvSpPr/>
              <p:nvPr/>
            </p:nvSpPr>
            <p:spPr>
              <a:xfrm>
                <a:off x="0" y="0"/>
                <a:ext cx="1238884" cy="342763"/>
              </a:xfrm>
              <a:custGeom>
                <a:avLst/>
                <a:gdLst/>
                <a:ahLst/>
                <a:cxnLst/>
                <a:rect l="l" t="t" r="r" b="b"/>
                <a:pathLst>
                  <a:path w="1238884" h="342763">
                    <a:moveTo>
                      <a:pt x="82293" y="0"/>
                    </a:moveTo>
                    <a:lnTo>
                      <a:pt x="1156591" y="0"/>
                    </a:lnTo>
                    <a:cubicBezTo>
                      <a:pt x="1202040" y="0"/>
                      <a:pt x="1238884" y="36844"/>
                      <a:pt x="1238884" y="82293"/>
                    </a:cubicBezTo>
                    <a:lnTo>
                      <a:pt x="1238884" y="260470"/>
                    </a:lnTo>
                    <a:cubicBezTo>
                      <a:pt x="1238884" y="305919"/>
                      <a:pt x="1202040" y="342763"/>
                      <a:pt x="1156591" y="342763"/>
                    </a:cubicBezTo>
                    <a:lnTo>
                      <a:pt x="82293" y="342763"/>
                    </a:lnTo>
                    <a:cubicBezTo>
                      <a:pt x="36844" y="342763"/>
                      <a:pt x="0" y="305919"/>
                      <a:pt x="0" y="260470"/>
                    </a:cubicBezTo>
                    <a:lnTo>
                      <a:pt x="0" y="82293"/>
                    </a:lnTo>
                    <a:cubicBezTo>
                      <a:pt x="0" y="36844"/>
                      <a:pt x="36844" y="0"/>
                      <a:pt x="82293" y="0"/>
                    </a:cubicBezTo>
                    <a:close/>
                  </a:path>
                </a:pathLst>
              </a:custGeom>
              <a:solidFill>
                <a:srgbClr val="000000">
                  <a:alpha val="0"/>
                </a:srgbClr>
              </a:solidFill>
              <a:ln w="38100" cap="rnd">
                <a:solidFill>
                  <a:schemeClr val="bg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1"/>
                  </a:solidFill>
                </a:endParaRPr>
              </a:p>
            </p:txBody>
          </p:sp>
          <p:sp>
            <p:nvSpPr>
              <p:cNvPr id="26" name="TextBox 13">
                <a:extLst>
                  <a:ext uri="{FF2B5EF4-FFF2-40B4-BE49-F238E27FC236}">
                    <a16:creationId xmlns:a16="http://schemas.microsoft.com/office/drawing/2014/main" id="{43DC9721-BD9E-B387-0440-AC85CDDAAE00}"/>
                  </a:ext>
                </a:extLst>
              </p:cNvPr>
              <p:cNvSpPr txBox="1"/>
              <p:nvPr/>
            </p:nvSpPr>
            <p:spPr>
              <a:xfrm>
                <a:off x="0" y="-47625"/>
                <a:ext cx="1238884" cy="39038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940"/>
                  </a:lnSpc>
                </a:pPr>
                <a:endParaRPr>
                  <a:solidFill>
                    <a:schemeClr val="bg1"/>
                  </a:solidFill>
                </a:endParaRPr>
              </a:p>
            </p:txBody>
          </p:sp>
        </p:grpSp>
        <p:sp>
          <p:nvSpPr>
            <p:cNvPr id="24" name="TextBox 14">
              <a:extLst>
                <a:ext uri="{FF2B5EF4-FFF2-40B4-BE49-F238E27FC236}">
                  <a16:creationId xmlns:a16="http://schemas.microsoft.com/office/drawing/2014/main" id="{A70B1D33-E7F3-2848-02C2-C4C88BD90FB3}"/>
                </a:ext>
              </a:extLst>
            </p:cNvPr>
            <p:cNvSpPr txBox="1"/>
            <p:nvPr/>
          </p:nvSpPr>
          <p:spPr>
            <a:xfrm>
              <a:off x="248836" y="601341"/>
              <a:ext cx="5774177" cy="4944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79"/>
                </a:lnSpc>
                <a:spcBef>
                  <a:spcPct val="0"/>
                </a:spcBef>
              </a:pPr>
              <a:r>
                <a:rPr lang="en-US" b="1">
                  <a:solidFill>
                    <a:schemeClr val="bg1"/>
                  </a:solidFill>
                  <a:latin typeface="Inter Medium"/>
                  <a:ea typeface="Inter Medium"/>
                  <a:cs typeface="Inter Medium"/>
                  <a:sym typeface="Inter Medium"/>
                </a:rPr>
                <a:t>Dial-Up / Dynamic VPN</a:t>
              </a:r>
            </a:p>
          </p:txBody>
        </p:sp>
      </p:grpSp>
      <p:grpSp>
        <p:nvGrpSpPr>
          <p:cNvPr id="12" name="Group 11">
            <a:extLst>
              <a:ext uri="{FF2B5EF4-FFF2-40B4-BE49-F238E27FC236}">
                <a16:creationId xmlns:a16="http://schemas.microsoft.com/office/drawing/2014/main" id="{A3621341-4410-EDED-BA0A-C4C0625A8A52}"/>
              </a:ext>
            </a:extLst>
          </p:cNvPr>
          <p:cNvGrpSpPr/>
          <p:nvPr/>
        </p:nvGrpSpPr>
        <p:grpSpPr>
          <a:xfrm>
            <a:off x="8811615" y="1746814"/>
            <a:ext cx="2803896" cy="1482253"/>
            <a:chOff x="0" y="-241101"/>
            <a:chExt cx="6271849" cy="1976337"/>
          </a:xfrm>
        </p:grpSpPr>
        <p:grpSp>
          <p:nvGrpSpPr>
            <p:cNvPr id="19" name="Group 18">
              <a:extLst>
                <a:ext uri="{FF2B5EF4-FFF2-40B4-BE49-F238E27FC236}">
                  <a16:creationId xmlns:a16="http://schemas.microsoft.com/office/drawing/2014/main" id="{9FF1AB21-4964-E6BC-E2F1-9C9372474743}"/>
                </a:ext>
              </a:extLst>
            </p:cNvPr>
            <p:cNvGrpSpPr/>
            <p:nvPr/>
          </p:nvGrpSpPr>
          <p:grpSpPr>
            <a:xfrm>
              <a:off x="0" y="-241101"/>
              <a:ext cx="6271849" cy="1976337"/>
              <a:chOff x="0" y="-47625"/>
              <a:chExt cx="1238884" cy="390388"/>
            </a:xfrm>
          </p:grpSpPr>
          <p:sp>
            <p:nvSpPr>
              <p:cNvPr id="21" name="Freeform 17">
                <a:extLst>
                  <a:ext uri="{FF2B5EF4-FFF2-40B4-BE49-F238E27FC236}">
                    <a16:creationId xmlns:a16="http://schemas.microsoft.com/office/drawing/2014/main" id="{C64AC8D5-BFDD-050F-FA91-D680EE43734A}"/>
                  </a:ext>
                </a:extLst>
              </p:cNvPr>
              <p:cNvSpPr/>
              <p:nvPr/>
            </p:nvSpPr>
            <p:spPr>
              <a:xfrm>
                <a:off x="0" y="0"/>
                <a:ext cx="1238884" cy="342763"/>
              </a:xfrm>
              <a:custGeom>
                <a:avLst/>
                <a:gdLst/>
                <a:ahLst/>
                <a:cxnLst/>
                <a:rect l="l" t="t" r="r" b="b"/>
                <a:pathLst>
                  <a:path w="1238884" h="342763">
                    <a:moveTo>
                      <a:pt x="82293" y="0"/>
                    </a:moveTo>
                    <a:lnTo>
                      <a:pt x="1156591" y="0"/>
                    </a:lnTo>
                    <a:cubicBezTo>
                      <a:pt x="1202040" y="0"/>
                      <a:pt x="1238884" y="36844"/>
                      <a:pt x="1238884" y="82293"/>
                    </a:cubicBezTo>
                    <a:lnTo>
                      <a:pt x="1238884" y="260470"/>
                    </a:lnTo>
                    <a:cubicBezTo>
                      <a:pt x="1238884" y="305919"/>
                      <a:pt x="1202040" y="342763"/>
                      <a:pt x="1156591" y="342763"/>
                    </a:cubicBezTo>
                    <a:lnTo>
                      <a:pt x="82293" y="342763"/>
                    </a:lnTo>
                    <a:cubicBezTo>
                      <a:pt x="36844" y="342763"/>
                      <a:pt x="0" y="305919"/>
                      <a:pt x="0" y="260470"/>
                    </a:cubicBezTo>
                    <a:lnTo>
                      <a:pt x="0" y="82293"/>
                    </a:lnTo>
                    <a:cubicBezTo>
                      <a:pt x="0" y="36844"/>
                      <a:pt x="36844" y="0"/>
                      <a:pt x="82293" y="0"/>
                    </a:cubicBezTo>
                    <a:close/>
                  </a:path>
                </a:pathLst>
              </a:custGeom>
              <a:solidFill>
                <a:srgbClr val="000000">
                  <a:alpha val="0"/>
                </a:srgbClr>
              </a:solidFill>
              <a:ln w="38100" cap="rnd">
                <a:solidFill>
                  <a:schemeClr val="bg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bg1"/>
                  </a:solidFill>
                </a:endParaRPr>
              </a:p>
            </p:txBody>
          </p:sp>
          <p:sp>
            <p:nvSpPr>
              <p:cNvPr id="22" name="TextBox 18">
                <a:extLst>
                  <a:ext uri="{FF2B5EF4-FFF2-40B4-BE49-F238E27FC236}">
                    <a16:creationId xmlns:a16="http://schemas.microsoft.com/office/drawing/2014/main" id="{72213D8D-4417-C072-3C44-AD4EF1A0373D}"/>
                  </a:ext>
                </a:extLst>
              </p:cNvPr>
              <p:cNvSpPr txBox="1"/>
              <p:nvPr/>
            </p:nvSpPr>
            <p:spPr>
              <a:xfrm>
                <a:off x="0" y="-47625"/>
                <a:ext cx="1238884" cy="39038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940"/>
                  </a:lnSpc>
                </a:pPr>
                <a:endParaRPr>
                  <a:solidFill>
                    <a:schemeClr val="bg1"/>
                  </a:solidFill>
                </a:endParaRPr>
              </a:p>
            </p:txBody>
          </p:sp>
        </p:grpSp>
        <p:sp>
          <p:nvSpPr>
            <p:cNvPr id="20" name="TextBox 19">
              <a:extLst>
                <a:ext uri="{FF2B5EF4-FFF2-40B4-BE49-F238E27FC236}">
                  <a16:creationId xmlns:a16="http://schemas.microsoft.com/office/drawing/2014/main" id="{849CC3E0-A169-81CE-DAD3-AD3663190914}"/>
                </a:ext>
              </a:extLst>
            </p:cNvPr>
            <p:cNvSpPr txBox="1"/>
            <p:nvPr/>
          </p:nvSpPr>
          <p:spPr>
            <a:xfrm>
              <a:off x="248836" y="601341"/>
              <a:ext cx="5774177" cy="4944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79"/>
                </a:lnSpc>
                <a:spcBef>
                  <a:spcPct val="0"/>
                </a:spcBef>
              </a:pPr>
              <a:r>
                <a:rPr lang="en-US" b="1">
                  <a:solidFill>
                    <a:schemeClr val="bg1"/>
                  </a:solidFill>
                  <a:latin typeface="Inter Medium"/>
                  <a:ea typeface="Inter Medium"/>
                  <a:cs typeface="Inter Medium"/>
                  <a:sym typeface="Inter Medium"/>
                </a:rPr>
                <a:t>Remote-Access IPsec VPN</a:t>
              </a:r>
            </a:p>
          </p:txBody>
        </p:sp>
      </p:grpSp>
      <p:grpSp>
        <p:nvGrpSpPr>
          <p:cNvPr id="13" name="Group 12">
            <a:extLst>
              <a:ext uri="{FF2B5EF4-FFF2-40B4-BE49-F238E27FC236}">
                <a16:creationId xmlns:a16="http://schemas.microsoft.com/office/drawing/2014/main" id="{ACC1EFA4-252A-D4F7-B61B-1EE3D1E24A37}"/>
              </a:ext>
            </a:extLst>
          </p:cNvPr>
          <p:cNvGrpSpPr/>
          <p:nvPr/>
        </p:nvGrpSpPr>
        <p:grpSpPr>
          <a:xfrm>
            <a:off x="465244" y="1765697"/>
            <a:ext cx="2803896" cy="1482253"/>
            <a:chOff x="0" y="-241101"/>
            <a:chExt cx="6271849" cy="1976337"/>
          </a:xfrm>
        </p:grpSpPr>
        <p:grpSp>
          <p:nvGrpSpPr>
            <p:cNvPr id="15" name="Group 14">
              <a:extLst>
                <a:ext uri="{FF2B5EF4-FFF2-40B4-BE49-F238E27FC236}">
                  <a16:creationId xmlns:a16="http://schemas.microsoft.com/office/drawing/2014/main" id="{6FAD20F2-DDB0-BC90-C525-A6CB271D03D9}"/>
                </a:ext>
              </a:extLst>
            </p:cNvPr>
            <p:cNvGrpSpPr/>
            <p:nvPr/>
          </p:nvGrpSpPr>
          <p:grpSpPr>
            <a:xfrm>
              <a:off x="0" y="-241101"/>
              <a:ext cx="6271849" cy="1976337"/>
              <a:chOff x="0" y="-47625"/>
              <a:chExt cx="1238884" cy="390388"/>
            </a:xfrm>
          </p:grpSpPr>
          <p:sp>
            <p:nvSpPr>
              <p:cNvPr id="17" name="Freeform 22">
                <a:extLst>
                  <a:ext uri="{FF2B5EF4-FFF2-40B4-BE49-F238E27FC236}">
                    <a16:creationId xmlns:a16="http://schemas.microsoft.com/office/drawing/2014/main" id="{F60646CD-9C17-3C5A-7DFE-ACFF3E7A5991}"/>
                  </a:ext>
                </a:extLst>
              </p:cNvPr>
              <p:cNvSpPr/>
              <p:nvPr/>
            </p:nvSpPr>
            <p:spPr>
              <a:xfrm>
                <a:off x="0" y="0"/>
                <a:ext cx="1238884" cy="342763"/>
              </a:xfrm>
              <a:custGeom>
                <a:avLst/>
                <a:gdLst/>
                <a:ahLst/>
                <a:cxnLst/>
                <a:rect l="l" t="t" r="r" b="b"/>
                <a:pathLst>
                  <a:path w="1238884" h="342763">
                    <a:moveTo>
                      <a:pt x="82293" y="0"/>
                    </a:moveTo>
                    <a:lnTo>
                      <a:pt x="1156591" y="0"/>
                    </a:lnTo>
                    <a:cubicBezTo>
                      <a:pt x="1202040" y="0"/>
                      <a:pt x="1238884" y="36844"/>
                      <a:pt x="1238884" y="82293"/>
                    </a:cubicBezTo>
                    <a:lnTo>
                      <a:pt x="1238884" y="260470"/>
                    </a:lnTo>
                    <a:cubicBezTo>
                      <a:pt x="1238884" y="305919"/>
                      <a:pt x="1202040" y="342763"/>
                      <a:pt x="1156591" y="342763"/>
                    </a:cubicBezTo>
                    <a:lnTo>
                      <a:pt x="82293" y="342763"/>
                    </a:lnTo>
                    <a:cubicBezTo>
                      <a:pt x="36844" y="342763"/>
                      <a:pt x="0" y="305919"/>
                      <a:pt x="0" y="260470"/>
                    </a:cubicBezTo>
                    <a:lnTo>
                      <a:pt x="0" y="82293"/>
                    </a:lnTo>
                    <a:cubicBezTo>
                      <a:pt x="0" y="36844"/>
                      <a:pt x="36844" y="0"/>
                      <a:pt x="82293" y="0"/>
                    </a:cubicBezTo>
                    <a:close/>
                  </a:path>
                </a:pathLst>
              </a:custGeom>
              <a:solidFill>
                <a:srgbClr val="000000">
                  <a:alpha val="0"/>
                </a:srgbClr>
              </a:solidFill>
              <a:ln w="38100" cap="rnd">
                <a:solidFill>
                  <a:schemeClr val="bg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1"/>
                  </a:solidFill>
                </a:endParaRPr>
              </a:p>
            </p:txBody>
          </p:sp>
          <p:sp>
            <p:nvSpPr>
              <p:cNvPr id="18" name="TextBox 23">
                <a:extLst>
                  <a:ext uri="{FF2B5EF4-FFF2-40B4-BE49-F238E27FC236}">
                    <a16:creationId xmlns:a16="http://schemas.microsoft.com/office/drawing/2014/main" id="{4F018E70-E262-B3C0-A453-EC8AE07F1FC5}"/>
                  </a:ext>
                </a:extLst>
              </p:cNvPr>
              <p:cNvSpPr txBox="1"/>
              <p:nvPr/>
            </p:nvSpPr>
            <p:spPr>
              <a:xfrm>
                <a:off x="0" y="-47625"/>
                <a:ext cx="1238884" cy="39038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940"/>
                  </a:lnSpc>
                </a:pPr>
                <a:endParaRPr>
                  <a:solidFill>
                    <a:schemeClr val="bg1"/>
                  </a:solidFill>
                </a:endParaRPr>
              </a:p>
            </p:txBody>
          </p:sp>
        </p:grpSp>
        <p:sp>
          <p:nvSpPr>
            <p:cNvPr id="16" name="TextBox 24">
              <a:extLst>
                <a:ext uri="{FF2B5EF4-FFF2-40B4-BE49-F238E27FC236}">
                  <a16:creationId xmlns:a16="http://schemas.microsoft.com/office/drawing/2014/main" id="{5FF87FF0-02CA-1867-DF3F-BF8176428890}"/>
                </a:ext>
              </a:extLst>
            </p:cNvPr>
            <p:cNvSpPr txBox="1"/>
            <p:nvPr/>
          </p:nvSpPr>
          <p:spPr>
            <a:xfrm>
              <a:off x="248836" y="601341"/>
              <a:ext cx="5774177" cy="4944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79"/>
                </a:lnSpc>
                <a:spcBef>
                  <a:spcPct val="0"/>
                </a:spcBef>
              </a:pPr>
              <a:r>
                <a:rPr lang="en-US" b="1" dirty="0">
                  <a:solidFill>
                    <a:schemeClr val="bg1"/>
                  </a:solidFill>
                  <a:latin typeface="Inter Medium"/>
                  <a:ea typeface="Inter Medium"/>
                  <a:cs typeface="Inter Medium"/>
                  <a:sym typeface="Inter Medium"/>
                </a:rPr>
                <a:t> Site-to-Site VPN </a:t>
              </a:r>
            </a:p>
          </p:txBody>
        </p:sp>
      </p:grpSp>
      <p:sp>
        <p:nvSpPr>
          <p:cNvPr id="14" name="Freeform 25">
            <a:extLst>
              <a:ext uri="{FF2B5EF4-FFF2-40B4-BE49-F238E27FC236}">
                <a16:creationId xmlns:a16="http://schemas.microsoft.com/office/drawing/2014/main" id="{17689E18-7BCE-8D91-8AE9-60440B6B08A8}"/>
              </a:ext>
            </a:extLst>
          </p:cNvPr>
          <p:cNvSpPr/>
          <p:nvPr/>
        </p:nvSpPr>
        <p:spPr>
          <a:xfrm>
            <a:off x="8551921" y="3559153"/>
            <a:ext cx="3398158" cy="3096938"/>
          </a:xfrm>
          <a:custGeom>
            <a:avLst/>
            <a:gdLst/>
            <a:ahLst/>
            <a:cxnLst/>
            <a:rect l="l" t="t" r="r" b="b"/>
            <a:pathLst>
              <a:path w="5700836" h="3096938">
                <a:moveTo>
                  <a:pt x="0" y="0"/>
                </a:moveTo>
                <a:lnTo>
                  <a:pt x="5700836" y="0"/>
                </a:lnTo>
                <a:lnTo>
                  <a:pt x="5700836" y="3096938"/>
                </a:lnTo>
                <a:lnTo>
                  <a:pt x="0" y="3096938"/>
                </a:lnTo>
                <a:lnTo>
                  <a:pt x="0" y="0"/>
                </a:lnTo>
                <a:close/>
              </a:path>
            </a:pathLst>
          </a:custGeom>
          <a:blipFill>
            <a:blip r:embed="rId6"/>
            <a:stretch>
              <a:fillRect l="-13727" t="-3369" r="-4804"/>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bg1"/>
              </a:solidFill>
            </a:endParaRPr>
          </a:p>
        </p:txBody>
      </p:sp>
    </p:spTree>
    <p:extLst>
      <p:ext uri="{BB962C8B-B14F-4D97-AF65-F5344CB8AC3E}">
        <p14:creationId xmlns:p14="http://schemas.microsoft.com/office/powerpoint/2010/main" val="2271774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375C5F14-0284-049C-9766-17D40D1656E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2D26E37-C2EF-BD22-3C28-A0B750074CA2}"/>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B05337-A31F-48B8-B9C5-D87A26B8AFF7}"/>
              </a:ext>
            </a:extLst>
          </p:cNvPr>
          <p:cNvSpPr>
            <a:spLocks noGrp="1"/>
          </p:cNvSpPr>
          <p:nvPr>
            <p:ph type="title"/>
          </p:nvPr>
        </p:nvSpPr>
        <p:spPr/>
        <p:txBody>
          <a:bodyPr/>
          <a:lstStyle/>
          <a:p>
            <a:r>
              <a:rPr lang="en-US" sz="4200" dirty="0">
                <a:solidFill>
                  <a:srgbClr val="FFFFFF"/>
                </a:solidFill>
              </a:rPr>
              <a:t>Cont. IPsec VPN (Site-to-Site)</a:t>
            </a:r>
          </a:p>
        </p:txBody>
      </p:sp>
      <p:sp>
        <p:nvSpPr>
          <p:cNvPr id="4" name="Rectangle 1">
            <a:extLst>
              <a:ext uri="{FF2B5EF4-FFF2-40B4-BE49-F238E27FC236}">
                <a16:creationId xmlns:a16="http://schemas.microsoft.com/office/drawing/2014/main" id="{B5B3D946-9499-9724-11D7-9847AC594EFC}"/>
              </a:ext>
            </a:extLst>
          </p:cNvPr>
          <p:cNvSpPr>
            <a:spLocks noChangeArrowheads="1"/>
          </p:cNvSpPr>
          <p:nvPr/>
        </p:nvSpPr>
        <p:spPr bwMode="auto">
          <a:xfrm rot="10800000" flipV="1">
            <a:off x="0" y="1775974"/>
            <a:ext cx="12192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Scenario:</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Establishing an encrypted tunnel between HQ (192.168.x.x) and Branch (172.16.x.x).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Protocol Suite &amp; Phase Settings:</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Phase 1 (IKE):</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Authenticates devices using </a:t>
            </a:r>
            <a:r>
              <a:rPr kumimoji="0" lang="en-US" altLang="en-US" sz="2800" b="1" i="0" u="none" strike="noStrike" cap="none" normalizeH="0" baseline="0" dirty="0">
                <a:ln>
                  <a:noFill/>
                </a:ln>
                <a:solidFill>
                  <a:schemeClr val="bg1"/>
                </a:solidFill>
                <a:effectLst/>
                <a:latin typeface="Arial" panose="020B0604020202020204" pitchFamily="34" charset="0"/>
              </a:rPr>
              <a:t>Pre-Shared Key (PSK)</a:t>
            </a:r>
            <a:r>
              <a:rPr kumimoji="0" lang="en-US" altLang="en-US" sz="2800" b="0" i="0" u="none" strike="noStrike" cap="none" normalizeH="0" baseline="0" dirty="0">
                <a:ln>
                  <a:noFill/>
                </a:ln>
                <a:solidFill>
                  <a:schemeClr val="bg1"/>
                </a:solidFill>
                <a:effectLst/>
                <a:latin typeface="Arial" panose="020B0604020202020204" pitchFamily="34" charset="0"/>
              </a:rPr>
              <a:t> and negotiates security associations.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Phase 2 (ESP):</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Encrypts the actual data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Security Algorithms:</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Encryption:</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AES-256</a:t>
            </a:r>
            <a:r>
              <a:rPr kumimoji="0" lang="en-US" altLang="en-US" sz="2800" b="0" i="0" u="none" strike="noStrike" cap="none" normalizeH="0" baseline="0" dirty="0">
                <a:ln>
                  <a:noFill/>
                </a:ln>
                <a:solidFill>
                  <a:schemeClr val="bg1"/>
                </a:solidFill>
                <a:effectLst/>
              </a:rPr>
              <a:t> (Strong encryption standard)</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Integrity:</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HMAC-SHA256</a:t>
            </a:r>
            <a:r>
              <a:rPr kumimoji="0" lang="en-US" altLang="en-US" sz="2800" b="0" i="0" u="none" strike="noStrike" cap="none" normalizeH="0" baseline="0" dirty="0">
                <a:ln>
                  <a:noFill/>
                </a:ln>
                <a:solidFill>
                  <a:schemeClr val="bg1"/>
                </a:solidFill>
                <a:effectLst/>
              </a:rPr>
              <a:t> (Ensures data is not tampered with)</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PFS:</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panose="020B0604020202020204" pitchFamily="34" charset="0"/>
              </a:rPr>
              <a:t>Perfect Forward Secrecy enabled for key independence.</a:t>
            </a:r>
          </a:p>
        </p:txBody>
      </p:sp>
    </p:spTree>
    <p:extLst>
      <p:ext uri="{BB962C8B-B14F-4D97-AF65-F5344CB8AC3E}">
        <p14:creationId xmlns:p14="http://schemas.microsoft.com/office/powerpoint/2010/main" val="355392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4327EEA0-06F9-9B07-651A-6419A53D87D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2A8EB85-E0A6-84EC-F9F4-46746DA1C750}"/>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ECC826-DCD4-4BEC-9BB4-E48A7592CACD}"/>
              </a:ext>
            </a:extLst>
          </p:cNvPr>
          <p:cNvSpPr>
            <a:spLocks noGrp="1"/>
          </p:cNvSpPr>
          <p:nvPr>
            <p:ph type="title"/>
          </p:nvPr>
        </p:nvSpPr>
        <p:spPr/>
        <p:txBody>
          <a:bodyPr/>
          <a:lstStyle/>
          <a:p>
            <a:r>
              <a:rPr lang="en-US" sz="4200" dirty="0">
                <a:solidFill>
                  <a:srgbClr val="FFFFFF"/>
                </a:solidFill>
              </a:rPr>
              <a:t>Cont. IPsec VPN (Site-to-Site)</a:t>
            </a:r>
          </a:p>
        </p:txBody>
      </p:sp>
      <p:sp>
        <p:nvSpPr>
          <p:cNvPr id="5" name="Freeform 4">
            <a:extLst>
              <a:ext uri="{FF2B5EF4-FFF2-40B4-BE49-F238E27FC236}">
                <a16:creationId xmlns:a16="http://schemas.microsoft.com/office/drawing/2014/main" id="{3EDA61C8-8D37-796B-A68E-4C20B6680C61}"/>
              </a:ext>
            </a:extLst>
          </p:cNvPr>
          <p:cNvSpPr/>
          <p:nvPr/>
        </p:nvSpPr>
        <p:spPr>
          <a:xfrm>
            <a:off x="5810433" y="1468216"/>
            <a:ext cx="6381567" cy="4307187"/>
          </a:xfrm>
          <a:custGeom>
            <a:avLst/>
            <a:gdLst/>
            <a:ahLst/>
            <a:cxnLst/>
            <a:rect l="l" t="t" r="r" b="b"/>
            <a:pathLst>
              <a:path w="8883350" h="4890182">
                <a:moveTo>
                  <a:pt x="0" y="0"/>
                </a:moveTo>
                <a:lnTo>
                  <a:pt x="8883350" y="0"/>
                </a:lnTo>
                <a:lnTo>
                  <a:pt x="8883350" y="4890182"/>
                </a:lnTo>
                <a:lnTo>
                  <a:pt x="0" y="4890182"/>
                </a:lnTo>
                <a:lnTo>
                  <a:pt x="0" y="0"/>
                </a:lnTo>
                <a:close/>
              </a:path>
            </a:pathLst>
          </a:custGeom>
          <a:blipFill>
            <a:blip r:embed="rId4"/>
            <a:stretch>
              <a:fillRect r="-1035"/>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Freeform 5">
            <a:extLst>
              <a:ext uri="{FF2B5EF4-FFF2-40B4-BE49-F238E27FC236}">
                <a16:creationId xmlns:a16="http://schemas.microsoft.com/office/drawing/2014/main" id="{9E774371-3C93-7598-9C2C-B74A57138789}"/>
              </a:ext>
            </a:extLst>
          </p:cNvPr>
          <p:cNvSpPr/>
          <p:nvPr/>
        </p:nvSpPr>
        <p:spPr>
          <a:xfrm>
            <a:off x="0" y="1468216"/>
            <a:ext cx="5810433" cy="4307187"/>
          </a:xfrm>
          <a:custGeom>
            <a:avLst/>
            <a:gdLst/>
            <a:ahLst/>
            <a:cxnLst/>
            <a:rect l="l" t="t" r="r" b="b"/>
            <a:pathLst>
              <a:path w="7847437" h="4943712">
                <a:moveTo>
                  <a:pt x="0" y="0"/>
                </a:moveTo>
                <a:lnTo>
                  <a:pt x="7847437" y="0"/>
                </a:lnTo>
                <a:lnTo>
                  <a:pt x="7847437" y="4943712"/>
                </a:lnTo>
                <a:lnTo>
                  <a:pt x="0" y="4943712"/>
                </a:lnTo>
                <a:lnTo>
                  <a:pt x="0" y="0"/>
                </a:lnTo>
                <a:close/>
              </a:path>
            </a:pathLst>
          </a:custGeom>
          <a:blipFill>
            <a:blip r:embed="rId5"/>
            <a:stretch>
              <a:fillRect l="-96406" t="-31788" r="-18709" b="-7358"/>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4239151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67EF2122-DBD3-C78B-26C7-DFE434AD8E4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68A512-2797-A9C1-4E93-2CE5A34DABEB}"/>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512B61-F42B-5BFA-AF76-8ECC6718E3E9}"/>
              </a:ext>
            </a:extLst>
          </p:cNvPr>
          <p:cNvSpPr>
            <a:spLocks noGrp="1"/>
          </p:cNvSpPr>
          <p:nvPr>
            <p:ph type="title"/>
          </p:nvPr>
        </p:nvSpPr>
        <p:spPr/>
        <p:txBody>
          <a:bodyPr/>
          <a:lstStyle/>
          <a:p>
            <a:r>
              <a:rPr lang="en-US" sz="4200" dirty="0">
                <a:solidFill>
                  <a:srgbClr val="FFFFFF"/>
                </a:solidFill>
              </a:rPr>
              <a:t>Cont. IPsec VPN (Site-to-Site)</a:t>
            </a:r>
          </a:p>
        </p:txBody>
      </p:sp>
      <p:sp>
        <p:nvSpPr>
          <p:cNvPr id="5" name="Freeform 8">
            <a:extLst>
              <a:ext uri="{FF2B5EF4-FFF2-40B4-BE49-F238E27FC236}">
                <a16:creationId xmlns:a16="http://schemas.microsoft.com/office/drawing/2014/main" id="{6BC49E59-C68E-7DDE-349E-048FC6A52F5D}"/>
              </a:ext>
            </a:extLst>
          </p:cNvPr>
          <p:cNvSpPr/>
          <p:nvPr/>
        </p:nvSpPr>
        <p:spPr>
          <a:xfrm>
            <a:off x="19691" y="4193611"/>
            <a:ext cx="12174742" cy="2350882"/>
          </a:xfrm>
          <a:custGeom>
            <a:avLst/>
            <a:gdLst/>
            <a:ahLst/>
            <a:cxnLst/>
            <a:rect l="l" t="t" r="r" b="b"/>
            <a:pathLst>
              <a:path w="16134893" h="2323271">
                <a:moveTo>
                  <a:pt x="0" y="0"/>
                </a:moveTo>
                <a:lnTo>
                  <a:pt x="16134893" y="0"/>
                </a:lnTo>
                <a:lnTo>
                  <a:pt x="16134893" y="2323271"/>
                </a:lnTo>
                <a:lnTo>
                  <a:pt x="0" y="2323271"/>
                </a:lnTo>
                <a:lnTo>
                  <a:pt x="0" y="0"/>
                </a:lnTo>
                <a:close/>
              </a:path>
            </a:pathLst>
          </a:custGeom>
          <a:blipFill>
            <a:blip r:embed="rId4"/>
            <a:stretch>
              <a:fillRect l="-954" t="-43374" r="-7856" b="-192903"/>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Freeform 9">
            <a:extLst>
              <a:ext uri="{FF2B5EF4-FFF2-40B4-BE49-F238E27FC236}">
                <a16:creationId xmlns:a16="http://schemas.microsoft.com/office/drawing/2014/main" id="{5ABE7691-0D4A-ABBF-8FA6-A1B7407609BB}"/>
              </a:ext>
            </a:extLst>
          </p:cNvPr>
          <p:cNvSpPr/>
          <p:nvPr/>
        </p:nvSpPr>
        <p:spPr>
          <a:xfrm>
            <a:off x="2433" y="1371419"/>
            <a:ext cx="12189567" cy="2450927"/>
          </a:xfrm>
          <a:custGeom>
            <a:avLst/>
            <a:gdLst/>
            <a:ahLst/>
            <a:cxnLst/>
            <a:rect l="l" t="t" r="r" b="b"/>
            <a:pathLst>
              <a:path w="16154539" h="2422141">
                <a:moveTo>
                  <a:pt x="0" y="0"/>
                </a:moveTo>
                <a:lnTo>
                  <a:pt x="16154539" y="0"/>
                </a:lnTo>
                <a:lnTo>
                  <a:pt x="16154539" y="2422141"/>
                </a:lnTo>
                <a:lnTo>
                  <a:pt x="0" y="2422141"/>
                </a:lnTo>
                <a:lnTo>
                  <a:pt x="0" y="0"/>
                </a:lnTo>
                <a:close/>
              </a:path>
            </a:pathLst>
          </a:custGeom>
          <a:blipFill>
            <a:blip r:embed="rId5"/>
            <a:stretch>
              <a:fillRect l="-21565" t="-65615" r="-11727" b="-139978"/>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511870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BF8E9588-09CA-193B-77BA-464AD65A2A1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0A7D507-583E-DA36-F681-8384536ECD9F}"/>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7CA4CC-E2DA-B96D-B3DC-CE25D3BB30B8}"/>
              </a:ext>
            </a:extLst>
          </p:cNvPr>
          <p:cNvSpPr>
            <a:spLocks noGrp="1"/>
          </p:cNvSpPr>
          <p:nvPr>
            <p:ph type="title"/>
          </p:nvPr>
        </p:nvSpPr>
        <p:spPr/>
        <p:txBody>
          <a:bodyPr/>
          <a:lstStyle/>
          <a:p>
            <a:r>
              <a:rPr lang="en-US" sz="4200" dirty="0">
                <a:solidFill>
                  <a:srgbClr val="FFFFFF"/>
                </a:solidFill>
              </a:rPr>
              <a:t>SD-WAN Configuration</a:t>
            </a:r>
          </a:p>
        </p:txBody>
      </p:sp>
      <p:sp>
        <p:nvSpPr>
          <p:cNvPr id="4" name="Rectangle 1">
            <a:extLst>
              <a:ext uri="{FF2B5EF4-FFF2-40B4-BE49-F238E27FC236}">
                <a16:creationId xmlns:a16="http://schemas.microsoft.com/office/drawing/2014/main" id="{9D4A3634-1B4E-5361-21DE-9AA28826B5E6}"/>
              </a:ext>
            </a:extLst>
          </p:cNvPr>
          <p:cNvSpPr>
            <a:spLocks noChangeArrowheads="1"/>
          </p:cNvSpPr>
          <p:nvPr/>
        </p:nvSpPr>
        <p:spPr bwMode="auto">
          <a:xfrm>
            <a:off x="0" y="1699514"/>
            <a:ext cx="12192000"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Setup:</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400" b="0" i="0" u="none" strike="noStrike" cap="none" normalizeH="0" baseline="0" dirty="0">
                <a:ln>
                  <a:noFill/>
                </a:ln>
                <a:solidFill>
                  <a:schemeClr val="bg1"/>
                </a:solidFill>
                <a:effectLst/>
                <a:latin typeface="Arial" panose="020B0604020202020204" pitchFamily="34" charset="0"/>
              </a:rPr>
              <a:t>Configured SD-WAN Zones with dual WAN members: </a:t>
            </a:r>
            <a:r>
              <a:rPr kumimoji="0" lang="en-US" altLang="en-US" sz="2400" b="0" i="0" u="none" strike="noStrike" cap="none" normalizeH="0" baseline="0" dirty="0">
                <a:ln>
                  <a:noFill/>
                </a:ln>
                <a:solidFill>
                  <a:schemeClr val="bg1"/>
                </a:solidFill>
                <a:effectLst/>
                <a:latin typeface="Arial Unicode MS" panose="020B0604020202020204" pitchFamily="34" charset="-128"/>
              </a:rPr>
              <a:t>WAN_R1</a:t>
            </a:r>
            <a:r>
              <a:rPr kumimoji="0" lang="en-US" altLang="en-US" sz="2400" b="0" i="0" u="none" strike="noStrike" cap="none" normalizeH="0" baseline="0" dirty="0">
                <a:ln>
                  <a:noFill/>
                </a:ln>
                <a:solidFill>
                  <a:schemeClr val="bg1"/>
                </a:solidFill>
                <a:effectLst/>
              </a:rPr>
              <a:t> (</a:t>
            </a:r>
            <a:r>
              <a:rPr kumimoji="0" lang="en-US" altLang="en-US" sz="2400" b="0" i="0" u="none" strike="noStrike" cap="none" normalizeH="0" baseline="0" dirty="0" err="1">
                <a:ln>
                  <a:noFill/>
                </a:ln>
                <a:solidFill>
                  <a:schemeClr val="bg1"/>
                </a:solidFill>
                <a:effectLst/>
              </a:rPr>
              <a:t>Gw</a:t>
            </a:r>
            <a:r>
              <a:rPr kumimoji="0" lang="en-US" altLang="en-US" sz="2400" b="0" i="0" u="none" strike="noStrike" cap="none" normalizeH="0" baseline="0" dirty="0">
                <a:ln>
                  <a:noFill/>
                </a:ln>
                <a:solidFill>
                  <a:schemeClr val="bg1"/>
                </a:solidFill>
                <a:effectLst/>
              </a:rPr>
              <a:t>: 10.10.10.1) and </a:t>
            </a:r>
            <a:r>
              <a:rPr kumimoji="0" lang="en-US" altLang="en-US" sz="2400" b="0" i="0" u="none" strike="noStrike" cap="none" normalizeH="0" baseline="0" dirty="0">
                <a:ln>
                  <a:noFill/>
                </a:ln>
                <a:solidFill>
                  <a:schemeClr val="bg1"/>
                </a:solidFill>
                <a:effectLst/>
                <a:latin typeface="Arial Unicode MS" panose="020B0604020202020204" pitchFamily="34" charset="-128"/>
              </a:rPr>
              <a:t>WAN_R2</a:t>
            </a:r>
            <a:r>
              <a:rPr kumimoji="0" lang="en-US" altLang="en-US" sz="2400" b="0" i="0" u="none" strike="noStrike" cap="none" normalizeH="0" baseline="0" dirty="0">
                <a:ln>
                  <a:noFill/>
                </a:ln>
                <a:solidFill>
                  <a:schemeClr val="bg1"/>
                </a:solidFill>
                <a:effectLst/>
              </a:rPr>
              <a:t> (</a:t>
            </a:r>
            <a:r>
              <a:rPr kumimoji="0" lang="en-US" altLang="en-US" sz="2400" b="0" i="0" u="none" strike="noStrike" cap="none" normalizeH="0" baseline="0" dirty="0" err="1">
                <a:ln>
                  <a:noFill/>
                </a:ln>
                <a:solidFill>
                  <a:schemeClr val="bg1"/>
                </a:solidFill>
                <a:effectLst/>
              </a:rPr>
              <a:t>Gw</a:t>
            </a:r>
            <a:r>
              <a:rPr kumimoji="0" lang="en-US" altLang="en-US" sz="2400" b="0" i="0" u="none" strike="noStrike" cap="none" normalizeH="0" baseline="0" dirty="0">
                <a:ln>
                  <a:noFill/>
                </a:ln>
                <a:solidFill>
                  <a:schemeClr val="bg1"/>
                </a:solidFill>
                <a:effectLst/>
              </a:rPr>
              <a:t>: 10.20.20.1)</a:t>
            </a:r>
            <a:r>
              <a:rPr kumimoji="0" lang="en-US" altLang="en-US" sz="2400" b="0" i="0" u="none" strike="noStrike" cap="none" normalizeH="0" baseline="0" dirty="0">
                <a:ln>
                  <a:noFill/>
                </a:ln>
                <a:solidFill>
                  <a:schemeClr val="bg1"/>
                </a:solidFill>
                <a:effectLst/>
                <a:latin typeface="Arial" panose="020B0604020202020204" pitchFamily="34" charset="0"/>
              </a:rPr>
              <a:t>.</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Performance SLA (Health Check):</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2400" b="1" i="0" u="none" strike="noStrike" cap="none" normalizeH="0" baseline="0" dirty="0">
                <a:ln>
                  <a:noFill/>
                </a:ln>
                <a:solidFill>
                  <a:schemeClr val="accent2"/>
                </a:solidFill>
                <a:effectLst/>
                <a:latin typeface="Arial" panose="020B0604020202020204" pitchFamily="34" charset="0"/>
              </a:rPr>
              <a:t>Targets:</a:t>
            </a:r>
            <a:r>
              <a:rPr kumimoji="0" lang="en-US" altLang="en-US" sz="2400" b="0" i="0" u="none" strike="noStrike" cap="none" normalizeH="0" baseline="0" dirty="0">
                <a:ln>
                  <a:noFill/>
                </a:ln>
                <a:solidFill>
                  <a:schemeClr val="bg1"/>
                </a:solidFill>
                <a:effectLst/>
                <a:latin typeface="Arial" panose="020B0604020202020204" pitchFamily="34" charset="0"/>
              </a:rPr>
              <a:t> </a:t>
            </a:r>
            <a:r>
              <a:rPr kumimoji="0" lang="en-US" altLang="en-US" sz="2400" b="0" i="0" u="none" strike="noStrike" cap="none" normalizeH="0" baseline="0" dirty="0">
                <a:ln>
                  <a:noFill/>
                </a:ln>
                <a:solidFill>
                  <a:schemeClr val="bg1"/>
                </a:solidFill>
                <a:effectLst/>
              </a:rPr>
              <a:t>10.10.10.1 and 10.20.20.1.</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Arial" panose="020B0604020202020204" pitchFamily="34" charset="0"/>
              </a:rPr>
              <a:t>Thresholds:</a:t>
            </a:r>
            <a:r>
              <a:rPr kumimoji="0" lang="en-US" altLang="en-US" sz="2400" b="0" i="0" u="none" strike="noStrike" cap="none" normalizeH="0" baseline="0" dirty="0">
                <a:ln>
                  <a:noFill/>
                </a:ln>
                <a:solidFill>
                  <a:schemeClr val="accent2"/>
                </a:solidFill>
                <a:effectLst/>
                <a:latin typeface="Arial" panose="020B0604020202020204" pitchFamily="34" charset="0"/>
              </a:rPr>
              <a:t> </a:t>
            </a:r>
            <a:r>
              <a:rPr kumimoji="0" lang="en-US" altLang="en-US" sz="2400" b="0" i="0" u="none" strike="noStrike" cap="none" normalizeH="0" baseline="0" dirty="0">
                <a:ln>
                  <a:noFill/>
                </a:ln>
                <a:solidFill>
                  <a:schemeClr val="bg1"/>
                </a:solidFill>
                <a:effectLst/>
                <a:latin typeface="Arial" panose="020B0604020202020204" pitchFamily="34" charset="0"/>
              </a:rPr>
              <a:t>Latency </a:t>
            </a:r>
            <a:r>
              <a:rPr kumimoji="0" lang="en-US" altLang="en-US" sz="2400" b="0" i="0" u="none" strike="noStrike" cap="none" normalizeH="0" baseline="0" dirty="0">
                <a:ln>
                  <a:noFill/>
                </a:ln>
                <a:solidFill>
                  <a:schemeClr val="bg1"/>
                </a:solidFill>
                <a:effectLst/>
                <a:latin typeface="Arial Unicode MS" panose="020B0604020202020204" pitchFamily="34" charset="-128"/>
              </a:rPr>
              <a:t>50ms</a:t>
            </a:r>
            <a:r>
              <a:rPr kumimoji="0" lang="en-US" altLang="en-US" sz="2400" b="0" i="0" u="none" strike="noStrike" cap="none" normalizeH="0" baseline="0" dirty="0">
                <a:ln>
                  <a:noFill/>
                </a:ln>
                <a:solidFill>
                  <a:schemeClr val="bg1"/>
                </a:solidFill>
                <a:effectLst/>
              </a:rPr>
              <a:t>, Jitter </a:t>
            </a:r>
            <a:r>
              <a:rPr kumimoji="0" lang="en-US" altLang="en-US" sz="2400" b="0" i="0" u="none" strike="noStrike" cap="none" normalizeH="0" baseline="0" dirty="0">
                <a:ln>
                  <a:noFill/>
                </a:ln>
                <a:solidFill>
                  <a:schemeClr val="bg1"/>
                </a:solidFill>
                <a:effectLst/>
                <a:latin typeface="Arial Unicode MS" panose="020B0604020202020204" pitchFamily="34" charset="-128"/>
              </a:rPr>
              <a:t>20ms</a:t>
            </a:r>
            <a:r>
              <a:rPr kumimoji="0" lang="en-US" altLang="en-US" sz="2400" b="0" i="0" u="none" strike="noStrike" cap="none" normalizeH="0" baseline="0" dirty="0">
                <a:ln>
                  <a:noFill/>
                </a:ln>
                <a:solidFill>
                  <a:schemeClr val="bg1"/>
                </a:solidFill>
                <a:effectLst/>
              </a:rPr>
              <a:t>, Packet Loss </a:t>
            </a:r>
            <a:r>
              <a:rPr kumimoji="0" lang="en-US" altLang="en-US" sz="2400" b="0" i="0" u="none" strike="noStrike" cap="none" normalizeH="0" baseline="0" dirty="0">
                <a:ln>
                  <a:noFill/>
                </a:ln>
                <a:solidFill>
                  <a:schemeClr val="bg1"/>
                </a:solidFill>
                <a:effectLst/>
                <a:latin typeface="Arial Unicode MS" panose="020B0604020202020204" pitchFamily="34" charset="-128"/>
              </a:rPr>
              <a:t>5%</a:t>
            </a:r>
            <a:r>
              <a:rPr kumimoji="0" lang="en-US" altLang="en-US" sz="2400" b="0" i="0" u="none" strike="noStrike" cap="none" normalizeH="0" baseline="0" dirty="0">
                <a:ln>
                  <a:noFill/>
                </a:ln>
                <a:solidFill>
                  <a:schemeClr val="bg1"/>
                </a:solidFill>
                <a:effectLst/>
              </a:rPr>
              <a:t>.</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Traffic Steering Rule:</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Arial" panose="020B0604020202020204" pitchFamily="34" charset="0"/>
              </a:rPr>
              <a:t>Strategy:</a:t>
            </a:r>
            <a:r>
              <a:rPr kumimoji="0" lang="en-US" altLang="en-US" sz="2400" b="0" i="0" u="none" strike="noStrike" cap="none" normalizeH="0" baseline="0" dirty="0">
                <a:ln>
                  <a:noFill/>
                </a:ln>
                <a:solidFill>
                  <a:schemeClr val="accent2"/>
                </a:solidFill>
                <a:effectLst/>
                <a:latin typeface="Arial" panose="020B0604020202020204" pitchFamily="34" charset="0"/>
              </a:rPr>
              <a:t> </a:t>
            </a:r>
            <a:r>
              <a:rPr kumimoji="0" lang="en-US" altLang="en-US" sz="2400" b="0" i="0" u="none" strike="noStrike" cap="none" normalizeH="0" baseline="0" dirty="0">
                <a:ln>
                  <a:noFill/>
                </a:ln>
                <a:solidFill>
                  <a:schemeClr val="bg1"/>
                </a:solidFill>
                <a:effectLst/>
                <a:latin typeface="Arial Unicode MS" panose="020B0604020202020204" pitchFamily="34" charset="-128"/>
              </a:rPr>
              <a:t>Best Quality</a:t>
            </a:r>
            <a:r>
              <a:rPr kumimoji="0" lang="en-US" altLang="en-US" sz="2400" b="0" i="0" u="none" strike="noStrike" cap="none" normalizeH="0" baseline="0" dirty="0">
                <a:ln>
                  <a:noFill/>
                </a:ln>
                <a:solidFill>
                  <a:schemeClr val="bg1"/>
                </a:solidFill>
                <a:effectLst/>
              </a:rPr>
              <a:t>. </a:t>
            </a:r>
            <a:r>
              <a:rPr kumimoji="0" lang="en-US" altLang="en-US" sz="2400" b="0" i="0" u="none" strike="noStrike" cap="none" normalizeH="0" baseline="0" dirty="0">
                <a:ln>
                  <a:noFill/>
                </a:ln>
                <a:solidFill>
                  <a:schemeClr val="bg1"/>
                </a:solidFill>
                <a:effectLst/>
                <a:latin typeface="Arial" panose="020B0604020202020204" pitchFamily="34" charset="0"/>
              </a:rPr>
              <a:t>Traffic is automatically routed to the interface with the lowest latency/packet loss.</a:t>
            </a:r>
            <a:endParaRPr lang="en-US" altLang="en-US" sz="2400" dirty="0">
              <a:solidFill>
                <a:schemeClr val="bg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Failover Test:</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Action:</a:t>
            </a:r>
            <a:r>
              <a:rPr kumimoji="0" lang="en-US" altLang="en-US" sz="2400" b="0" i="0" u="none" strike="noStrike" cap="none" normalizeH="0" baseline="0" dirty="0">
                <a:ln>
                  <a:noFill/>
                </a:ln>
                <a:solidFill>
                  <a:schemeClr val="bg1"/>
                </a:solidFill>
                <a:effectLst/>
                <a:latin typeface="Arial" panose="020B0604020202020204" pitchFamily="34" charset="0"/>
              </a:rPr>
              <a:t> Manually disabled </a:t>
            </a:r>
            <a:r>
              <a:rPr kumimoji="0" lang="en-US" altLang="en-US" sz="2400" b="0" i="0" u="none" strike="noStrike" cap="none" normalizeH="0" baseline="0" dirty="0">
                <a:ln>
                  <a:noFill/>
                </a:ln>
                <a:solidFill>
                  <a:schemeClr val="bg1"/>
                </a:solidFill>
                <a:effectLst/>
                <a:latin typeface="Arial Unicode MS" panose="020B0604020202020204" pitchFamily="34" charset="-128"/>
              </a:rPr>
              <a:t>WAN_R1</a:t>
            </a:r>
            <a:r>
              <a:rPr kumimoji="0" lang="en-US" altLang="en-US" sz="2400" b="0" i="0" u="none" strike="noStrike" cap="none" normalizeH="0" baseline="0" dirty="0">
                <a:ln>
                  <a:noFill/>
                </a:ln>
                <a:solidFill>
                  <a:schemeClr val="bg1"/>
                </a:solidFill>
                <a:effectLst/>
              </a:rPr>
              <a:t>.</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bg1"/>
                </a:solidFill>
                <a:effectLst/>
                <a:latin typeface="Arial" panose="020B0604020202020204" pitchFamily="34" charset="0"/>
              </a:rPr>
              <a:t>Result:</a:t>
            </a:r>
            <a:r>
              <a:rPr kumimoji="0" lang="en-US" altLang="en-US" sz="2400" b="0" i="0" u="none" strike="noStrike" cap="none" normalizeH="0" baseline="0" dirty="0">
                <a:ln>
                  <a:noFill/>
                </a:ln>
                <a:solidFill>
                  <a:schemeClr val="bg1"/>
                </a:solidFill>
                <a:effectLst/>
                <a:latin typeface="Arial" panose="020B0604020202020204" pitchFamily="34" charset="0"/>
              </a:rPr>
              <a:t> Traffic seamlessly failed over to </a:t>
            </a:r>
            <a:r>
              <a:rPr kumimoji="0" lang="en-US" altLang="en-US" sz="2400" b="0" i="0" u="none" strike="noStrike" cap="none" normalizeH="0" baseline="0" dirty="0">
                <a:ln>
                  <a:noFill/>
                </a:ln>
                <a:solidFill>
                  <a:schemeClr val="bg1"/>
                </a:solidFill>
                <a:effectLst/>
                <a:latin typeface="Arial Unicode MS" panose="020B0604020202020204" pitchFamily="34" charset="-128"/>
              </a:rPr>
              <a:t>WAN_R2</a:t>
            </a:r>
            <a:r>
              <a:rPr kumimoji="0" lang="en-US" altLang="en-US" sz="2400" b="0" i="0" u="none" strike="noStrike" cap="none" normalizeH="0" baseline="0" dirty="0">
                <a:ln>
                  <a:noFill/>
                </a:ln>
                <a:solidFill>
                  <a:schemeClr val="bg1"/>
                </a:solidFill>
                <a:effectLst/>
              </a:rPr>
              <a:t> with </a:t>
            </a:r>
            <a:r>
              <a:rPr kumimoji="0" lang="en-US" altLang="en-US" sz="2400" b="1" i="0" u="none" strike="noStrike" cap="none" normalizeH="0" baseline="0" dirty="0">
                <a:ln>
                  <a:noFill/>
                </a:ln>
                <a:solidFill>
                  <a:schemeClr val="bg1"/>
                </a:solidFill>
                <a:effectLst/>
                <a:latin typeface="Arial" panose="020B0604020202020204" pitchFamily="34" charset="0"/>
              </a:rPr>
              <a:t>Zero Packet Loss</a:t>
            </a:r>
            <a:r>
              <a:rPr kumimoji="0" lang="en-US" altLang="en-US" sz="2400" b="0" i="0" u="none" strike="noStrike" cap="none" normalizeH="0" baseline="0" dirty="0">
                <a:ln>
                  <a:noFill/>
                </a:ln>
                <a:solidFill>
                  <a:schemeClr val="bg1"/>
                </a:solidFill>
                <a:effectLst/>
                <a:latin typeface="Arial" panose="020B0604020202020204" pitchFamily="34" charset="0"/>
              </a:rPr>
              <a:t> and no user disruption.</a:t>
            </a:r>
          </a:p>
        </p:txBody>
      </p:sp>
    </p:spTree>
    <p:extLst>
      <p:ext uri="{BB962C8B-B14F-4D97-AF65-F5344CB8AC3E}">
        <p14:creationId xmlns:p14="http://schemas.microsoft.com/office/powerpoint/2010/main" val="571961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A1C1DFF7-F441-0994-6C9B-BD4677B02C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40D6931-0531-C4B8-126A-69AB100E01C8}"/>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CF59D6-46C1-708F-1497-2EB59FAD4CDE}"/>
              </a:ext>
            </a:extLst>
          </p:cNvPr>
          <p:cNvSpPr>
            <a:spLocks noGrp="1"/>
          </p:cNvSpPr>
          <p:nvPr>
            <p:ph type="title"/>
          </p:nvPr>
        </p:nvSpPr>
        <p:spPr/>
        <p:txBody>
          <a:bodyPr/>
          <a:lstStyle/>
          <a:p>
            <a:r>
              <a:rPr lang="en-US" sz="4200" dirty="0">
                <a:solidFill>
                  <a:srgbClr val="FFFFFF"/>
                </a:solidFill>
              </a:rPr>
              <a:t>Cont. SD-WAN Configuration</a:t>
            </a:r>
          </a:p>
        </p:txBody>
      </p:sp>
      <p:pic>
        <p:nvPicPr>
          <p:cNvPr id="4" name="Picture 3" descr="A screenshot of a computer&#10;&#10;AI-generated content may be incorrect.">
            <a:extLst>
              <a:ext uri="{FF2B5EF4-FFF2-40B4-BE49-F238E27FC236}">
                <a16:creationId xmlns:a16="http://schemas.microsoft.com/office/drawing/2014/main" id="{E49B2FDA-CC9C-9366-A2D6-66A328D9D45C}"/>
              </a:ext>
            </a:extLst>
          </p:cNvPr>
          <p:cNvPicPr>
            <a:picLocks noChangeAspect="1"/>
          </p:cNvPicPr>
          <p:nvPr/>
        </p:nvPicPr>
        <p:blipFill>
          <a:blip r:embed="rId4"/>
          <a:stretch>
            <a:fillRect/>
          </a:stretch>
        </p:blipFill>
        <p:spPr>
          <a:xfrm>
            <a:off x="0" y="1882815"/>
            <a:ext cx="5785596" cy="192534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F39E0589-99C5-9792-F179-17D004135A3D}"/>
              </a:ext>
            </a:extLst>
          </p:cNvPr>
          <p:cNvPicPr>
            <a:picLocks noChangeAspect="1"/>
          </p:cNvPicPr>
          <p:nvPr/>
        </p:nvPicPr>
        <p:blipFill>
          <a:blip r:embed="rId5"/>
          <a:stretch>
            <a:fillRect/>
          </a:stretch>
        </p:blipFill>
        <p:spPr>
          <a:xfrm>
            <a:off x="5948961" y="1882815"/>
            <a:ext cx="6243039" cy="194833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B30BADA0-48B1-BB6B-769F-045FA0199EDD}"/>
              </a:ext>
            </a:extLst>
          </p:cNvPr>
          <p:cNvPicPr>
            <a:picLocks noChangeAspect="1"/>
          </p:cNvPicPr>
          <p:nvPr/>
        </p:nvPicPr>
        <p:blipFill>
          <a:blip r:embed="rId6"/>
          <a:stretch>
            <a:fillRect/>
          </a:stretch>
        </p:blipFill>
        <p:spPr>
          <a:xfrm>
            <a:off x="1535060" y="4681067"/>
            <a:ext cx="8020801" cy="1692736"/>
          </a:xfrm>
          <a:prstGeom prst="rect">
            <a:avLst/>
          </a:prstGeom>
        </p:spPr>
      </p:pic>
    </p:spTree>
    <p:extLst>
      <p:ext uri="{BB962C8B-B14F-4D97-AF65-F5344CB8AC3E}">
        <p14:creationId xmlns:p14="http://schemas.microsoft.com/office/powerpoint/2010/main" val="2331404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5CB3CA50-51E7-4E88-51C7-C199F36D42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642F8F0-F19B-BD61-EDB9-15F77B76F398}"/>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F15AF8-2028-6F3E-DB51-651C213D3E01}"/>
              </a:ext>
            </a:extLst>
          </p:cNvPr>
          <p:cNvSpPr>
            <a:spLocks noGrp="1"/>
          </p:cNvSpPr>
          <p:nvPr>
            <p:ph type="title"/>
          </p:nvPr>
        </p:nvSpPr>
        <p:spPr/>
        <p:txBody>
          <a:bodyPr/>
          <a:lstStyle/>
          <a:p>
            <a:r>
              <a:rPr lang="en-US" sz="4200" dirty="0">
                <a:solidFill>
                  <a:srgbClr val="FFFFFF"/>
                </a:solidFill>
              </a:rPr>
              <a:t>Windows Server Administration </a:t>
            </a:r>
          </a:p>
        </p:txBody>
      </p:sp>
      <p:sp>
        <p:nvSpPr>
          <p:cNvPr id="7" name="Rectangle 2">
            <a:extLst>
              <a:ext uri="{FF2B5EF4-FFF2-40B4-BE49-F238E27FC236}">
                <a16:creationId xmlns:a16="http://schemas.microsoft.com/office/drawing/2014/main" id="{5CB6947D-2D4A-853C-627A-8882879B0F46}"/>
              </a:ext>
            </a:extLst>
          </p:cNvPr>
          <p:cNvSpPr>
            <a:spLocks noChangeArrowheads="1"/>
          </p:cNvSpPr>
          <p:nvPr/>
        </p:nvSpPr>
        <p:spPr bwMode="auto">
          <a:xfrm>
            <a:off x="0" y="1680898"/>
            <a:ext cx="121920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Domain Controller:</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Hostname:</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WIN-CH5K1CJCC4R</a:t>
            </a:r>
            <a:r>
              <a:rPr kumimoji="0" lang="en-US" altLang="en-US" sz="2800" b="0" i="0" u="none" strike="noStrike" cap="none" normalizeH="0" baseline="0" dirty="0">
                <a:ln>
                  <a:noFill/>
                </a:ln>
                <a:solidFill>
                  <a:schemeClr val="bg1"/>
                </a:solidFill>
                <a:effectLst/>
              </a:rPr>
              <a:t>.</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Domain:</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err="1">
                <a:ln>
                  <a:noFill/>
                </a:ln>
                <a:solidFill>
                  <a:schemeClr val="bg1"/>
                </a:solidFill>
                <a:effectLst/>
                <a:latin typeface="Arial Unicode MS" panose="020B0604020202020204" pitchFamily="34" charset="-128"/>
              </a:rPr>
              <a:t>company.local</a:t>
            </a:r>
            <a:r>
              <a:rPr kumimoji="0" lang="en-US" altLang="en-US" sz="2800" b="0" i="0" u="none" strike="noStrike" cap="none" normalizeH="0" baseline="0" dirty="0">
                <a:ln>
                  <a:noFill/>
                </a:ln>
                <a:solidFill>
                  <a:schemeClr val="bg1"/>
                </a:solidFill>
                <a:effectLst/>
              </a:rPr>
              <a:t>.</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IP Address:</a:t>
            </a:r>
            <a:r>
              <a:rPr kumimoji="0" lang="en-US" altLang="en-US" sz="2800" b="0" i="0" u="none" strike="noStrike" cap="none" normalizeH="0" baseline="0" dirty="0">
                <a:ln>
                  <a:noFill/>
                </a:ln>
                <a:solidFill>
                  <a:schemeClr val="accent2"/>
                </a:solidFill>
                <a:effectLst/>
                <a:latin typeface="Arial" panose="020B0604020202020204" pitchFamily="34" charset="0"/>
              </a:rPr>
              <a:t> </a:t>
            </a:r>
            <a:r>
              <a:rPr kumimoji="0" lang="en-US" altLang="en-US" sz="2800" b="0" i="0" u="none" strike="noStrike" cap="none" normalizeH="0" baseline="0" dirty="0">
                <a:ln>
                  <a:noFill/>
                </a:ln>
                <a:solidFill>
                  <a:schemeClr val="bg1"/>
                </a:solidFill>
                <a:effectLst/>
                <a:latin typeface="Arial Unicode MS" panose="020B0604020202020204" pitchFamily="34" charset="-128"/>
              </a:rPr>
              <a:t>192.168.60.10</a:t>
            </a:r>
            <a:r>
              <a:rPr kumimoji="0" lang="en-US" altLang="en-US" sz="2800" b="0" i="0" u="none" strike="noStrike" cap="none" normalizeH="0" baseline="0" dirty="0">
                <a:ln>
                  <a:noFill/>
                </a:ln>
                <a:solidFill>
                  <a:schemeClr val="bg1"/>
                </a:solidFill>
                <a:effectLst/>
              </a:rPr>
              <a:t> (Located in the secure Server VLAN 60)</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Arial" panose="020B0604020202020204" pitchFamily="34" charset="0"/>
              </a:rPr>
              <a:t>User Management:</a:t>
            </a:r>
            <a:r>
              <a:rPr kumimoji="0" lang="en-US" altLang="en-US" sz="2800" b="0" i="0" u="none" strike="noStrike" cap="none" normalizeH="0" baseline="0" dirty="0">
                <a:ln>
                  <a:noFill/>
                </a:ln>
                <a:solidFill>
                  <a:schemeClr val="accent2"/>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bg1"/>
                </a:solidFill>
                <a:effectLst/>
                <a:latin typeface="Arial" panose="020B0604020202020204" pitchFamily="34" charset="0"/>
              </a:rPr>
              <a:t>Centralized users created and organized into Organizational Units (OUs) matching the VLAN structure (IT, HR, Sales, etc.).</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accent2"/>
                </a:solidFill>
                <a:effectLst/>
                <a:latin typeface="Arial" panose="020B0604020202020204" pitchFamily="34" charset="0"/>
              </a:rPr>
              <a:t>Group Policy (GPO):</a:t>
            </a:r>
            <a:endParaRPr kumimoji="0" lang="en-US" altLang="en-US" sz="2800" b="0" i="0" u="none" strike="noStrike" cap="none" normalizeH="0" baseline="0" dirty="0">
              <a:ln>
                <a:noFill/>
              </a:ln>
              <a:solidFill>
                <a:schemeClr val="accent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bg1"/>
                </a:solidFill>
                <a:effectLst/>
                <a:latin typeface="Arial" panose="020B0604020202020204" pitchFamily="34" charset="0"/>
              </a:rPr>
              <a:t>Deployed </a:t>
            </a:r>
            <a:r>
              <a:rPr kumimoji="0" lang="en-US" altLang="en-US" sz="2800" b="0" i="0" u="none" strike="noStrike" cap="none" normalizeH="0" baseline="0" dirty="0">
                <a:ln>
                  <a:noFill/>
                </a:ln>
                <a:solidFill>
                  <a:schemeClr val="bg1"/>
                </a:solidFill>
                <a:effectLst/>
                <a:latin typeface="Arial Unicode MS" panose="020B0604020202020204" pitchFamily="34" charset="-128"/>
              </a:rPr>
              <a:t>Sales-Mapped-Drives</a:t>
            </a:r>
            <a:r>
              <a:rPr kumimoji="0" lang="en-US" altLang="en-US" sz="2800" b="0" i="0" u="none" strike="noStrike" cap="none" normalizeH="0" baseline="0" dirty="0">
                <a:ln>
                  <a:noFill/>
                </a:ln>
                <a:solidFill>
                  <a:schemeClr val="bg1"/>
                </a:solidFill>
                <a:effectLst/>
              </a:rPr>
              <a:t> GPO to automatically map shared network folders for authorized users upon login</a:t>
            </a:r>
            <a:r>
              <a:rPr kumimoji="0" lang="en-US" altLang="en-US" sz="2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499924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4A353EC9-C858-384D-92A2-5599BBA469F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FD49EB-6BF7-05A2-87C5-8965EE7D4901}"/>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27245C-04B7-FDDB-7D91-ABB8B5B32DFC}"/>
              </a:ext>
            </a:extLst>
          </p:cNvPr>
          <p:cNvSpPr>
            <a:spLocks noGrp="1"/>
          </p:cNvSpPr>
          <p:nvPr>
            <p:ph type="title"/>
          </p:nvPr>
        </p:nvSpPr>
        <p:spPr/>
        <p:txBody>
          <a:bodyPr>
            <a:normAutofit fontScale="90000"/>
          </a:bodyPr>
          <a:lstStyle/>
          <a:p>
            <a:r>
              <a:rPr lang="en-US" sz="4200" dirty="0">
                <a:solidFill>
                  <a:srgbClr val="FFFFFF"/>
                </a:solidFill>
              </a:rPr>
              <a:t>Cont. Windows Server Administration (Assign IP for server in its </a:t>
            </a:r>
            <a:r>
              <a:rPr lang="en-US" sz="4200" dirty="0" err="1">
                <a:solidFill>
                  <a:srgbClr val="FFFFFF"/>
                </a:solidFill>
              </a:rPr>
              <a:t>Vlan</a:t>
            </a:r>
            <a:r>
              <a:rPr lang="en-US" sz="4200" dirty="0">
                <a:solidFill>
                  <a:srgbClr val="FFFFFF"/>
                </a:solidFill>
              </a:rPr>
              <a:t> )</a:t>
            </a:r>
          </a:p>
        </p:txBody>
      </p:sp>
      <p:pic>
        <p:nvPicPr>
          <p:cNvPr id="4" name="Picture 3">
            <a:extLst>
              <a:ext uri="{FF2B5EF4-FFF2-40B4-BE49-F238E27FC236}">
                <a16:creationId xmlns:a16="http://schemas.microsoft.com/office/drawing/2014/main" id="{B95964A4-F4B8-EA94-1E78-5F1F0D391C9F}"/>
              </a:ext>
            </a:extLst>
          </p:cNvPr>
          <p:cNvPicPr/>
          <p:nvPr/>
        </p:nvPicPr>
        <p:blipFill>
          <a:blip r:embed="rId4"/>
          <a:stretch>
            <a:fillRect/>
          </a:stretch>
        </p:blipFill>
        <p:spPr>
          <a:xfrm>
            <a:off x="2364377" y="1871468"/>
            <a:ext cx="6489746" cy="5013817"/>
          </a:xfrm>
          <a:prstGeom prst="rect">
            <a:avLst/>
          </a:prstGeom>
        </p:spPr>
      </p:pic>
    </p:spTree>
    <p:extLst>
      <p:ext uri="{BB962C8B-B14F-4D97-AF65-F5344CB8AC3E}">
        <p14:creationId xmlns:p14="http://schemas.microsoft.com/office/powerpoint/2010/main" val="527564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65F97479-C110-5107-C351-BAA915D6B6B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6904AA4-8446-6E78-8A16-8434710EE53D}"/>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32EBFC-F9A2-095B-906F-B531C3910D1E}"/>
              </a:ext>
            </a:extLst>
          </p:cNvPr>
          <p:cNvSpPr>
            <a:spLocks noGrp="1"/>
          </p:cNvSpPr>
          <p:nvPr>
            <p:ph type="title"/>
          </p:nvPr>
        </p:nvSpPr>
        <p:spPr/>
        <p:txBody>
          <a:bodyPr>
            <a:normAutofit fontScale="90000"/>
          </a:bodyPr>
          <a:lstStyle/>
          <a:p>
            <a:r>
              <a:rPr lang="en-US" sz="4200" dirty="0">
                <a:solidFill>
                  <a:srgbClr val="FFFFFF"/>
                </a:solidFill>
              </a:rPr>
              <a:t>Cont. Windows Server Administration (Creating Firewall Policy)</a:t>
            </a:r>
          </a:p>
        </p:txBody>
      </p:sp>
      <p:pic>
        <p:nvPicPr>
          <p:cNvPr id="5" name="Picture 4">
            <a:extLst>
              <a:ext uri="{FF2B5EF4-FFF2-40B4-BE49-F238E27FC236}">
                <a16:creationId xmlns:a16="http://schemas.microsoft.com/office/drawing/2014/main" id="{14312B48-2F35-D6AE-DEAA-447D13B01A67}"/>
              </a:ext>
            </a:extLst>
          </p:cNvPr>
          <p:cNvPicPr/>
          <p:nvPr/>
        </p:nvPicPr>
        <p:blipFill>
          <a:blip r:embed="rId4"/>
          <a:stretch>
            <a:fillRect/>
          </a:stretch>
        </p:blipFill>
        <p:spPr>
          <a:xfrm>
            <a:off x="1" y="1867989"/>
            <a:ext cx="5826033" cy="4990011"/>
          </a:xfrm>
          <a:prstGeom prst="rect">
            <a:avLst/>
          </a:prstGeom>
        </p:spPr>
      </p:pic>
      <p:pic>
        <p:nvPicPr>
          <p:cNvPr id="6" name="Picture 5">
            <a:extLst>
              <a:ext uri="{FF2B5EF4-FFF2-40B4-BE49-F238E27FC236}">
                <a16:creationId xmlns:a16="http://schemas.microsoft.com/office/drawing/2014/main" id="{F7C39FD4-01C3-8884-7C04-E0903DE1919D}"/>
              </a:ext>
            </a:extLst>
          </p:cNvPr>
          <p:cNvPicPr/>
          <p:nvPr/>
        </p:nvPicPr>
        <p:blipFill>
          <a:blip r:embed="rId5"/>
          <a:stretch>
            <a:fillRect/>
          </a:stretch>
        </p:blipFill>
        <p:spPr>
          <a:xfrm>
            <a:off x="6095999" y="1867989"/>
            <a:ext cx="6096000" cy="4990011"/>
          </a:xfrm>
          <a:prstGeom prst="rect">
            <a:avLst/>
          </a:prstGeom>
        </p:spPr>
      </p:pic>
    </p:spTree>
    <p:extLst>
      <p:ext uri="{BB962C8B-B14F-4D97-AF65-F5344CB8AC3E}">
        <p14:creationId xmlns:p14="http://schemas.microsoft.com/office/powerpoint/2010/main" val="1070605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extLst>
              <a:ext uri="{837473B0-CC2E-450A-ABE3-18F120FF3D39}">
                <a1611:picAttrSrcUrl xmlns:a1611="http://schemas.microsoft.com/office/drawing/2016/11/main" r:id="rId3"/>
              </a:ext>
            </a:extLst>
          </a:blip>
          <a:srcRect/>
          <a:stretch>
            <a:fillRect/>
          </a:stretch>
        </a:blipFill>
        <a:effectLst/>
      </p:bgPr>
    </p:bg>
    <p:spTree>
      <p:nvGrpSpPr>
        <p:cNvPr id="1" name="">
          <a:extLst>
            <a:ext uri="{FF2B5EF4-FFF2-40B4-BE49-F238E27FC236}">
              <a16:creationId xmlns:a16="http://schemas.microsoft.com/office/drawing/2014/main" id="{9EC622AC-FA03-43F6-D135-C5E76996A66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3CD524F-CFE4-2156-8E43-46ED8C202008}"/>
              </a:ext>
            </a:extLst>
          </p:cNvPr>
          <p:cNvSpPr/>
          <p:nvPr/>
        </p:nvSpPr>
        <p:spPr>
          <a:xfrm>
            <a:off x="0" y="0"/>
            <a:ext cx="12192000" cy="6858000"/>
          </a:xfrm>
          <a:prstGeom prst="rect">
            <a:avLst/>
          </a:prstGeom>
          <a:solidFill>
            <a:schemeClr val="dk1">
              <a:alpha val="7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2470EC8-1638-29C6-30F3-6EDB840D3532}"/>
              </a:ext>
            </a:extLst>
          </p:cNvPr>
          <p:cNvSpPr>
            <a:spLocks noGrp="1"/>
          </p:cNvSpPr>
          <p:nvPr>
            <p:ph type="title"/>
          </p:nvPr>
        </p:nvSpPr>
        <p:spPr/>
        <p:txBody>
          <a:bodyPr>
            <a:normAutofit fontScale="90000"/>
          </a:bodyPr>
          <a:lstStyle/>
          <a:p>
            <a:r>
              <a:rPr lang="en-US" sz="4200" dirty="0">
                <a:solidFill>
                  <a:srgbClr val="FFFFFF"/>
                </a:solidFill>
              </a:rPr>
              <a:t>Cont. Windows Server Administration (Testing)</a:t>
            </a:r>
          </a:p>
        </p:txBody>
      </p:sp>
      <p:pic>
        <p:nvPicPr>
          <p:cNvPr id="4" name="Picture 3">
            <a:extLst>
              <a:ext uri="{FF2B5EF4-FFF2-40B4-BE49-F238E27FC236}">
                <a16:creationId xmlns:a16="http://schemas.microsoft.com/office/drawing/2014/main" id="{031508B2-9C3D-FCF8-44BE-501C152C310C}"/>
              </a:ext>
            </a:extLst>
          </p:cNvPr>
          <p:cNvPicPr/>
          <p:nvPr/>
        </p:nvPicPr>
        <p:blipFill>
          <a:blip r:embed="rId4"/>
          <a:stretch>
            <a:fillRect/>
          </a:stretch>
        </p:blipFill>
        <p:spPr>
          <a:xfrm>
            <a:off x="102083" y="2007261"/>
            <a:ext cx="5936752" cy="4850739"/>
          </a:xfrm>
          <a:prstGeom prst="rect">
            <a:avLst/>
          </a:prstGeom>
        </p:spPr>
      </p:pic>
      <p:pic>
        <p:nvPicPr>
          <p:cNvPr id="8" name="Picture 7">
            <a:extLst>
              <a:ext uri="{FF2B5EF4-FFF2-40B4-BE49-F238E27FC236}">
                <a16:creationId xmlns:a16="http://schemas.microsoft.com/office/drawing/2014/main" id="{A6D8F301-A468-EB5C-C3CC-957F407F48A7}"/>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2082" y="2007261"/>
            <a:ext cx="6127249" cy="4850739"/>
          </a:xfrm>
          <a:prstGeom prst="rect">
            <a:avLst/>
          </a:prstGeom>
        </p:spPr>
      </p:pic>
    </p:spTree>
    <p:extLst>
      <p:ext uri="{BB962C8B-B14F-4D97-AF65-F5344CB8AC3E}">
        <p14:creationId xmlns:p14="http://schemas.microsoft.com/office/powerpoint/2010/main" val="3668438183"/>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190</TotalTime>
  <Words>1374</Words>
  <Application>Microsoft Office PowerPoint</Application>
  <PresentationFormat>Widescreen</PresentationFormat>
  <Paragraphs>154</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 Unicode MS</vt:lpstr>
      <vt:lpstr>Arial</vt:lpstr>
      <vt:lpstr>Inter</vt:lpstr>
      <vt:lpstr>Inter Bold</vt:lpstr>
      <vt:lpstr>Inter Medium</vt:lpstr>
      <vt:lpstr>Neue Haas Grotesk Text Pro</vt:lpstr>
      <vt:lpstr>Open Sauce Bold</vt:lpstr>
      <vt:lpstr>VanillaVTI</vt:lpstr>
      <vt:lpstr>Enterprise Network Infrastructure &amp; VPN Solutions (HQ &amp; Branch)</vt:lpstr>
      <vt:lpstr>Project Overview &amp; Objectives</vt:lpstr>
      <vt:lpstr>What is VPN? (Concept &amp; Importance)</vt:lpstr>
      <vt:lpstr>Project Roadmap (Timeline)</vt:lpstr>
      <vt:lpstr>Network Topology &amp; Segmentation (Foundation)</vt:lpstr>
      <vt:lpstr>Cont. Network Topology &amp; Segmentation (DHCP From Fortigate)</vt:lpstr>
      <vt:lpstr>Cont. Network Topology &amp; Segmentation (Helper Address For DHCP &amp; Test)</vt:lpstr>
      <vt:lpstr>Cont. Network Topology &amp; Segmentation (Fortigate DHCP Client)</vt:lpstr>
      <vt:lpstr>Layer 2 Security (Port Security)</vt:lpstr>
      <vt:lpstr>Advanced Security (MAC Filtering)</vt:lpstr>
      <vt:lpstr>Layer 3 Security (Firewall Policies &amp; Profiles)</vt:lpstr>
      <vt:lpstr>Cont. Layer 3 Security (Firewall Policies &amp; Profiles)</vt:lpstr>
      <vt:lpstr>SSL VPN (Remote Access)</vt:lpstr>
      <vt:lpstr>IPsec VPN (Site-to-Site)</vt:lpstr>
      <vt:lpstr>PowerPoint Presentation</vt:lpstr>
      <vt:lpstr>Cont. IPsec VPN (Site-to-Site)</vt:lpstr>
      <vt:lpstr>Cont. IPsec VPN (Site-to-Site)</vt:lpstr>
      <vt:lpstr>Cont. IPsec VPN (Site-to-Site)</vt:lpstr>
      <vt:lpstr>SD-WAN Configuration</vt:lpstr>
      <vt:lpstr>Cont. SD-WAN Configuration</vt:lpstr>
      <vt:lpstr>Windows Server Administration </vt:lpstr>
      <vt:lpstr>Cont. Windows Server Administration (Assign IP for server in its Vlan )</vt:lpstr>
      <vt:lpstr>Cont. Windows Server Administration (Creating Firewall Policy)</vt:lpstr>
      <vt:lpstr>Cont. Windows Server Administration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Ahd Assem Elgohary</dc:creator>
  <cp:lastModifiedBy>Ahd Assem Elgohary</cp:lastModifiedBy>
  <cp:revision>1</cp:revision>
  <dcterms:created xsi:type="dcterms:W3CDTF">2025-12-07T16:28:33Z</dcterms:created>
  <dcterms:modified xsi:type="dcterms:W3CDTF">2025-12-07T19:38:54Z</dcterms:modified>
</cp:coreProperties>
</file>