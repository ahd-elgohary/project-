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Bold Italics" panose="020B0604020202020204" charset="0"/>
      <p:regular r:id="rId14"/>
    </p:embeddedFont>
    <p:embeddedFont>
      <p:font typeface="Inter Medium" panose="020B0604020202020204" charset="0"/>
      <p:regular r:id="rId15"/>
    </p:embeddedFont>
    <p:embeddedFont>
      <p:font typeface="Open Sauce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I4ixABzf3htVaSuYHG5Berz0eJUDAHvB/view?usp=sharing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74820" y="944497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5"/>
                </a:lnTo>
                <a:lnTo>
                  <a:pt x="0" y="48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219339" y="9397348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266" y="2910461"/>
            <a:ext cx="1658448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Psec (Internet Protocol Security)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a set of protocols used to make two remote sites ( two LAN networks) communicate as if they are on the same local network over the internet by creating an encrypted tunnel between them.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5727" y="1063943"/>
            <a:ext cx="9791077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on Fortigate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266" y="4961511"/>
            <a:ext cx="15630604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use IPsec?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use IPsec when we need to: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Connect company branches together (Site-to-Site)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Allow remote users to securely access the corporate network (Remote Access)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 sensitive data in transit, such as financial or medical information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Secure traffic traveling over the public Internet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IPsec is suitable for any scenario that requires Security (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Confidentiality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data,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Integrity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validation,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Authentication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both communicating parties 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74820" y="9258300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5"/>
                </a:lnTo>
                <a:lnTo>
                  <a:pt x="0" y="48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219339" y="9397348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5727" y="1063943"/>
            <a:ext cx="9791077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on Fortigate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1108"/>
            <a:ext cx="16963602" cy="568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IPsec is not a single protocol , it is a suite of protocols 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1) IKE (Internet Key Exchange)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Responsible for authentication, Negotiates encryption and hashing algorithms, Serves as the control channel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2) ESP (Encapsulating Security Payload)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Encrypts data, Ensures data integrity, This is the actual data channel that carries the payload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3) AH (Authentication Header)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Provides integrity only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encryption &gt;&gt; therefore, FortiGate does not use it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main focus is IKE + ESP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24567" y="2935332"/>
            <a:ext cx="14111129" cy="524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Phase 1 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 the first step in establishing an IPsec tunnel.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Its goal is to Set up a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secure channel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between the two devices for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negotiation 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before any actual traffic passes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. 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elements: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Authentication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Verifies the identity of both devices (using a pre-shared key or certificate).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Hash / Integrity: Ensures messages are not altered during exchange (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SHA-256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SHA-1).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Encryption: Protects the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exchange 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itself so no one can read it.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IKE (v 1 or v 2 ) + Mode (Main or Aggressive (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 message 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&gt;&gt; initiator , response , authentication identity))</a:t>
            </a:r>
          </a:p>
        </p:txBody>
      </p:sp>
      <p:sp>
        <p:nvSpPr>
          <p:cNvPr id="5" name="Freeform 5"/>
          <p:cNvSpPr/>
          <p:nvPr/>
        </p:nvSpPr>
        <p:spPr>
          <a:xfrm>
            <a:off x="15443839" y="4134474"/>
            <a:ext cx="2018051" cy="2018051"/>
          </a:xfrm>
          <a:custGeom>
            <a:avLst/>
            <a:gdLst/>
            <a:ahLst/>
            <a:cxnLst/>
            <a:rect l="l" t="t" r="r" b="b"/>
            <a:pathLst>
              <a:path w="2018051" h="2018051">
                <a:moveTo>
                  <a:pt x="0" y="0"/>
                </a:moveTo>
                <a:lnTo>
                  <a:pt x="2018051" y="0"/>
                </a:lnTo>
                <a:lnTo>
                  <a:pt x="2018051" y="2018052"/>
                </a:lnTo>
                <a:lnTo>
                  <a:pt x="0" y="2018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12017" y="1063943"/>
            <a:ext cx="774266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Phases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17752" y="2717800"/>
            <a:ext cx="12974847" cy="611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Phase 2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Encrypts and protects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actual traffic passes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through the tunnel 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elements: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Subnets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(Traffic Selectors): Defines which networks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(Local and Remote)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or devices can communicate through the tunnel.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Encryption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Encrypts the actual data packets ( AES-256).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Integrity: Ensures data is not tampered with (HMAC-SHA256).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PFS (Perfect Forward Secrecy): Ensures Phase 2 keys are independent, protecting past data if a key is compromised.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Keepalive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used to prevent the tunnel from going idle,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keep it continuously up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routing tables, reduce re-establishment time after small interruptions. </a:t>
            </a: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DPD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checks whether the remote peer is still alive by sending periodic probes, and if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 response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received, it marks the tunnel as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down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re-establishes it.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Freeform 5"/>
          <p:cNvSpPr/>
          <p:nvPr/>
        </p:nvSpPr>
        <p:spPr>
          <a:xfrm rot="-5400000">
            <a:off x="14373942" y="3773741"/>
            <a:ext cx="1512801" cy="1675488"/>
          </a:xfrm>
          <a:custGeom>
            <a:avLst/>
            <a:gdLst/>
            <a:ahLst/>
            <a:cxnLst/>
            <a:rect l="l" t="t" r="r" b="b"/>
            <a:pathLst>
              <a:path w="1512801" h="1675488">
                <a:moveTo>
                  <a:pt x="0" y="0"/>
                </a:moveTo>
                <a:lnTo>
                  <a:pt x="1512801" y="0"/>
                </a:lnTo>
                <a:lnTo>
                  <a:pt x="1512801" y="1675487"/>
                </a:lnTo>
                <a:lnTo>
                  <a:pt x="0" y="1675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12017" y="1063943"/>
            <a:ext cx="774266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Phases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16201243" y="3773741"/>
            <a:ext cx="1512801" cy="1675488"/>
          </a:xfrm>
          <a:custGeom>
            <a:avLst/>
            <a:gdLst/>
            <a:ahLst/>
            <a:cxnLst/>
            <a:rect l="l" t="t" r="r" b="b"/>
            <a:pathLst>
              <a:path w="1512801" h="1675488">
                <a:moveTo>
                  <a:pt x="0" y="0"/>
                </a:moveTo>
                <a:lnTo>
                  <a:pt x="1512800" y="0"/>
                </a:lnTo>
                <a:lnTo>
                  <a:pt x="1512800" y="1675487"/>
                </a:lnTo>
                <a:lnTo>
                  <a:pt x="0" y="1675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4337" y="5285963"/>
            <a:ext cx="6577725" cy="2727507"/>
          </a:xfrm>
          <a:custGeom>
            <a:avLst/>
            <a:gdLst/>
            <a:ahLst/>
            <a:cxnLst/>
            <a:rect l="l" t="t" r="r" b="b"/>
            <a:pathLst>
              <a:path w="6577725" h="2727507">
                <a:moveTo>
                  <a:pt x="0" y="0"/>
                </a:moveTo>
                <a:lnTo>
                  <a:pt x="6577725" y="0"/>
                </a:lnTo>
                <a:lnTo>
                  <a:pt x="6577725" y="2727507"/>
                </a:lnTo>
                <a:lnTo>
                  <a:pt x="0" y="2727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24" t="-11122" r="-13346" b="-182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994239" y="981075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13263" y="1063943"/>
            <a:ext cx="7179912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Types </a:t>
            </a:r>
          </a:p>
        </p:txBody>
      </p:sp>
      <p:sp>
        <p:nvSpPr>
          <p:cNvPr id="9" name="Freeform 9"/>
          <p:cNvSpPr/>
          <p:nvPr/>
        </p:nvSpPr>
        <p:spPr>
          <a:xfrm>
            <a:off x="6950662" y="5143500"/>
            <a:ext cx="5269545" cy="3070605"/>
          </a:xfrm>
          <a:custGeom>
            <a:avLst/>
            <a:gdLst/>
            <a:ahLst/>
            <a:cxnLst/>
            <a:rect l="l" t="t" r="r" b="b"/>
            <a:pathLst>
              <a:path w="5269545" h="3070605">
                <a:moveTo>
                  <a:pt x="0" y="0"/>
                </a:moveTo>
                <a:lnTo>
                  <a:pt x="5269546" y="0"/>
                </a:lnTo>
                <a:lnTo>
                  <a:pt x="5269546" y="3070605"/>
                </a:lnTo>
                <a:lnTo>
                  <a:pt x="0" y="3070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4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951275" y="3119761"/>
            <a:ext cx="4703887" cy="1301427"/>
            <a:chOff x="0" y="0"/>
            <a:chExt cx="6271849" cy="173523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271849" cy="1735236"/>
              <a:chOff x="0" y="0"/>
              <a:chExt cx="1238884" cy="3427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238884" cy="342763"/>
              </a:xfrm>
              <a:custGeom>
                <a:avLst/>
                <a:gdLst/>
                <a:ahLst/>
                <a:cxnLst/>
                <a:rect l="l" t="t" r="r" b="b"/>
                <a:pathLst>
                  <a:path w="1238884" h="342763">
                    <a:moveTo>
                      <a:pt x="82293" y="0"/>
                    </a:moveTo>
                    <a:lnTo>
                      <a:pt x="1156591" y="0"/>
                    </a:lnTo>
                    <a:cubicBezTo>
                      <a:pt x="1202040" y="0"/>
                      <a:pt x="1238884" y="36844"/>
                      <a:pt x="1238884" y="82293"/>
                    </a:cubicBezTo>
                    <a:lnTo>
                      <a:pt x="1238884" y="260470"/>
                    </a:lnTo>
                    <a:cubicBezTo>
                      <a:pt x="1238884" y="305919"/>
                      <a:pt x="1202040" y="342763"/>
                      <a:pt x="1156591" y="342763"/>
                    </a:cubicBezTo>
                    <a:lnTo>
                      <a:pt x="82293" y="342763"/>
                    </a:lnTo>
                    <a:cubicBezTo>
                      <a:pt x="36844" y="342763"/>
                      <a:pt x="0" y="305919"/>
                      <a:pt x="0" y="260470"/>
                    </a:cubicBezTo>
                    <a:lnTo>
                      <a:pt x="0" y="82293"/>
                    </a:lnTo>
                    <a:cubicBezTo>
                      <a:pt x="0" y="36844"/>
                      <a:pt x="36844" y="0"/>
                      <a:pt x="822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238884" cy="3903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48836" y="601341"/>
              <a:ext cx="5774177" cy="49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Dial-Up / Dynamic VPN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51151" y="3119761"/>
            <a:ext cx="4703887" cy="1301427"/>
            <a:chOff x="0" y="0"/>
            <a:chExt cx="6271849" cy="1735236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271849" cy="1735236"/>
              <a:chOff x="0" y="0"/>
              <a:chExt cx="1238884" cy="34276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38884" cy="342763"/>
              </a:xfrm>
              <a:custGeom>
                <a:avLst/>
                <a:gdLst/>
                <a:ahLst/>
                <a:cxnLst/>
                <a:rect l="l" t="t" r="r" b="b"/>
                <a:pathLst>
                  <a:path w="1238884" h="342763">
                    <a:moveTo>
                      <a:pt x="82293" y="0"/>
                    </a:moveTo>
                    <a:lnTo>
                      <a:pt x="1156591" y="0"/>
                    </a:lnTo>
                    <a:cubicBezTo>
                      <a:pt x="1202040" y="0"/>
                      <a:pt x="1238884" y="36844"/>
                      <a:pt x="1238884" y="82293"/>
                    </a:cubicBezTo>
                    <a:lnTo>
                      <a:pt x="1238884" y="260470"/>
                    </a:lnTo>
                    <a:cubicBezTo>
                      <a:pt x="1238884" y="305919"/>
                      <a:pt x="1202040" y="342763"/>
                      <a:pt x="1156591" y="342763"/>
                    </a:cubicBezTo>
                    <a:lnTo>
                      <a:pt x="82293" y="342763"/>
                    </a:lnTo>
                    <a:cubicBezTo>
                      <a:pt x="36844" y="342763"/>
                      <a:pt x="0" y="305919"/>
                      <a:pt x="0" y="260470"/>
                    </a:cubicBezTo>
                    <a:lnTo>
                      <a:pt x="0" y="82293"/>
                    </a:lnTo>
                    <a:cubicBezTo>
                      <a:pt x="0" y="36844"/>
                      <a:pt x="36844" y="0"/>
                      <a:pt x="822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238884" cy="3903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48836" y="601341"/>
              <a:ext cx="5774177" cy="49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Remote-Access IPsec VPN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51400" y="3119761"/>
            <a:ext cx="4703887" cy="1301427"/>
            <a:chOff x="0" y="0"/>
            <a:chExt cx="6271849" cy="1735236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271849" cy="1735236"/>
              <a:chOff x="0" y="0"/>
              <a:chExt cx="1238884" cy="34276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38884" cy="342763"/>
              </a:xfrm>
              <a:custGeom>
                <a:avLst/>
                <a:gdLst/>
                <a:ahLst/>
                <a:cxnLst/>
                <a:rect l="l" t="t" r="r" b="b"/>
                <a:pathLst>
                  <a:path w="1238884" h="342763">
                    <a:moveTo>
                      <a:pt x="82293" y="0"/>
                    </a:moveTo>
                    <a:lnTo>
                      <a:pt x="1156591" y="0"/>
                    </a:lnTo>
                    <a:cubicBezTo>
                      <a:pt x="1202040" y="0"/>
                      <a:pt x="1238884" y="36844"/>
                      <a:pt x="1238884" y="82293"/>
                    </a:cubicBezTo>
                    <a:lnTo>
                      <a:pt x="1238884" y="260470"/>
                    </a:lnTo>
                    <a:cubicBezTo>
                      <a:pt x="1238884" y="305919"/>
                      <a:pt x="1202040" y="342763"/>
                      <a:pt x="1156591" y="342763"/>
                    </a:cubicBezTo>
                    <a:lnTo>
                      <a:pt x="82293" y="342763"/>
                    </a:lnTo>
                    <a:cubicBezTo>
                      <a:pt x="36844" y="342763"/>
                      <a:pt x="0" y="305919"/>
                      <a:pt x="0" y="260470"/>
                    </a:cubicBezTo>
                    <a:lnTo>
                      <a:pt x="0" y="82293"/>
                    </a:lnTo>
                    <a:cubicBezTo>
                      <a:pt x="0" y="36844"/>
                      <a:pt x="36844" y="0"/>
                      <a:pt x="822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238884" cy="3903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48836" y="601341"/>
              <a:ext cx="5774177" cy="49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Site-to-Site VPN 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449609" y="5382266"/>
            <a:ext cx="5700836" cy="3096938"/>
          </a:xfrm>
          <a:custGeom>
            <a:avLst/>
            <a:gdLst/>
            <a:ahLst/>
            <a:cxnLst/>
            <a:rect l="l" t="t" r="r" b="b"/>
            <a:pathLst>
              <a:path w="5700836" h="3096938">
                <a:moveTo>
                  <a:pt x="0" y="0"/>
                </a:moveTo>
                <a:lnTo>
                  <a:pt x="5700836" y="0"/>
                </a:lnTo>
                <a:lnTo>
                  <a:pt x="5700836" y="3096938"/>
                </a:lnTo>
                <a:lnTo>
                  <a:pt x="0" y="3096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727" t="-3369" r="-480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31116" y="1023420"/>
            <a:ext cx="7855214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Project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6" name="Freeform 6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601200" y="2626701"/>
            <a:ext cx="8549245" cy="4542684"/>
          </a:xfrm>
          <a:custGeom>
            <a:avLst/>
            <a:gdLst/>
            <a:ahLst/>
            <a:cxnLst/>
            <a:rect l="l" t="t" r="r" b="b"/>
            <a:pathLst>
              <a:path w="8943127" h="4781980">
                <a:moveTo>
                  <a:pt x="0" y="0"/>
                </a:moveTo>
                <a:lnTo>
                  <a:pt x="8943127" y="0"/>
                </a:lnTo>
                <a:lnTo>
                  <a:pt x="8943127" y="4781980"/>
                </a:lnTo>
                <a:lnTo>
                  <a:pt x="0" y="4781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2308660"/>
            <a:ext cx="8420100" cy="3105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Site-to-Site VPN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connects two networks through encrypted IPsec tunnels.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Typical Use Case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HQ LAN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(192.168.x.x/24) ↔</a:t>
            </a:r>
            <a:r>
              <a:rPr lang="en-US" sz="2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Branch LAN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(172.16.x.x/24)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Both sites use FortiGate ( IPsec-compatible device)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8794" y="6704565"/>
            <a:ext cx="623125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Site-to-Site Configuration Steps (GUI)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8794" y="7332481"/>
            <a:ext cx="802597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dirty="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https://drive.google.com/file/d/1I4ixABzf3htVaSuYHG5Berz0eJUDAHvB/view?usp=sharing</a:t>
            </a:r>
            <a:endParaRPr lang="en-US" sz="3000" u="sng" dirty="0">
              <a:solidFill>
                <a:srgbClr val="5170FF"/>
              </a:solidFill>
              <a:latin typeface="Arimo"/>
              <a:ea typeface="Arimo"/>
              <a:cs typeface="Arimo"/>
              <a:sym typeface="Arimo"/>
              <a:hlinkClick r:id="rId5" tooltip="https://drive.google.com/file/d/1I4ixABzf3htVaSuYHG5Berz0eJUDAHvB/view?usp=shari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79565" y="3970261"/>
            <a:ext cx="8883350" cy="4890182"/>
          </a:xfrm>
          <a:custGeom>
            <a:avLst/>
            <a:gdLst/>
            <a:ahLst/>
            <a:cxnLst/>
            <a:rect l="l" t="t" r="r" b="b"/>
            <a:pathLst>
              <a:path w="8883350" h="4890182">
                <a:moveTo>
                  <a:pt x="0" y="0"/>
                </a:moveTo>
                <a:lnTo>
                  <a:pt x="8883350" y="0"/>
                </a:lnTo>
                <a:lnTo>
                  <a:pt x="8883350" y="4890182"/>
                </a:lnTo>
                <a:lnTo>
                  <a:pt x="0" y="4890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62008" y="3943496"/>
            <a:ext cx="7847437" cy="4943712"/>
          </a:xfrm>
          <a:custGeom>
            <a:avLst/>
            <a:gdLst/>
            <a:ahLst/>
            <a:cxnLst/>
            <a:rect l="l" t="t" r="r" b="b"/>
            <a:pathLst>
              <a:path w="7847437" h="4943712">
                <a:moveTo>
                  <a:pt x="0" y="0"/>
                </a:moveTo>
                <a:lnTo>
                  <a:pt x="7847437" y="0"/>
                </a:lnTo>
                <a:lnTo>
                  <a:pt x="7847437" y="4943712"/>
                </a:lnTo>
                <a:lnTo>
                  <a:pt x="0" y="4943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406" t="-31788" r="-18709" b="-7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5727" y="1063943"/>
            <a:ext cx="9791077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on Fortigate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39238" y="4936807"/>
            <a:ext cx="95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8700" y="2120583"/>
            <a:ext cx="16564095" cy="234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079"/>
              </a:lnSpc>
            </a:pPr>
            <a:endParaRPr/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1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After configuring the IPsec tunnel, we test the connection by doing two steps:</a:t>
            </a:r>
          </a:p>
          <a:p>
            <a:pPr algn="just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74979" lvl="1" indent="-237490" algn="just">
              <a:lnSpc>
                <a:spcPts val="3079"/>
              </a:lnSpc>
              <a:buAutoNum type="arabicPeriod"/>
            </a:pPr>
            <a:r>
              <a:rPr lang="en-US" sz="21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First, we send a ping from the local network to the remote network to make sure the traffic is passing through the tunnel.</a:t>
            </a:r>
          </a:p>
          <a:p>
            <a:pPr algn="just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5727" y="1063943"/>
            <a:ext cx="9791077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on Fortigate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6" name="Freeform 6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56599" y="2592341"/>
            <a:ext cx="165640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2. Then, we check the tunnel status from the FortiGate using the VPN Monitor to confirm that the tunnel is up and encrypted.</a:t>
            </a:r>
          </a:p>
        </p:txBody>
      </p:sp>
      <p:sp>
        <p:nvSpPr>
          <p:cNvPr id="8" name="Freeform 8"/>
          <p:cNvSpPr/>
          <p:nvPr/>
        </p:nvSpPr>
        <p:spPr>
          <a:xfrm>
            <a:off x="1485801" y="6018417"/>
            <a:ext cx="16134893" cy="2323271"/>
          </a:xfrm>
          <a:custGeom>
            <a:avLst/>
            <a:gdLst/>
            <a:ahLst/>
            <a:cxnLst/>
            <a:rect l="l" t="t" r="r" b="b"/>
            <a:pathLst>
              <a:path w="16134893" h="2323271">
                <a:moveTo>
                  <a:pt x="0" y="0"/>
                </a:moveTo>
                <a:lnTo>
                  <a:pt x="16134893" y="0"/>
                </a:lnTo>
                <a:lnTo>
                  <a:pt x="16134893" y="2323271"/>
                </a:lnTo>
                <a:lnTo>
                  <a:pt x="0" y="2323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4" t="-43374" r="-7856" b="-1929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66155" y="3196226"/>
            <a:ext cx="16154539" cy="2422141"/>
          </a:xfrm>
          <a:custGeom>
            <a:avLst/>
            <a:gdLst/>
            <a:ahLst/>
            <a:cxnLst/>
            <a:rect l="l" t="t" r="r" b="b"/>
            <a:pathLst>
              <a:path w="16154539" h="2422141">
                <a:moveTo>
                  <a:pt x="0" y="0"/>
                </a:moveTo>
                <a:lnTo>
                  <a:pt x="16154539" y="0"/>
                </a:lnTo>
                <a:lnTo>
                  <a:pt x="16154539" y="2422141"/>
                </a:lnTo>
                <a:lnTo>
                  <a:pt x="0" y="2422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565" t="-65615" r="-11727" b="-1399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20" y="9467483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03094" y="305507"/>
            <a:ext cx="3047351" cy="482035"/>
          </a:xfrm>
          <a:custGeom>
            <a:avLst/>
            <a:gdLst/>
            <a:ahLst/>
            <a:cxnLst/>
            <a:rect l="l" t="t" r="r" b="b"/>
            <a:pathLst>
              <a:path w="3047351" h="482035">
                <a:moveTo>
                  <a:pt x="0" y="0"/>
                </a:moveTo>
                <a:lnTo>
                  <a:pt x="3047351" y="0"/>
                </a:lnTo>
                <a:lnTo>
                  <a:pt x="3047351" y="482036"/>
                </a:lnTo>
                <a:lnTo>
                  <a:pt x="0" y="48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8778" y="2745612"/>
            <a:ext cx="18150445" cy="2609126"/>
          </a:xfrm>
          <a:custGeom>
            <a:avLst/>
            <a:gdLst/>
            <a:ahLst/>
            <a:cxnLst/>
            <a:rect l="l" t="t" r="r" b="b"/>
            <a:pathLst>
              <a:path w="18150445" h="2609126">
                <a:moveTo>
                  <a:pt x="0" y="0"/>
                </a:moveTo>
                <a:lnTo>
                  <a:pt x="18150444" y="0"/>
                </a:lnTo>
                <a:lnTo>
                  <a:pt x="18150444" y="2609127"/>
                </a:lnTo>
                <a:lnTo>
                  <a:pt x="0" y="2609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6196829" y="9342741"/>
            <a:ext cx="126506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5727" y="1063943"/>
            <a:ext cx="9791077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C2E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IPSEC VPN on Fortigate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233959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Malak Khaled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1435" y="5894044"/>
            <a:ext cx="8652565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Common Troubleshooting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“No matching proposal” &gt;&gt; Phase1/Phase2 mismatch</a:t>
            </a: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“Authentication failed” &gt;&gt; wrong PSK or peer ID</a:t>
            </a: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traffic &gt;&gt; missing firewall policy or route</a:t>
            </a:r>
          </a:p>
          <a:p>
            <a:pPr marL="539748" lvl="1" indent="-269874" algn="just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NAT issues &gt;&gt; enable/force NAT-T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6310" y="6042227"/>
            <a:ext cx="6300987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1) Check if the IPsec tunnel is Up/Down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diagnose vpn tunnel list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2) Enable VPN debug logs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diagnose debug application ike -1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diagnose debug enable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737</Words>
  <Application>Microsoft Office PowerPoint</Application>
  <PresentationFormat>Custom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Open Sauce Bold</vt:lpstr>
      <vt:lpstr>Arial</vt:lpstr>
      <vt:lpstr>Arimo</vt:lpstr>
      <vt:lpstr>Calibri</vt:lpstr>
      <vt:lpstr>Inter Medium</vt:lpstr>
      <vt:lpstr>Inter Bold Italics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1</dc:title>
  <dc:creator>pc</dc:creator>
  <cp:lastModifiedBy>ملك خالد حمدي محمد مرعي</cp:lastModifiedBy>
  <cp:revision>3</cp:revision>
  <dcterms:created xsi:type="dcterms:W3CDTF">2006-08-16T00:00:00Z</dcterms:created>
  <dcterms:modified xsi:type="dcterms:W3CDTF">2025-12-03T15:45:27Z</dcterms:modified>
  <dc:identifier>DAG6XiokXAI</dc:identifier>
</cp:coreProperties>
</file>