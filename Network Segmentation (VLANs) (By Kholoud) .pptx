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charset="1" panose="020B0502030000000004"/>
      <p:regular r:id="rId16"/>
    </p:embeddedFont>
    <p:embeddedFont>
      <p:font typeface="Inter Bold" charset="1" panose="020B080203000000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5925348" y="6550670"/>
            <a:ext cx="6437303" cy="1448896"/>
            <a:chOff x="0" y="0"/>
            <a:chExt cx="1695421" cy="381602"/>
          </a:xfrm>
        </p:grpSpPr>
        <p:sp>
          <p:nvSpPr>
            <p:cNvPr name="Freeform 6" id="6"/>
            <p:cNvSpPr/>
            <p:nvPr/>
          </p:nvSpPr>
          <p:spPr>
            <a:xfrm flipH="false" flipV="false" rot="0">
              <a:off x="0" y="0"/>
              <a:ext cx="1695421" cy="381602"/>
            </a:xfrm>
            <a:custGeom>
              <a:avLst/>
              <a:gdLst/>
              <a:ahLst/>
              <a:cxnLst/>
              <a:rect r="r" b="b" t="t" l="l"/>
              <a:pathLst>
                <a:path h="381602" w="1695421">
                  <a:moveTo>
                    <a:pt x="104632" y="0"/>
                  </a:moveTo>
                  <a:lnTo>
                    <a:pt x="1590789" y="0"/>
                  </a:lnTo>
                  <a:cubicBezTo>
                    <a:pt x="1648576" y="0"/>
                    <a:pt x="1695421" y="46845"/>
                    <a:pt x="1695421" y="104632"/>
                  </a:cubicBezTo>
                  <a:lnTo>
                    <a:pt x="1695421" y="276970"/>
                  </a:lnTo>
                  <a:cubicBezTo>
                    <a:pt x="1695421" y="334757"/>
                    <a:pt x="1648576" y="381602"/>
                    <a:pt x="1590789" y="381602"/>
                  </a:cubicBezTo>
                  <a:lnTo>
                    <a:pt x="104632" y="381602"/>
                  </a:lnTo>
                  <a:cubicBezTo>
                    <a:pt x="46845" y="381602"/>
                    <a:pt x="0" y="334757"/>
                    <a:pt x="0" y="276970"/>
                  </a:cubicBezTo>
                  <a:lnTo>
                    <a:pt x="0" y="104632"/>
                  </a:lnTo>
                  <a:cubicBezTo>
                    <a:pt x="0" y="46845"/>
                    <a:pt x="46845" y="0"/>
                    <a:pt x="104632"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76200"/>
              <a:ext cx="1695421" cy="457802"/>
            </a:xfrm>
            <a:prstGeom prst="rect">
              <a:avLst/>
            </a:prstGeom>
          </p:spPr>
          <p:txBody>
            <a:bodyPr anchor="ctr" rtlCol="false" tIns="50800" lIns="50800" bIns="50800" rIns="50800"/>
            <a:lstStyle/>
            <a:p>
              <a:pPr algn="ctr">
                <a:lnSpc>
                  <a:spcPts val="4759"/>
                </a:lnSpc>
              </a:pPr>
              <a:r>
                <a:rPr lang="en-US" sz="3399">
                  <a:solidFill>
                    <a:srgbClr val="FFFFFF"/>
                  </a:solidFill>
                  <a:latin typeface="Inter"/>
                  <a:ea typeface="Inter"/>
                  <a:cs typeface="Inter"/>
                  <a:sym typeface="Inter"/>
                </a:rPr>
                <a:t>Presented by: </a:t>
              </a:r>
            </a:p>
            <a:p>
              <a:pPr algn="ctr">
                <a:lnSpc>
                  <a:spcPts val="4759"/>
                </a:lnSpc>
              </a:pPr>
              <a:r>
                <a:rPr lang="en-US" sz="3399">
                  <a:solidFill>
                    <a:srgbClr val="FFFFFF"/>
                  </a:solidFill>
                  <a:latin typeface="Inter"/>
                  <a:ea typeface="Inter"/>
                  <a:cs typeface="Inter"/>
                  <a:sym typeface="Inter"/>
                </a:rPr>
                <a:t>Kholoud Elsokkary</a:t>
              </a:r>
            </a:p>
          </p:txBody>
        </p:sp>
      </p:grpSp>
      <p:grpSp>
        <p:nvGrpSpPr>
          <p:cNvPr name="Group 8" id="8"/>
          <p:cNvGrpSpPr/>
          <p:nvPr/>
        </p:nvGrpSpPr>
        <p:grpSpPr>
          <a:xfrm rot="-9378291">
            <a:off x="14710706" y="6781997"/>
            <a:ext cx="6203238" cy="620323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gradFill>
                <a:gsLst>
                  <a:gs pos="0">
                    <a:srgbClr val="004AAD">
                      <a:alpha val="100000"/>
                    </a:srgbClr>
                  </a:gs>
                  <a:gs pos="100000">
                    <a:srgbClr val="5DE0E6">
                      <a:alpha val="100000"/>
                    </a:srgbClr>
                  </a:gs>
                </a:gsLst>
                <a:lin ang="0"/>
              </a:gradFill>
              <a:prstDash val="solid"/>
              <a:miter/>
            </a:ln>
          </p:spPr>
        </p:sp>
        <p:sp>
          <p:nvSpPr>
            <p:cNvPr name="TextBox 10" id="10"/>
            <p:cNvSpPr txBox="true"/>
            <p:nvPr/>
          </p:nvSpPr>
          <p:spPr>
            <a:xfrm>
              <a:off x="76200" y="28575"/>
              <a:ext cx="660400" cy="708025"/>
            </a:xfrm>
            <a:prstGeom prst="rect">
              <a:avLst/>
            </a:prstGeom>
          </p:spPr>
          <p:txBody>
            <a:bodyPr anchor="ctr" rtlCol="false" tIns="81782" lIns="81782" bIns="81782" rIns="81782"/>
            <a:lstStyle/>
            <a:p>
              <a:pPr algn="ctr">
                <a:lnSpc>
                  <a:spcPts val="3360"/>
                </a:lnSpc>
              </a:pPr>
            </a:p>
          </p:txBody>
        </p:sp>
      </p:grpSp>
      <p:grpSp>
        <p:nvGrpSpPr>
          <p:cNvPr name="Group 11" id="11"/>
          <p:cNvGrpSpPr/>
          <p:nvPr/>
        </p:nvGrpSpPr>
        <p:grpSpPr>
          <a:xfrm rot="0">
            <a:off x="15328200" y="7399491"/>
            <a:ext cx="4968251" cy="4968251"/>
            <a:chOff x="0" y="0"/>
            <a:chExt cx="6624335" cy="6624335"/>
          </a:xfrm>
        </p:grpSpPr>
        <p:grpSp>
          <p:nvGrpSpPr>
            <p:cNvPr name="Group 12" id="12"/>
            <p:cNvGrpSpPr/>
            <p:nvPr/>
          </p:nvGrpSpPr>
          <p:grpSpPr>
            <a:xfrm rot="0">
              <a:off x="0" y="0"/>
              <a:ext cx="6624335" cy="662433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4AAD">
                      <a:alpha val="100000"/>
                    </a:srgbClr>
                  </a:gs>
                  <a:gs pos="100000">
                    <a:srgbClr val="5DE0E6">
                      <a:alpha val="100000"/>
                    </a:srgbClr>
                  </a:gs>
                </a:gsLst>
                <a:lin ang="0"/>
              </a:gra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5" id="15"/>
            <p:cNvGrpSpPr/>
            <p:nvPr/>
          </p:nvGrpSpPr>
          <p:grpSpPr>
            <a:xfrm rot="0">
              <a:off x="347536" y="347536"/>
              <a:ext cx="5929263" cy="592926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grpSp>
        <p:nvGrpSpPr>
          <p:cNvPr name="Group 18" id="18"/>
          <p:cNvGrpSpPr/>
          <p:nvPr/>
        </p:nvGrpSpPr>
        <p:grpSpPr>
          <a:xfrm rot="-9378291">
            <a:off x="-2579987" y="-2714657"/>
            <a:ext cx="6203238" cy="620323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gradFill>
                <a:gsLst>
                  <a:gs pos="0">
                    <a:srgbClr val="004AAD">
                      <a:alpha val="100000"/>
                    </a:srgbClr>
                  </a:gs>
                  <a:gs pos="100000">
                    <a:srgbClr val="5DE0E6">
                      <a:alpha val="100000"/>
                    </a:srgbClr>
                  </a:gs>
                </a:gsLst>
                <a:lin ang="0"/>
              </a:gradFill>
              <a:prstDash val="solid"/>
              <a:miter/>
            </a:ln>
          </p:spPr>
        </p:sp>
        <p:sp>
          <p:nvSpPr>
            <p:cNvPr name="TextBox 20" id="20"/>
            <p:cNvSpPr txBox="true"/>
            <p:nvPr/>
          </p:nvSpPr>
          <p:spPr>
            <a:xfrm>
              <a:off x="76200" y="28575"/>
              <a:ext cx="660400" cy="708025"/>
            </a:xfrm>
            <a:prstGeom prst="rect">
              <a:avLst/>
            </a:prstGeom>
          </p:spPr>
          <p:txBody>
            <a:bodyPr anchor="ctr" rtlCol="false" tIns="81782" lIns="81782" bIns="81782" rIns="81782"/>
            <a:lstStyle/>
            <a:p>
              <a:pPr algn="ctr">
                <a:lnSpc>
                  <a:spcPts val="3360"/>
                </a:lnSpc>
              </a:pPr>
            </a:p>
          </p:txBody>
        </p:sp>
      </p:grpSp>
      <p:grpSp>
        <p:nvGrpSpPr>
          <p:cNvPr name="Group 21" id="21"/>
          <p:cNvGrpSpPr/>
          <p:nvPr/>
        </p:nvGrpSpPr>
        <p:grpSpPr>
          <a:xfrm rot="0">
            <a:off x="-1962493" y="-2097163"/>
            <a:ext cx="4968251" cy="4968251"/>
            <a:chOff x="0" y="0"/>
            <a:chExt cx="6624335" cy="6624335"/>
          </a:xfrm>
        </p:grpSpPr>
        <p:grpSp>
          <p:nvGrpSpPr>
            <p:cNvPr name="Group 22" id="22"/>
            <p:cNvGrpSpPr/>
            <p:nvPr/>
          </p:nvGrpSpPr>
          <p:grpSpPr>
            <a:xfrm rot="0">
              <a:off x="0" y="0"/>
              <a:ext cx="6624335" cy="662433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4AAD">
                      <a:alpha val="100000"/>
                    </a:srgbClr>
                  </a:gs>
                  <a:gs pos="100000">
                    <a:srgbClr val="5DE0E6">
                      <a:alpha val="100000"/>
                    </a:srgbClr>
                  </a:gs>
                </a:gsLst>
                <a:lin ang="0"/>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25" id="25"/>
            <p:cNvGrpSpPr/>
            <p:nvPr/>
          </p:nvGrpSpPr>
          <p:grpSpPr>
            <a:xfrm rot="0">
              <a:off x="347536" y="347536"/>
              <a:ext cx="5929263" cy="592926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sp>
        <p:nvSpPr>
          <p:cNvPr name="TextBox 28" id="28"/>
          <p:cNvSpPr txBox="true"/>
          <p:nvPr/>
        </p:nvSpPr>
        <p:spPr>
          <a:xfrm rot="0">
            <a:off x="2442897" y="2848118"/>
            <a:ext cx="14212871" cy="2768576"/>
          </a:xfrm>
          <a:prstGeom prst="rect">
            <a:avLst/>
          </a:prstGeom>
        </p:spPr>
        <p:txBody>
          <a:bodyPr anchor="t" rtlCol="false" tIns="0" lIns="0" bIns="0" rIns="0">
            <a:spAutoFit/>
          </a:bodyPr>
          <a:lstStyle/>
          <a:p>
            <a:pPr algn="ctr">
              <a:lnSpc>
                <a:spcPts val="7063"/>
              </a:lnSpc>
            </a:pPr>
            <a:r>
              <a:rPr lang="en-US" b="true" sz="7677" spc="-414">
                <a:solidFill>
                  <a:srgbClr val="FFFFFF"/>
                </a:solidFill>
                <a:latin typeface="Inter Bold"/>
                <a:ea typeface="Inter Bold"/>
                <a:cs typeface="Inter Bold"/>
                <a:sym typeface="Inter Bold"/>
              </a:rPr>
              <a:t>Implementing VPN Solutions with FortiGate – Network Segmentation (VLANs)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11579423" y="1192065"/>
            <a:ext cx="5679877" cy="7902869"/>
            <a:chOff x="0" y="0"/>
            <a:chExt cx="390280" cy="543028"/>
          </a:xfrm>
        </p:grpSpPr>
        <p:sp>
          <p:nvSpPr>
            <p:cNvPr name="Freeform 6" id="6"/>
            <p:cNvSpPr/>
            <p:nvPr/>
          </p:nvSpPr>
          <p:spPr>
            <a:xfrm flipH="false" flipV="false" rot="0">
              <a:off x="0" y="0"/>
              <a:ext cx="390280" cy="543028"/>
            </a:xfrm>
            <a:custGeom>
              <a:avLst/>
              <a:gdLst/>
              <a:ahLst/>
              <a:cxnLst/>
              <a:rect r="r" b="b" t="t" l="l"/>
              <a:pathLst>
                <a:path h="543028" w="390280">
                  <a:moveTo>
                    <a:pt x="136304" y="0"/>
                  </a:moveTo>
                  <a:lnTo>
                    <a:pt x="253975" y="0"/>
                  </a:lnTo>
                  <a:cubicBezTo>
                    <a:pt x="290126" y="0"/>
                    <a:pt x="324795" y="14361"/>
                    <a:pt x="350357" y="39923"/>
                  </a:cubicBezTo>
                  <a:cubicBezTo>
                    <a:pt x="375919" y="65485"/>
                    <a:pt x="390280" y="100154"/>
                    <a:pt x="390280" y="136304"/>
                  </a:cubicBezTo>
                  <a:lnTo>
                    <a:pt x="390280" y="406723"/>
                  </a:lnTo>
                  <a:cubicBezTo>
                    <a:pt x="390280" y="442873"/>
                    <a:pt x="375919" y="477543"/>
                    <a:pt x="350357" y="503105"/>
                  </a:cubicBezTo>
                  <a:cubicBezTo>
                    <a:pt x="324795" y="528667"/>
                    <a:pt x="290126" y="543028"/>
                    <a:pt x="253975" y="543028"/>
                  </a:cubicBezTo>
                  <a:lnTo>
                    <a:pt x="136304" y="543028"/>
                  </a:lnTo>
                  <a:cubicBezTo>
                    <a:pt x="100154" y="543028"/>
                    <a:pt x="65485" y="528667"/>
                    <a:pt x="39923" y="503105"/>
                  </a:cubicBezTo>
                  <a:cubicBezTo>
                    <a:pt x="14361" y="477543"/>
                    <a:pt x="0" y="442873"/>
                    <a:pt x="0" y="406723"/>
                  </a:cubicBezTo>
                  <a:lnTo>
                    <a:pt x="0" y="136304"/>
                  </a:lnTo>
                  <a:cubicBezTo>
                    <a:pt x="0" y="100154"/>
                    <a:pt x="14361" y="65485"/>
                    <a:pt x="39923" y="39923"/>
                  </a:cubicBezTo>
                  <a:cubicBezTo>
                    <a:pt x="65485" y="14361"/>
                    <a:pt x="100154" y="0"/>
                    <a:pt x="136304" y="0"/>
                  </a:cubicBez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47625"/>
              <a:ext cx="390280" cy="590653"/>
            </a:xfrm>
            <a:prstGeom prst="rect">
              <a:avLst/>
            </a:prstGeom>
          </p:spPr>
          <p:txBody>
            <a:bodyPr anchor="ctr" rtlCol="false" tIns="63943" lIns="63943" bIns="63943" rIns="63943"/>
            <a:lstStyle/>
            <a:p>
              <a:pPr algn="ctr">
                <a:lnSpc>
                  <a:spcPts val="3359"/>
                </a:lnSpc>
              </a:pPr>
            </a:p>
          </p:txBody>
        </p:sp>
      </p:grpSp>
      <p:grpSp>
        <p:nvGrpSpPr>
          <p:cNvPr name="Group 8" id="8"/>
          <p:cNvGrpSpPr/>
          <p:nvPr/>
        </p:nvGrpSpPr>
        <p:grpSpPr>
          <a:xfrm rot="0">
            <a:off x="11579423" y="413957"/>
            <a:ext cx="6356788" cy="9459086"/>
            <a:chOff x="0" y="0"/>
            <a:chExt cx="883819" cy="1315149"/>
          </a:xfrm>
        </p:grpSpPr>
        <p:sp>
          <p:nvSpPr>
            <p:cNvPr name="Freeform 9" id="9"/>
            <p:cNvSpPr/>
            <p:nvPr/>
          </p:nvSpPr>
          <p:spPr>
            <a:xfrm flipH="false" flipV="false" rot="0">
              <a:off x="0" y="0"/>
              <a:ext cx="883820" cy="1315149"/>
            </a:xfrm>
            <a:custGeom>
              <a:avLst/>
              <a:gdLst/>
              <a:ahLst/>
              <a:cxnLst/>
              <a:rect r="r" b="b" t="t" l="l"/>
              <a:pathLst>
                <a:path h="1315149" w="883820">
                  <a:moveTo>
                    <a:pt x="121790" y="0"/>
                  </a:moveTo>
                  <a:lnTo>
                    <a:pt x="762030" y="0"/>
                  </a:lnTo>
                  <a:cubicBezTo>
                    <a:pt x="829292" y="0"/>
                    <a:pt x="883820" y="54527"/>
                    <a:pt x="883820" y="121790"/>
                  </a:cubicBezTo>
                  <a:lnTo>
                    <a:pt x="883820" y="1193359"/>
                  </a:lnTo>
                  <a:cubicBezTo>
                    <a:pt x="883820" y="1260622"/>
                    <a:pt x="829292" y="1315149"/>
                    <a:pt x="762030" y="1315149"/>
                  </a:cubicBezTo>
                  <a:lnTo>
                    <a:pt x="121790" y="1315149"/>
                  </a:lnTo>
                  <a:cubicBezTo>
                    <a:pt x="54527" y="1315149"/>
                    <a:pt x="0" y="1260622"/>
                    <a:pt x="0" y="1193359"/>
                  </a:cubicBezTo>
                  <a:lnTo>
                    <a:pt x="0" y="121790"/>
                  </a:lnTo>
                  <a:cubicBezTo>
                    <a:pt x="0" y="54527"/>
                    <a:pt x="54527" y="0"/>
                    <a:pt x="121790" y="0"/>
                  </a:cubicBezTo>
                  <a:close/>
                </a:path>
              </a:pathLst>
            </a:custGeom>
            <a:blipFill>
              <a:blip r:embed="rId2"/>
              <a:stretch>
                <a:fillRect l="0" t="-45696" r="0" b="-45629"/>
              </a:stretch>
            </a:blipFill>
            <a:ln w="104775" cap="rnd">
              <a:gradFill>
                <a:gsLst>
                  <a:gs pos="0">
                    <a:srgbClr val="004AAD">
                      <a:alpha val="100000"/>
                    </a:srgbClr>
                  </a:gs>
                  <a:gs pos="100000">
                    <a:srgbClr val="5DE0E6">
                      <a:alpha val="100000"/>
                    </a:srgbClr>
                  </a:gs>
                </a:gsLst>
                <a:lin ang="0"/>
              </a:gradFill>
              <a:prstDash val="solid"/>
              <a:round/>
            </a:ln>
          </p:spPr>
        </p:sp>
      </p:grpSp>
      <p:sp>
        <p:nvSpPr>
          <p:cNvPr name="TextBox 10" id="10"/>
          <p:cNvSpPr txBox="true"/>
          <p:nvPr/>
        </p:nvSpPr>
        <p:spPr>
          <a:xfrm rot="0">
            <a:off x="1028700" y="2086743"/>
            <a:ext cx="9768409" cy="995301"/>
          </a:xfrm>
          <a:prstGeom prst="rect">
            <a:avLst/>
          </a:prstGeom>
        </p:spPr>
        <p:txBody>
          <a:bodyPr anchor="t" rtlCol="false" tIns="0" lIns="0" bIns="0" rIns="0">
            <a:spAutoFit/>
          </a:bodyPr>
          <a:lstStyle/>
          <a:p>
            <a:pPr algn="l">
              <a:lnSpc>
                <a:spcPts val="7268"/>
              </a:lnSpc>
            </a:pPr>
            <a:r>
              <a:rPr lang="en-US" b="true" sz="7900" spc="-426">
                <a:solidFill>
                  <a:srgbClr val="FFFFFF"/>
                </a:solidFill>
                <a:latin typeface="Inter Bold"/>
                <a:ea typeface="Inter Bold"/>
                <a:cs typeface="Inter Bold"/>
                <a:sym typeface="Inter Bold"/>
              </a:rPr>
              <a:t>PROJECT OVERVIEW</a:t>
            </a:r>
          </a:p>
        </p:txBody>
      </p:sp>
      <p:sp>
        <p:nvSpPr>
          <p:cNvPr name="TextBox 11" id="11"/>
          <p:cNvSpPr txBox="true"/>
          <p:nvPr/>
        </p:nvSpPr>
        <p:spPr>
          <a:xfrm rot="0">
            <a:off x="618959" y="4027140"/>
            <a:ext cx="10738125" cy="5010287"/>
          </a:xfrm>
          <a:prstGeom prst="rect">
            <a:avLst/>
          </a:prstGeom>
        </p:spPr>
        <p:txBody>
          <a:bodyPr anchor="t" rtlCol="false" tIns="0" lIns="0" bIns="0" rIns="0">
            <a:spAutoFit/>
          </a:bodyPr>
          <a:lstStyle/>
          <a:p>
            <a:pPr algn="just">
              <a:lnSpc>
                <a:spcPts val="3667"/>
              </a:lnSpc>
            </a:pPr>
            <a:r>
              <a:rPr lang="en-US" sz="2619">
                <a:solidFill>
                  <a:srgbClr val="FFFFFF"/>
                </a:solidFill>
                <a:latin typeface="Inter"/>
                <a:ea typeface="Inter"/>
                <a:cs typeface="Inter"/>
                <a:sym typeface="Inter"/>
              </a:rPr>
              <a:t>“Our project focuses on designing and implementing secure VPN solutions using FortiGate firewalls. Over four weeks, we worked on SSL VPN, IPsec VPN tunnels, and finally optimized the traffic using Fortinet SD-WAN.</a:t>
            </a:r>
          </a:p>
          <a:p>
            <a:pPr algn="just">
              <a:lnSpc>
                <a:spcPts val="3667"/>
              </a:lnSpc>
              <a:spcBef>
                <a:spcPct val="0"/>
              </a:spcBef>
            </a:pPr>
            <a:r>
              <a:rPr lang="en-US" sz="2619">
                <a:solidFill>
                  <a:srgbClr val="FFFFFF"/>
                </a:solidFill>
                <a:latin typeface="Inter"/>
                <a:ea typeface="Inter"/>
                <a:cs typeface="Inter"/>
                <a:sym typeface="Inter"/>
              </a:rPr>
              <a:t>Before building any VPN solution, the network must be well-structured, segmented, and ready for routing. My part of the project was to prepare this internal network, create VLAN segmentation, configure Layer 2 switching, and ensure proper communication with the FortiGate firewall. This segmentation became the foundation that allowed us to apply firewall policies and build VPN connections in the next stages.”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9027234" y="1557849"/>
            <a:ext cx="7380448" cy="848821"/>
            <a:chOff x="0" y="0"/>
            <a:chExt cx="1943822" cy="223558"/>
          </a:xfrm>
        </p:grpSpPr>
        <p:sp>
          <p:nvSpPr>
            <p:cNvPr name="Freeform 6" id="6"/>
            <p:cNvSpPr/>
            <p:nvPr/>
          </p:nvSpPr>
          <p:spPr>
            <a:xfrm flipH="false" flipV="false" rot="0">
              <a:off x="0" y="0"/>
              <a:ext cx="1943822" cy="223558"/>
            </a:xfrm>
            <a:custGeom>
              <a:avLst/>
              <a:gdLst/>
              <a:ahLst/>
              <a:cxnLst/>
              <a:rect r="r" b="b" t="t" l="l"/>
              <a:pathLst>
                <a:path h="223558" w="1943822">
                  <a:moveTo>
                    <a:pt x="91261" y="0"/>
                  </a:moveTo>
                  <a:lnTo>
                    <a:pt x="1852561" y="0"/>
                  </a:lnTo>
                  <a:cubicBezTo>
                    <a:pt x="1902963" y="0"/>
                    <a:pt x="1943822" y="40859"/>
                    <a:pt x="1943822" y="91261"/>
                  </a:cubicBezTo>
                  <a:lnTo>
                    <a:pt x="1943822" y="132297"/>
                  </a:lnTo>
                  <a:cubicBezTo>
                    <a:pt x="1943822" y="182699"/>
                    <a:pt x="1902963" y="223558"/>
                    <a:pt x="1852561" y="223558"/>
                  </a:cubicBezTo>
                  <a:lnTo>
                    <a:pt x="91261" y="223558"/>
                  </a:lnTo>
                  <a:cubicBezTo>
                    <a:pt x="40859" y="223558"/>
                    <a:pt x="0" y="182699"/>
                    <a:pt x="0" y="132297"/>
                  </a:cubicBezTo>
                  <a:lnTo>
                    <a:pt x="0" y="91261"/>
                  </a:lnTo>
                  <a:cubicBezTo>
                    <a:pt x="0" y="40859"/>
                    <a:pt x="40859" y="0"/>
                    <a:pt x="91261"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66675"/>
              <a:ext cx="1943822" cy="290233"/>
            </a:xfrm>
            <a:prstGeom prst="rect">
              <a:avLst/>
            </a:prstGeom>
          </p:spPr>
          <p:txBody>
            <a:bodyPr anchor="ctr" rtlCol="false" tIns="50800" lIns="50800" bIns="50800" rIns="50800"/>
            <a:lstStyle/>
            <a:p>
              <a:pPr algn="ctr">
                <a:lnSpc>
                  <a:spcPts val="3919"/>
                </a:lnSpc>
              </a:pPr>
              <a:r>
                <a:rPr lang="en-US" sz="2799">
                  <a:solidFill>
                    <a:srgbClr val="FFFFFF"/>
                  </a:solidFill>
                  <a:latin typeface="Inter"/>
                  <a:ea typeface="Inter"/>
                  <a:cs typeface="Inter"/>
                  <a:sym typeface="Inter"/>
                </a:rPr>
                <a:t>Network Segmentation and VLAN Setup</a:t>
              </a:r>
            </a:p>
          </p:txBody>
        </p:sp>
      </p:grpSp>
      <p:grpSp>
        <p:nvGrpSpPr>
          <p:cNvPr name="Group 8" id="8"/>
          <p:cNvGrpSpPr/>
          <p:nvPr/>
        </p:nvGrpSpPr>
        <p:grpSpPr>
          <a:xfrm rot="0">
            <a:off x="1028700" y="5406459"/>
            <a:ext cx="16230600" cy="3688475"/>
            <a:chOff x="0" y="0"/>
            <a:chExt cx="1115249" cy="253445"/>
          </a:xfrm>
        </p:grpSpPr>
        <p:sp>
          <p:nvSpPr>
            <p:cNvPr name="Freeform 9" id="9"/>
            <p:cNvSpPr/>
            <p:nvPr/>
          </p:nvSpPr>
          <p:spPr>
            <a:xfrm flipH="false" flipV="false" rot="0">
              <a:off x="0" y="0"/>
              <a:ext cx="1115249" cy="253445"/>
            </a:xfrm>
            <a:custGeom>
              <a:avLst/>
              <a:gdLst/>
              <a:ahLst/>
              <a:cxnLst/>
              <a:rect r="r" b="b" t="t" l="l"/>
              <a:pathLst>
                <a:path h="253445" w="1115249">
                  <a:moveTo>
                    <a:pt x="47700" y="0"/>
                  </a:moveTo>
                  <a:lnTo>
                    <a:pt x="1067549" y="0"/>
                  </a:lnTo>
                  <a:cubicBezTo>
                    <a:pt x="1080200" y="0"/>
                    <a:pt x="1092333" y="5025"/>
                    <a:pt x="1101278" y="13971"/>
                  </a:cubicBezTo>
                  <a:cubicBezTo>
                    <a:pt x="1110223" y="22916"/>
                    <a:pt x="1115249" y="35049"/>
                    <a:pt x="1115249" y="47700"/>
                  </a:cubicBezTo>
                  <a:lnTo>
                    <a:pt x="1115249" y="205746"/>
                  </a:lnTo>
                  <a:cubicBezTo>
                    <a:pt x="1115249" y="218396"/>
                    <a:pt x="1110223" y="230529"/>
                    <a:pt x="1101278" y="239474"/>
                  </a:cubicBezTo>
                  <a:cubicBezTo>
                    <a:pt x="1092333" y="248420"/>
                    <a:pt x="1080200" y="253445"/>
                    <a:pt x="1067549" y="253445"/>
                  </a:cubicBezTo>
                  <a:lnTo>
                    <a:pt x="47700" y="253445"/>
                  </a:lnTo>
                  <a:cubicBezTo>
                    <a:pt x="35049" y="253445"/>
                    <a:pt x="22916" y="248420"/>
                    <a:pt x="13971" y="239474"/>
                  </a:cubicBezTo>
                  <a:cubicBezTo>
                    <a:pt x="5025" y="230529"/>
                    <a:pt x="0" y="218396"/>
                    <a:pt x="0" y="205746"/>
                  </a:cubicBezTo>
                  <a:lnTo>
                    <a:pt x="0" y="47700"/>
                  </a:lnTo>
                  <a:cubicBezTo>
                    <a:pt x="0" y="35049"/>
                    <a:pt x="5025" y="22916"/>
                    <a:pt x="13971" y="13971"/>
                  </a:cubicBezTo>
                  <a:cubicBezTo>
                    <a:pt x="22916" y="5025"/>
                    <a:pt x="35049" y="0"/>
                    <a:pt x="47700" y="0"/>
                  </a:cubicBezTo>
                  <a:close/>
                </a:path>
              </a:pathLst>
            </a:custGeom>
            <a:gradFill rotWithShape="true">
              <a:gsLst>
                <a:gs pos="0">
                  <a:srgbClr val="5DE0E6">
                    <a:alpha val="100000"/>
                  </a:srgbClr>
                </a:gs>
                <a:gs pos="100000">
                  <a:srgbClr val="004AAD">
                    <a:alpha val="100000"/>
                  </a:srgbClr>
                </a:gs>
              </a:gsLst>
              <a:lin ang="0"/>
            </a:gradFill>
          </p:spPr>
        </p:sp>
        <p:sp>
          <p:nvSpPr>
            <p:cNvPr name="TextBox 10" id="10"/>
            <p:cNvSpPr txBox="true"/>
            <p:nvPr/>
          </p:nvSpPr>
          <p:spPr>
            <a:xfrm>
              <a:off x="0" y="-47625"/>
              <a:ext cx="1115249" cy="301070"/>
            </a:xfrm>
            <a:prstGeom prst="rect">
              <a:avLst/>
            </a:prstGeom>
          </p:spPr>
          <p:txBody>
            <a:bodyPr anchor="ctr" rtlCol="false" tIns="63943" lIns="63943" bIns="63943" rIns="63943"/>
            <a:lstStyle/>
            <a:p>
              <a:pPr algn="ctr">
                <a:lnSpc>
                  <a:spcPts val="3359"/>
                </a:lnSpc>
              </a:pPr>
            </a:p>
          </p:txBody>
        </p:sp>
      </p:grpSp>
      <p:grpSp>
        <p:nvGrpSpPr>
          <p:cNvPr name="Group 11" id="11"/>
          <p:cNvGrpSpPr/>
          <p:nvPr/>
        </p:nvGrpSpPr>
        <p:grpSpPr>
          <a:xfrm rot="0">
            <a:off x="1290548" y="5610819"/>
            <a:ext cx="15706905" cy="3279756"/>
            <a:chOff x="0" y="0"/>
            <a:chExt cx="2319890" cy="484416"/>
          </a:xfrm>
        </p:grpSpPr>
        <p:sp>
          <p:nvSpPr>
            <p:cNvPr name="Freeform 12" id="12"/>
            <p:cNvSpPr/>
            <p:nvPr/>
          </p:nvSpPr>
          <p:spPr>
            <a:xfrm flipH="false" flipV="false" rot="0">
              <a:off x="0" y="0"/>
              <a:ext cx="2319890" cy="484416"/>
            </a:xfrm>
            <a:custGeom>
              <a:avLst/>
              <a:gdLst/>
              <a:ahLst/>
              <a:cxnLst/>
              <a:rect r="r" b="b" t="t" l="l"/>
              <a:pathLst>
                <a:path h="484416" w="2319890">
                  <a:moveTo>
                    <a:pt x="49290" y="0"/>
                  </a:moveTo>
                  <a:lnTo>
                    <a:pt x="2270601" y="0"/>
                  </a:lnTo>
                  <a:cubicBezTo>
                    <a:pt x="2283673" y="0"/>
                    <a:pt x="2296210" y="5193"/>
                    <a:pt x="2305454" y="14437"/>
                  </a:cubicBezTo>
                  <a:cubicBezTo>
                    <a:pt x="2314697" y="23680"/>
                    <a:pt x="2319890" y="36217"/>
                    <a:pt x="2319890" y="49290"/>
                  </a:cubicBezTo>
                  <a:lnTo>
                    <a:pt x="2319890" y="435126"/>
                  </a:lnTo>
                  <a:cubicBezTo>
                    <a:pt x="2319890" y="462348"/>
                    <a:pt x="2297823" y="484416"/>
                    <a:pt x="2270601" y="484416"/>
                  </a:cubicBezTo>
                  <a:lnTo>
                    <a:pt x="49290" y="484416"/>
                  </a:lnTo>
                  <a:cubicBezTo>
                    <a:pt x="22068" y="484416"/>
                    <a:pt x="0" y="462348"/>
                    <a:pt x="0" y="435126"/>
                  </a:cubicBezTo>
                  <a:lnTo>
                    <a:pt x="0" y="49290"/>
                  </a:lnTo>
                  <a:cubicBezTo>
                    <a:pt x="0" y="22068"/>
                    <a:pt x="22068" y="0"/>
                    <a:pt x="49290" y="0"/>
                  </a:cubicBezTo>
                  <a:close/>
                </a:path>
              </a:pathLst>
            </a:custGeom>
            <a:blipFill>
              <a:blip r:embed="rId2"/>
              <a:stretch>
                <a:fillRect l="0" t="-34107" r="0" b="-34107"/>
              </a:stretch>
            </a:blipFill>
            <a:ln w="104775" cap="rnd">
              <a:gradFill>
                <a:gsLst>
                  <a:gs pos="0">
                    <a:srgbClr val="004AAD">
                      <a:alpha val="100000"/>
                    </a:srgbClr>
                  </a:gs>
                  <a:gs pos="100000">
                    <a:srgbClr val="5DE0E6">
                      <a:alpha val="100000"/>
                    </a:srgbClr>
                  </a:gs>
                </a:gsLst>
                <a:lin ang="0"/>
              </a:gradFill>
              <a:prstDash val="solid"/>
              <a:round/>
            </a:ln>
          </p:spPr>
        </p:sp>
      </p:grpSp>
      <p:sp>
        <p:nvSpPr>
          <p:cNvPr name="TextBox 13" id="13"/>
          <p:cNvSpPr txBox="true"/>
          <p:nvPr/>
        </p:nvSpPr>
        <p:spPr>
          <a:xfrm rot="0">
            <a:off x="797628" y="1673229"/>
            <a:ext cx="8229605" cy="1671394"/>
          </a:xfrm>
          <a:prstGeom prst="rect">
            <a:avLst/>
          </a:prstGeom>
        </p:spPr>
        <p:txBody>
          <a:bodyPr anchor="t" rtlCol="false" tIns="0" lIns="0" bIns="0" rIns="0">
            <a:spAutoFit/>
          </a:bodyPr>
          <a:lstStyle/>
          <a:p>
            <a:pPr algn="l">
              <a:lnSpc>
                <a:spcPts val="6342"/>
              </a:lnSpc>
            </a:pPr>
            <a:r>
              <a:rPr lang="en-US" b="true" sz="6893" spc="-372">
                <a:solidFill>
                  <a:srgbClr val="FFFFFF"/>
                </a:solidFill>
                <a:latin typeface="Inter Bold"/>
                <a:ea typeface="Inter Bold"/>
                <a:cs typeface="Inter Bold"/>
                <a:sym typeface="Inter Bold"/>
              </a:rPr>
              <a:t>MY TASK IN THE PROJECT</a:t>
            </a:r>
          </a:p>
        </p:txBody>
      </p:sp>
      <p:sp>
        <p:nvSpPr>
          <p:cNvPr name="TextBox 14" id="14"/>
          <p:cNvSpPr txBox="true"/>
          <p:nvPr/>
        </p:nvSpPr>
        <p:spPr>
          <a:xfrm rot="0">
            <a:off x="7447762" y="2497668"/>
            <a:ext cx="10088839" cy="2645832"/>
          </a:xfrm>
          <a:prstGeom prst="rect">
            <a:avLst/>
          </a:prstGeom>
        </p:spPr>
        <p:txBody>
          <a:bodyPr anchor="t" rtlCol="false" tIns="0" lIns="0" bIns="0" rIns="0">
            <a:spAutoFit/>
          </a:bodyPr>
          <a:lstStyle/>
          <a:p>
            <a:pPr algn="just" marL="544602" indent="-272301" lvl="1">
              <a:lnSpc>
                <a:spcPts val="3531"/>
              </a:lnSpc>
              <a:buFont typeface="Arial"/>
              <a:buChar char="•"/>
            </a:pPr>
            <a:r>
              <a:rPr lang="en-US" sz="2522">
                <a:solidFill>
                  <a:srgbClr val="FFFFFF"/>
                </a:solidFill>
                <a:latin typeface="Inter"/>
                <a:ea typeface="Inter"/>
                <a:cs typeface="Inter"/>
                <a:sym typeface="Inter"/>
              </a:rPr>
              <a:t>D</a:t>
            </a:r>
            <a:r>
              <a:rPr lang="en-US" sz="2522">
                <a:solidFill>
                  <a:srgbClr val="FFFFFF"/>
                </a:solidFill>
                <a:latin typeface="Inter"/>
                <a:ea typeface="Inter"/>
                <a:cs typeface="Inter"/>
                <a:sym typeface="Inter"/>
              </a:rPr>
              <a:t>esigned full VLAN segmentation for all departments</a:t>
            </a:r>
          </a:p>
          <a:p>
            <a:pPr algn="just" marL="544602" indent="-272301" lvl="1">
              <a:lnSpc>
                <a:spcPts val="3531"/>
              </a:lnSpc>
              <a:buFont typeface="Arial"/>
              <a:buChar char="•"/>
            </a:pPr>
            <a:r>
              <a:rPr lang="en-US" sz="2522">
                <a:solidFill>
                  <a:srgbClr val="FFFFFF"/>
                </a:solidFill>
                <a:latin typeface="Inter"/>
                <a:ea typeface="Inter"/>
                <a:cs typeface="Inter"/>
                <a:sym typeface="Inter"/>
              </a:rPr>
              <a:t>Configured Access Ports &amp; Trunk link</a:t>
            </a:r>
          </a:p>
          <a:p>
            <a:pPr algn="just" marL="544602" indent="-272301" lvl="1">
              <a:lnSpc>
                <a:spcPts val="3531"/>
              </a:lnSpc>
              <a:buFont typeface="Arial"/>
              <a:buChar char="•"/>
            </a:pPr>
            <a:r>
              <a:rPr lang="en-US" sz="2522">
                <a:solidFill>
                  <a:srgbClr val="FFFFFF"/>
                </a:solidFill>
                <a:latin typeface="Inter"/>
                <a:ea typeface="Inter"/>
                <a:cs typeface="Inter"/>
                <a:sym typeface="Inter"/>
              </a:rPr>
              <a:t>Built SVI interfaces for inter-VLAN routing through FortiGate</a:t>
            </a:r>
          </a:p>
          <a:p>
            <a:pPr algn="just" marL="544602" indent="-272301" lvl="1">
              <a:lnSpc>
                <a:spcPts val="3531"/>
              </a:lnSpc>
              <a:buFont typeface="Arial"/>
              <a:buChar char="•"/>
            </a:pPr>
            <a:r>
              <a:rPr lang="en-US" sz="2522">
                <a:solidFill>
                  <a:srgbClr val="FFFFFF"/>
                </a:solidFill>
                <a:latin typeface="Inter"/>
                <a:ea typeface="Inter"/>
                <a:cs typeface="Inter"/>
                <a:sym typeface="Inter"/>
              </a:rPr>
              <a:t>Enabled DHCP relay for centralized IP distribution</a:t>
            </a:r>
          </a:p>
          <a:p>
            <a:pPr algn="just" marL="544602" indent="-272301" lvl="1">
              <a:lnSpc>
                <a:spcPts val="3531"/>
              </a:lnSpc>
              <a:buFont typeface="Arial"/>
              <a:buChar char="•"/>
            </a:pPr>
            <a:r>
              <a:rPr lang="en-US" sz="2522">
                <a:solidFill>
                  <a:srgbClr val="FFFFFF"/>
                </a:solidFill>
                <a:latin typeface="Inter"/>
                <a:ea typeface="Inter"/>
                <a:cs typeface="Inter"/>
                <a:sym typeface="Inter"/>
              </a:rPr>
              <a:t>Verified connectivity to prepare the environment for VPN setup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10485881" y="3896166"/>
            <a:ext cx="6773419" cy="5543615"/>
            <a:chOff x="0" y="0"/>
            <a:chExt cx="465420" cy="380917"/>
          </a:xfrm>
        </p:grpSpPr>
        <p:sp>
          <p:nvSpPr>
            <p:cNvPr name="Freeform 6" id="6"/>
            <p:cNvSpPr/>
            <p:nvPr/>
          </p:nvSpPr>
          <p:spPr>
            <a:xfrm flipH="false" flipV="false" rot="0">
              <a:off x="0" y="0"/>
              <a:ext cx="465420" cy="380917"/>
            </a:xfrm>
            <a:custGeom>
              <a:avLst/>
              <a:gdLst/>
              <a:ahLst/>
              <a:cxnLst/>
              <a:rect r="r" b="b" t="t" l="l"/>
              <a:pathLst>
                <a:path h="380917" w="465420">
                  <a:moveTo>
                    <a:pt x="114299" y="0"/>
                  </a:moveTo>
                  <a:lnTo>
                    <a:pt x="351122" y="0"/>
                  </a:lnTo>
                  <a:cubicBezTo>
                    <a:pt x="414247" y="0"/>
                    <a:pt x="465420" y="51173"/>
                    <a:pt x="465420" y="114299"/>
                  </a:cubicBezTo>
                  <a:lnTo>
                    <a:pt x="465420" y="266618"/>
                  </a:lnTo>
                  <a:cubicBezTo>
                    <a:pt x="465420" y="329744"/>
                    <a:pt x="414247" y="380917"/>
                    <a:pt x="351122" y="380917"/>
                  </a:cubicBezTo>
                  <a:lnTo>
                    <a:pt x="114299" y="380917"/>
                  </a:lnTo>
                  <a:cubicBezTo>
                    <a:pt x="51173" y="380917"/>
                    <a:pt x="0" y="329744"/>
                    <a:pt x="0" y="266618"/>
                  </a:cubicBezTo>
                  <a:lnTo>
                    <a:pt x="0" y="114299"/>
                  </a:lnTo>
                  <a:cubicBezTo>
                    <a:pt x="0" y="51173"/>
                    <a:pt x="51173" y="0"/>
                    <a:pt x="114299" y="0"/>
                  </a:cubicBez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47625"/>
              <a:ext cx="465420" cy="428542"/>
            </a:xfrm>
            <a:prstGeom prst="rect">
              <a:avLst/>
            </a:prstGeom>
          </p:spPr>
          <p:txBody>
            <a:bodyPr anchor="ctr" rtlCol="false" tIns="63943" lIns="63943" bIns="63943" rIns="63943"/>
            <a:lstStyle/>
            <a:p>
              <a:pPr algn="ctr">
                <a:lnSpc>
                  <a:spcPts val="3359"/>
                </a:lnSpc>
              </a:pPr>
            </a:p>
          </p:txBody>
        </p:sp>
      </p:grpSp>
      <p:grpSp>
        <p:nvGrpSpPr>
          <p:cNvPr name="Group 8" id="8"/>
          <p:cNvGrpSpPr/>
          <p:nvPr/>
        </p:nvGrpSpPr>
        <p:grpSpPr>
          <a:xfrm rot="0">
            <a:off x="10796802" y="4203309"/>
            <a:ext cx="6151577" cy="4929328"/>
            <a:chOff x="0" y="0"/>
            <a:chExt cx="908580" cy="728056"/>
          </a:xfrm>
        </p:grpSpPr>
        <p:sp>
          <p:nvSpPr>
            <p:cNvPr name="Freeform 9" id="9"/>
            <p:cNvSpPr/>
            <p:nvPr/>
          </p:nvSpPr>
          <p:spPr>
            <a:xfrm flipH="false" flipV="false" rot="0">
              <a:off x="0" y="0"/>
              <a:ext cx="908580" cy="728056"/>
            </a:xfrm>
            <a:custGeom>
              <a:avLst/>
              <a:gdLst/>
              <a:ahLst/>
              <a:cxnLst/>
              <a:rect r="r" b="b" t="t" l="l"/>
              <a:pathLst>
                <a:path h="728056" w="908580">
                  <a:moveTo>
                    <a:pt x="125853" y="0"/>
                  </a:moveTo>
                  <a:lnTo>
                    <a:pt x="782728" y="0"/>
                  </a:lnTo>
                  <a:cubicBezTo>
                    <a:pt x="816106" y="0"/>
                    <a:pt x="848117" y="13259"/>
                    <a:pt x="871719" y="36861"/>
                  </a:cubicBezTo>
                  <a:cubicBezTo>
                    <a:pt x="895321" y="60463"/>
                    <a:pt x="908580" y="92474"/>
                    <a:pt x="908580" y="125853"/>
                  </a:cubicBezTo>
                  <a:lnTo>
                    <a:pt x="908580" y="602203"/>
                  </a:lnTo>
                  <a:cubicBezTo>
                    <a:pt x="908580" y="635581"/>
                    <a:pt x="895321" y="667592"/>
                    <a:pt x="871719" y="691194"/>
                  </a:cubicBezTo>
                  <a:cubicBezTo>
                    <a:pt x="848117" y="714796"/>
                    <a:pt x="816106" y="728056"/>
                    <a:pt x="782728" y="728056"/>
                  </a:cubicBezTo>
                  <a:lnTo>
                    <a:pt x="125853" y="728056"/>
                  </a:lnTo>
                  <a:cubicBezTo>
                    <a:pt x="92474" y="728056"/>
                    <a:pt x="60463" y="714796"/>
                    <a:pt x="36861" y="691194"/>
                  </a:cubicBezTo>
                  <a:cubicBezTo>
                    <a:pt x="13259" y="667592"/>
                    <a:pt x="0" y="635581"/>
                    <a:pt x="0" y="602203"/>
                  </a:cubicBezTo>
                  <a:lnTo>
                    <a:pt x="0" y="125853"/>
                  </a:lnTo>
                  <a:cubicBezTo>
                    <a:pt x="0" y="92474"/>
                    <a:pt x="13259" y="60463"/>
                    <a:pt x="36861" y="36861"/>
                  </a:cubicBezTo>
                  <a:cubicBezTo>
                    <a:pt x="60463" y="13259"/>
                    <a:pt x="92474" y="0"/>
                    <a:pt x="125853" y="0"/>
                  </a:cubicBezTo>
                  <a:close/>
                </a:path>
              </a:pathLst>
            </a:custGeom>
            <a:blipFill>
              <a:blip r:embed="rId2"/>
              <a:stretch>
                <a:fillRect l="-7441" t="0" r="-7441" b="0"/>
              </a:stretch>
            </a:blipFill>
            <a:ln w="104775" cap="rnd">
              <a:gradFill>
                <a:gsLst>
                  <a:gs pos="0">
                    <a:srgbClr val="004AAD">
                      <a:alpha val="100000"/>
                    </a:srgbClr>
                  </a:gs>
                  <a:gs pos="100000">
                    <a:srgbClr val="5DE0E6">
                      <a:alpha val="100000"/>
                    </a:srgbClr>
                  </a:gs>
                </a:gsLst>
                <a:lin ang="0"/>
              </a:gradFill>
              <a:prstDash val="solid"/>
              <a:round/>
            </a:ln>
          </p:spPr>
        </p:sp>
      </p:grpSp>
      <p:grpSp>
        <p:nvGrpSpPr>
          <p:cNvPr name="Group 10" id="10"/>
          <p:cNvGrpSpPr/>
          <p:nvPr/>
        </p:nvGrpSpPr>
        <p:grpSpPr>
          <a:xfrm rot="0">
            <a:off x="1324370" y="3896166"/>
            <a:ext cx="7605404" cy="1054278"/>
            <a:chOff x="0" y="0"/>
            <a:chExt cx="2003069" cy="277670"/>
          </a:xfrm>
        </p:grpSpPr>
        <p:sp>
          <p:nvSpPr>
            <p:cNvPr name="Freeform 11" id="11"/>
            <p:cNvSpPr/>
            <p:nvPr/>
          </p:nvSpPr>
          <p:spPr>
            <a:xfrm flipH="false" flipV="false" rot="0">
              <a:off x="0" y="0"/>
              <a:ext cx="2003069" cy="277670"/>
            </a:xfrm>
            <a:custGeom>
              <a:avLst/>
              <a:gdLst/>
              <a:ahLst/>
              <a:cxnLst/>
              <a:rect r="r" b="b" t="t" l="l"/>
              <a:pathLst>
                <a:path h="277670" w="2003069">
                  <a:moveTo>
                    <a:pt x="88562" y="0"/>
                  </a:moveTo>
                  <a:lnTo>
                    <a:pt x="1914508" y="0"/>
                  </a:lnTo>
                  <a:cubicBezTo>
                    <a:pt x="1937996" y="0"/>
                    <a:pt x="1960522" y="9331"/>
                    <a:pt x="1977130" y="25939"/>
                  </a:cubicBezTo>
                  <a:cubicBezTo>
                    <a:pt x="1993739" y="42548"/>
                    <a:pt x="2003069" y="65074"/>
                    <a:pt x="2003069" y="88562"/>
                  </a:cubicBezTo>
                  <a:lnTo>
                    <a:pt x="2003069" y="189108"/>
                  </a:lnTo>
                  <a:cubicBezTo>
                    <a:pt x="2003069" y="212596"/>
                    <a:pt x="1993739" y="235122"/>
                    <a:pt x="1977130" y="251731"/>
                  </a:cubicBezTo>
                  <a:cubicBezTo>
                    <a:pt x="1960522" y="268339"/>
                    <a:pt x="1937996" y="277670"/>
                    <a:pt x="1914508" y="277670"/>
                  </a:cubicBezTo>
                  <a:lnTo>
                    <a:pt x="88562" y="277670"/>
                  </a:lnTo>
                  <a:cubicBezTo>
                    <a:pt x="65074" y="277670"/>
                    <a:pt x="42548" y="268339"/>
                    <a:pt x="25939" y="251731"/>
                  </a:cubicBezTo>
                  <a:cubicBezTo>
                    <a:pt x="9331" y="235122"/>
                    <a:pt x="0" y="212596"/>
                    <a:pt x="0" y="189108"/>
                  </a:cubicBezTo>
                  <a:lnTo>
                    <a:pt x="0" y="88562"/>
                  </a:lnTo>
                  <a:cubicBezTo>
                    <a:pt x="0" y="65074"/>
                    <a:pt x="9331" y="42548"/>
                    <a:pt x="25939" y="25939"/>
                  </a:cubicBezTo>
                  <a:cubicBezTo>
                    <a:pt x="42548" y="9331"/>
                    <a:pt x="65074" y="0"/>
                    <a:pt x="88562" y="0"/>
                  </a:cubicBezTo>
                  <a:close/>
                </a:path>
              </a:pathLst>
            </a:custGeom>
            <a:solidFill>
              <a:srgbClr val="000000">
                <a:alpha val="0"/>
              </a:srgbClr>
            </a:solidFill>
            <a:ln w="19050" cap="rnd">
              <a:solidFill>
                <a:srgbClr val="FFFFFF"/>
              </a:solidFill>
              <a:prstDash val="solid"/>
              <a:round/>
            </a:ln>
          </p:spPr>
        </p:sp>
        <p:sp>
          <p:nvSpPr>
            <p:cNvPr name="TextBox 12" id="12"/>
            <p:cNvSpPr txBox="true"/>
            <p:nvPr/>
          </p:nvSpPr>
          <p:spPr>
            <a:xfrm>
              <a:off x="0" y="-76200"/>
              <a:ext cx="2003069" cy="353870"/>
            </a:xfrm>
            <a:prstGeom prst="rect">
              <a:avLst/>
            </a:prstGeom>
          </p:spPr>
          <p:txBody>
            <a:bodyPr anchor="ctr" rtlCol="false" tIns="50800" lIns="50800" bIns="50800" rIns="50800"/>
            <a:lstStyle/>
            <a:p>
              <a:pPr algn="ctr">
                <a:lnSpc>
                  <a:spcPts val="4619"/>
                </a:lnSpc>
              </a:pPr>
              <a:r>
                <a:rPr lang="en-US" sz="3299">
                  <a:solidFill>
                    <a:srgbClr val="FFFFFF"/>
                  </a:solidFill>
                  <a:latin typeface="Inter"/>
                  <a:ea typeface="Inter"/>
                  <a:cs typeface="Inter"/>
                  <a:sym typeface="Inter"/>
                </a:rPr>
                <a:t>Purpose of Creating VLANs</a:t>
              </a:r>
            </a:p>
          </p:txBody>
        </p:sp>
      </p:grpSp>
      <p:sp>
        <p:nvSpPr>
          <p:cNvPr name="AutoShape 13" id="13"/>
          <p:cNvSpPr/>
          <p:nvPr/>
        </p:nvSpPr>
        <p:spPr>
          <a:xfrm flipV="true">
            <a:off x="351789" y="3551319"/>
            <a:ext cx="17584422" cy="0"/>
          </a:xfrm>
          <a:prstGeom prst="line">
            <a:avLst/>
          </a:prstGeom>
          <a:ln cap="flat" w="38100">
            <a:gradFill>
              <a:gsLst>
                <a:gs pos="0">
                  <a:srgbClr val="5DE0E6">
                    <a:alpha val="100000"/>
                  </a:srgbClr>
                </a:gs>
                <a:gs pos="100000">
                  <a:srgbClr val="004AAD">
                    <a:alpha val="100000"/>
                  </a:srgbClr>
                </a:gs>
              </a:gsLst>
              <a:lin ang="0"/>
            </a:gradFill>
            <a:prstDash val="solid"/>
            <a:headEnd type="none" len="sm" w="sm"/>
            <a:tailEnd type="none" len="sm" w="sm"/>
          </a:ln>
        </p:spPr>
      </p:sp>
      <p:sp>
        <p:nvSpPr>
          <p:cNvPr name="TextBox 14" id="14"/>
          <p:cNvSpPr txBox="true"/>
          <p:nvPr/>
        </p:nvSpPr>
        <p:spPr>
          <a:xfrm rot="0">
            <a:off x="2051162" y="1701804"/>
            <a:ext cx="14185676" cy="1017906"/>
          </a:xfrm>
          <a:prstGeom prst="rect">
            <a:avLst/>
          </a:prstGeom>
        </p:spPr>
        <p:txBody>
          <a:bodyPr anchor="t" rtlCol="false" tIns="0" lIns="0" bIns="0" rIns="0">
            <a:spAutoFit/>
          </a:bodyPr>
          <a:lstStyle/>
          <a:p>
            <a:pPr algn="ctr">
              <a:lnSpc>
                <a:spcPts val="7360"/>
              </a:lnSpc>
            </a:pPr>
            <a:r>
              <a:rPr lang="en-US" b="true" sz="8000" spc="-432">
                <a:solidFill>
                  <a:srgbClr val="FFFFFF"/>
                </a:solidFill>
                <a:latin typeface="Inter Bold"/>
                <a:ea typeface="Inter Bold"/>
                <a:cs typeface="Inter Bold"/>
                <a:sym typeface="Inter Bold"/>
              </a:rPr>
              <a:t>WHY VLAN SEGMENTATION?</a:t>
            </a:r>
          </a:p>
        </p:txBody>
      </p:sp>
      <p:sp>
        <p:nvSpPr>
          <p:cNvPr name="TextBox 15" id="15"/>
          <p:cNvSpPr txBox="true"/>
          <p:nvPr/>
        </p:nvSpPr>
        <p:spPr>
          <a:xfrm rot="0">
            <a:off x="856590" y="5875324"/>
            <a:ext cx="9427706" cy="2433859"/>
          </a:xfrm>
          <a:prstGeom prst="rect">
            <a:avLst/>
          </a:prstGeom>
        </p:spPr>
        <p:txBody>
          <a:bodyPr anchor="t" rtlCol="false" tIns="0" lIns="0" bIns="0" rIns="0">
            <a:spAutoFit/>
          </a:bodyPr>
          <a:lstStyle/>
          <a:p>
            <a:pPr algn="just" marL="596702" indent="-298351" lvl="1">
              <a:lnSpc>
                <a:spcPts val="3869"/>
              </a:lnSpc>
              <a:buFont typeface="Arial"/>
              <a:buChar char="•"/>
            </a:pPr>
            <a:r>
              <a:rPr lang="en-US" sz="2763">
                <a:solidFill>
                  <a:srgbClr val="FFFFFF"/>
                </a:solidFill>
                <a:latin typeface="Inter"/>
                <a:ea typeface="Inter"/>
                <a:cs typeface="Inter"/>
                <a:sym typeface="Inter"/>
              </a:rPr>
              <a:t>Impr</a:t>
            </a:r>
            <a:r>
              <a:rPr lang="en-US" sz="2763">
                <a:solidFill>
                  <a:srgbClr val="FFFFFF"/>
                </a:solidFill>
                <a:latin typeface="Inter"/>
                <a:ea typeface="Inter"/>
                <a:cs typeface="Inter"/>
                <a:sym typeface="Inter"/>
              </a:rPr>
              <a:t>ove network security</a:t>
            </a:r>
          </a:p>
          <a:p>
            <a:pPr algn="just" marL="596702" indent="-298351" lvl="1">
              <a:lnSpc>
                <a:spcPts val="3869"/>
              </a:lnSpc>
              <a:buFont typeface="Arial"/>
              <a:buChar char="•"/>
            </a:pPr>
            <a:r>
              <a:rPr lang="en-US" sz="2763">
                <a:solidFill>
                  <a:srgbClr val="FFFFFF"/>
                </a:solidFill>
                <a:latin typeface="Inter"/>
                <a:ea typeface="Inter"/>
                <a:cs typeface="Inter"/>
                <a:sym typeface="Inter"/>
              </a:rPr>
              <a:t>Limit broadcast domains and reduce congestion</a:t>
            </a:r>
          </a:p>
          <a:p>
            <a:pPr algn="just" marL="596702" indent="-298351" lvl="1">
              <a:lnSpc>
                <a:spcPts val="3869"/>
              </a:lnSpc>
              <a:buFont typeface="Arial"/>
              <a:buChar char="•"/>
            </a:pPr>
            <a:r>
              <a:rPr lang="en-US" sz="2763">
                <a:solidFill>
                  <a:srgbClr val="FFFFFF"/>
                </a:solidFill>
                <a:latin typeface="Inter"/>
                <a:ea typeface="Inter"/>
                <a:cs typeface="Inter"/>
                <a:sym typeface="Inter"/>
              </a:rPr>
              <a:t>Separate departments for better access control</a:t>
            </a:r>
          </a:p>
          <a:p>
            <a:pPr algn="just" marL="596702" indent="-298351" lvl="1">
              <a:lnSpc>
                <a:spcPts val="3869"/>
              </a:lnSpc>
              <a:buFont typeface="Arial"/>
              <a:buChar char="•"/>
            </a:pPr>
            <a:r>
              <a:rPr lang="en-US" sz="2763">
                <a:solidFill>
                  <a:srgbClr val="FFFFFF"/>
                </a:solidFill>
                <a:latin typeface="Inter"/>
                <a:ea typeface="Inter"/>
                <a:cs typeface="Inter"/>
                <a:sym typeface="Inter"/>
              </a:rPr>
              <a:t>Prepare clear subnets for VPN policies</a:t>
            </a:r>
          </a:p>
          <a:p>
            <a:pPr algn="just" marL="596702" indent="-298351" lvl="1">
              <a:lnSpc>
                <a:spcPts val="3869"/>
              </a:lnSpc>
              <a:buFont typeface="Arial"/>
              <a:buChar char="•"/>
            </a:pPr>
            <a:r>
              <a:rPr lang="en-US" sz="2763">
                <a:solidFill>
                  <a:srgbClr val="FFFFFF"/>
                </a:solidFill>
                <a:latin typeface="Inter"/>
                <a:ea typeface="Inter"/>
                <a:cs typeface="Inter"/>
                <a:sym typeface="Inter"/>
              </a:rPr>
              <a:t>Enable centralized DHCP and easier troubleshooting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1028700" y="1028700"/>
            <a:ext cx="6773419" cy="8229600"/>
            <a:chOff x="0" y="0"/>
            <a:chExt cx="465420" cy="565478"/>
          </a:xfrm>
        </p:grpSpPr>
        <p:sp>
          <p:nvSpPr>
            <p:cNvPr name="Freeform 6" id="6"/>
            <p:cNvSpPr/>
            <p:nvPr/>
          </p:nvSpPr>
          <p:spPr>
            <a:xfrm flipH="false" flipV="false" rot="0">
              <a:off x="0" y="0"/>
              <a:ext cx="465420" cy="565478"/>
            </a:xfrm>
            <a:custGeom>
              <a:avLst/>
              <a:gdLst/>
              <a:ahLst/>
              <a:cxnLst/>
              <a:rect r="r" b="b" t="t" l="l"/>
              <a:pathLst>
                <a:path h="565478" w="465420">
                  <a:moveTo>
                    <a:pt x="114299" y="0"/>
                  </a:moveTo>
                  <a:lnTo>
                    <a:pt x="351122" y="0"/>
                  </a:lnTo>
                  <a:cubicBezTo>
                    <a:pt x="414247" y="0"/>
                    <a:pt x="465420" y="51173"/>
                    <a:pt x="465420" y="114299"/>
                  </a:cubicBezTo>
                  <a:lnTo>
                    <a:pt x="465420" y="451180"/>
                  </a:lnTo>
                  <a:cubicBezTo>
                    <a:pt x="465420" y="514305"/>
                    <a:pt x="414247" y="565478"/>
                    <a:pt x="351122" y="565478"/>
                  </a:cubicBezTo>
                  <a:lnTo>
                    <a:pt x="114299" y="565478"/>
                  </a:lnTo>
                  <a:cubicBezTo>
                    <a:pt x="51173" y="565478"/>
                    <a:pt x="0" y="514305"/>
                    <a:pt x="0" y="451180"/>
                  </a:cubicBezTo>
                  <a:lnTo>
                    <a:pt x="0" y="114299"/>
                  </a:lnTo>
                  <a:cubicBezTo>
                    <a:pt x="0" y="51173"/>
                    <a:pt x="51173" y="0"/>
                    <a:pt x="114299" y="0"/>
                  </a:cubicBez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47625"/>
              <a:ext cx="465420" cy="613103"/>
            </a:xfrm>
            <a:prstGeom prst="rect">
              <a:avLst/>
            </a:prstGeom>
          </p:spPr>
          <p:txBody>
            <a:bodyPr anchor="ctr" rtlCol="false" tIns="63943" lIns="63943" bIns="63943" rIns="63943"/>
            <a:lstStyle/>
            <a:p>
              <a:pPr algn="ctr">
                <a:lnSpc>
                  <a:spcPts val="3359"/>
                </a:lnSpc>
              </a:pPr>
            </a:p>
          </p:txBody>
        </p:sp>
      </p:grpSp>
      <p:grpSp>
        <p:nvGrpSpPr>
          <p:cNvPr name="Group 8" id="8"/>
          <p:cNvGrpSpPr/>
          <p:nvPr/>
        </p:nvGrpSpPr>
        <p:grpSpPr>
          <a:xfrm rot="0">
            <a:off x="1330957" y="1324117"/>
            <a:ext cx="6168905" cy="7638767"/>
            <a:chOff x="0" y="0"/>
            <a:chExt cx="872841" cy="1080812"/>
          </a:xfrm>
        </p:grpSpPr>
        <p:sp>
          <p:nvSpPr>
            <p:cNvPr name="Freeform 9" id="9"/>
            <p:cNvSpPr/>
            <p:nvPr/>
          </p:nvSpPr>
          <p:spPr>
            <a:xfrm flipH="false" flipV="false" rot="0">
              <a:off x="0" y="0"/>
              <a:ext cx="872841" cy="1080812"/>
            </a:xfrm>
            <a:custGeom>
              <a:avLst/>
              <a:gdLst/>
              <a:ahLst/>
              <a:cxnLst/>
              <a:rect r="r" b="b" t="t" l="l"/>
              <a:pathLst>
                <a:path h="1080812" w="872841">
                  <a:moveTo>
                    <a:pt x="125499" y="0"/>
                  </a:moveTo>
                  <a:lnTo>
                    <a:pt x="747342" y="0"/>
                  </a:lnTo>
                  <a:cubicBezTo>
                    <a:pt x="816653" y="0"/>
                    <a:pt x="872841" y="56188"/>
                    <a:pt x="872841" y="125499"/>
                  </a:cubicBezTo>
                  <a:lnTo>
                    <a:pt x="872841" y="955313"/>
                  </a:lnTo>
                  <a:cubicBezTo>
                    <a:pt x="872841" y="988598"/>
                    <a:pt x="859619" y="1020519"/>
                    <a:pt x="836083" y="1044054"/>
                  </a:cubicBezTo>
                  <a:cubicBezTo>
                    <a:pt x="812548" y="1067590"/>
                    <a:pt x="780626" y="1080812"/>
                    <a:pt x="747342" y="1080812"/>
                  </a:cubicBezTo>
                  <a:lnTo>
                    <a:pt x="125499" y="1080812"/>
                  </a:lnTo>
                  <a:cubicBezTo>
                    <a:pt x="92215" y="1080812"/>
                    <a:pt x="60293" y="1067590"/>
                    <a:pt x="36758" y="1044054"/>
                  </a:cubicBezTo>
                  <a:cubicBezTo>
                    <a:pt x="13222" y="1020519"/>
                    <a:pt x="0" y="988598"/>
                    <a:pt x="0" y="955313"/>
                  </a:cubicBezTo>
                  <a:lnTo>
                    <a:pt x="0" y="125499"/>
                  </a:lnTo>
                  <a:cubicBezTo>
                    <a:pt x="0" y="92215"/>
                    <a:pt x="13222" y="60293"/>
                    <a:pt x="36758" y="36758"/>
                  </a:cubicBezTo>
                  <a:cubicBezTo>
                    <a:pt x="60293" y="13222"/>
                    <a:pt x="92215" y="0"/>
                    <a:pt x="125499" y="0"/>
                  </a:cubicBezTo>
                  <a:close/>
                </a:path>
              </a:pathLst>
            </a:custGeom>
            <a:blipFill>
              <a:blip r:embed="rId2"/>
              <a:stretch>
                <a:fillRect l="0" t="-47242" r="0" b="-47242"/>
              </a:stretch>
            </a:blipFill>
            <a:ln w="104775" cap="rnd">
              <a:gradFill>
                <a:gsLst>
                  <a:gs pos="0">
                    <a:srgbClr val="004AAD">
                      <a:alpha val="100000"/>
                    </a:srgbClr>
                  </a:gs>
                  <a:gs pos="100000">
                    <a:srgbClr val="5DE0E6">
                      <a:alpha val="100000"/>
                    </a:srgbClr>
                  </a:gs>
                </a:gsLst>
                <a:lin ang="0"/>
              </a:gradFill>
              <a:prstDash val="solid"/>
              <a:round/>
            </a:ln>
          </p:spPr>
        </p:sp>
      </p:grpSp>
      <p:grpSp>
        <p:nvGrpSpPr>
          <p:cNvPr name="Group 10" id="10"/>
          <p:cNvGrpSpPr/>
          <p:nvPr/>
        </p:nvGrpSpPr>
        <p:grpSpPr>
          <a:xfrm rot="0">
            <a:off x="8644107" y="1436977"/>
            <a:ext cx="8642028" cy="7968958"/>
            <a:chOff x="0" y="0"/>
            <a:chExt cx="11522704" cy="10625277"/>
          </a:xfrm>
        </p:grpSpPr>
        <p:sp>
          <p:nvSpPr>
            <p:cNvPr name="TextBox 11" id="11"/>
            <p:cNvSpPr txBox="true"/>
            <p:nvPr/>
          </p:nvSpPr>
          <p:spPr>
            <a:xfrm rot="0">
              <a:off x="0" y="228600"/>
              <a:ext cx="9807730" cy="2912616"/>
            </a:xfrm>
            <a:prstGeom prst="rect">
              <a:avLst/>
            </a:prstGeom>
          </p:spPr>
          <p:txBody>
            <a:bodyPr anchor="t" rtlCol="false" tIns="0" lIns="0" bIns="0" rIns="0">
              <a:spAutoFit/>
            </a:bodyPr>
            <a:lstStyle/>
            <a:p>
              <a:pPr algn="l">
                <a:lnSpc>
                  <a:spcPts val="8059"/>
                </a:lnSpc>
              </a:pPr>
              <a:r>
                <a:rPr lang="en-US" b="true" sz="8760" spc="-473">
                  <a:solidFill>
                    <a:srgbClr val="FFFFFF"/>
                  </a:solidFill>
                  <a:latin typeface="Inter Bold"/>
                  <a:ea typeface="Inter Bold"/>
                  <a:cs typeface="Inter Bold"/>
                  <a:sym typeface="Inter Bold"/>
                </a:rPr>
                <a:t>VLANS I CREATED</a:t>
              </a:r>
            </a:p>
          </p:txBody>
        </p:sp>
        <p:grpSp>
          <p:nvGrpSpPr>
            <p:cNvPr name="Group 12" id="12"/>
            <p:cNvGrpSpPr/>
            <p:nvPr/>
          </p:nvGrpSpPr>
          <p:grpSpPr>
            <a:xfrm rot="0">
              <a:off x="0" y="3494586"/>
              <a:ext cx="9249557" cy="1131762"/>
              <a:chOff x="0" y="0"/>
              <a:chExt cx="1827073" cy="223558"/>
            </a:xfrm>
          </p:grpSpPr>
          <p:sp>
            <p:nvSpPr>
              <p:cNvPr name="Freeform 13" id="13"/>
              <p:cNvSpPr/>
              <p:nvPr/>
            </p:nvSpPr>
            <p:spPr>
              <a:xfrm flipH="false" flipV="false" rot="0">
                <a:off x="0" y="0"/>
                <a:ext cx="1827073" cy="223558"/>
              </a:xfrm>
              <a:custGeom>
                <a:avLst/>
                <a:gdLst/>
                <a:ahLst/>
                <a:cxnLst/>
                <a:rect r="r" b="b" t="t" l="l"/>
                <a:pathLst>
                  <a:path h="223558" w="1827073">
                    <a:moveTo>
                      <a:pt x="97093" y="0"/>
                    </a:moveTo>
                    <a:lnTo>
                      <a:pt x="1729981" y="0"/>
                    </a:lnTo>
                    <a:cubicBezTo>
                      <a:pt x="1783603" y="0"/>
                      <a:pt x="1827073" y="43470"/>
                      <a:pt x="1827073" y="97093"/>
                    </a:cubicBezTo>
                    <a:lnTo>
                      <a:pt x="1827073" y="126465"/>
                    </a:lnTo>
                    <a:cubicBezTo>
                      <a:pt x="1827073" y="180088"/>
                      <a:pt x="1783603" y="223558"/>
                      <a:pt x="1729981" y="223558"/>
                    </a:cubicBezTo>
                    <a:lnTo>
                      <a:pt x="97093" y="223558"/>
                    </a:lnTo>
                    <a:cubicBezTo>
                      <a:pt x="71342" y="223558"/>
                      <a:pt x="46646" y="213328"/>
                      <a:pt x="28438" y="195120"/>
                    </a:cubicBezTo>
                    <a:cubicBezTo>
                      <a:pt x="10229" y="176912"/>
                      <a:pt x="0" y="152216"/>
                      <a:pt x="0" y="126465"/>
                    </a:cubicBezTo>
                    <a:lnTo>
                      <a:pt x="0" y="97093"/>
                    </a:lnTo>
                    <a:cubicBezTo>
                      <a:pt x="0" y="71342"/>
                      <a:pt x="10229" y="46646"/>
                      <a:pt x="28438" y="28438"/>
                    </a:cubicBezTo>
                    <a:cubicBezTo>
                      <a:pt x="46646" y="10229"/>
                      <a:pt x="71342" y="0"/>
                      <a:pt x="97093" y="0"/>
                    </a:cubicBezTo>
                    <a:close/>
                  </a:path>
                </a:pathLst>
              </a:custGeom>
              <a:solidFill>
                <a:srgbClr val="000000">
                  <a:alpha val="0"/>
                </a:srgbClr>
              </a:solidFill>
              <a:ln w="19050" cap="rnd">
                <a:solidFill>
                  <a:srgbClr val="FFFFFF"/>
                </a:solidFill>
                <a:prstDash val="solid"/>
                <a:round/>
              </a:ln>
            </p:spPr>
          </p:sp>
          <p:sp>
            <p:nvSpPr>
              <p:cNvPr name="TextBox 14" id="14"/>
              <p:cNvSpPr txBox="true"/>
              <p:nvPr/>
            </p:nvSpPr>
            <p:spPr>
              <a:xfrm>
                <a:off x="0" y="-66675"/>
                <a:ext cx="1827073" cy="290233"/>
              </a:xfrm>
              <a:prstGeom prst="rect">
                <a:avLst/>
              </a:prstGeom>
            </p:spPr>
            <p:txBody>
              <a:bodyPr anchor="ctr" rtlCol="false" tIns="50800" lIns="50800" bIns="50800" rIns="50800"/>
              <a:lstStyle/>
              <a:p>
                <a:pPr algn="ctr">
                  <a:lnSpc>
                    <a:spcPts val="3919"/>
                  </a:lnSpc>
                </a:pPr>
                <a:r>
                  <a:rPr lang="en-US" sz="2799">
                    <a:solidFill>
                      <a:srgbClr val="FFFFFF"/>
                    </a:solidFill>
                    <a:latin typeface="Inter"/>
                    <a:ea typeface="Inter"/>
                    <a:cs typeface="Inter"/>
                    <a:sym typeface="Inter"/>
                  </a:rPr>
                  <a:t>Defined VLANs and Departments</a:t>
                </a:r>
              </a:p>
            </p:txBody>
          </p:sp>
        </p:grpSp>
        <p:sp>
          <p:nvSpPr>
            <p:cNvPr name="TextBox 15" id="15"/>
            <p:cNvSpPr txBox="true"/>
            <p:nvPr/>
          </p:nvSpPr>
          <p:spPr>
            <a:xfrm rot="0">
              <a:off x="0" y="5201563"/>
              <a:ext cx="11522704" cy="5423713"/>
            </a:xfrm>
            <a:prstGeom prst="rect">
              <a:avLst/>
            </a:prstGeom>
          </p:spPr>
          <p:txBody>
            <a:bodyPr anchor="t" rtlCol="false" tIns="0" lIns="0" bIns="0" rIns="0">
              <a:spAutoFit/>
            </a:bodyPr>
            <a:lstStyle/>
            <a:p>
              <a:pPr algn="just">
                <a:lnSpc>
                  <a:spcPts val="2985"/>
                </a:lnSpc>
                <a:spcBef>
                  <a:spcPct val="0"/>
                </a:spcBef>
              </a:pPr>
              <a:r>
                <a:rPr lang="en-US" sz="2132">
                  <a:solidFill>
                    <a:srgbClr val="FFFFFF"/>
                  </a:solidFill>
                  <a:latin typeface="Inter"/>
                  <a:ea typeface="Inter"/>
                  <a:cs typeface="Inter"/>
                  <a:sym typeface="Inter"/>
                </a:rPr>
                <a:t>V</a:t>
              </a:r>
              <a:r>
                <a:rPr lang="en-US" sz="2132">
                  <a:solidFill>
                    <a:srgbClr val="FFFFFF"/>
                  </a:solidFill>
                  <a:latin typeface="Inter"/>
                  <a:ea typeface="Inter"/>
                  <a:cs typeface="Inter"/>
                  <a:sym typeface="Inter"/>
                </a:rPr>
                <a:t>LAN            Name                                            Purpose</a:t>
              </a:r>
            </a:p>
            <a:p>
              <a:pPr algn="just">
                <a:lnSpc>
                  <a:spcPts val="2985"/>
                </a:lnSpc>
                <a:spcBef>
                  <a:spcPct val="0"/>
                </a:spcBef>
              </a:pPr>
            </a:p>
            <a:p>
              <a:pPr algn="just">
                <a:lnSpc>
                  <a:spcPts val="2985"/>
                </a:lnSpc>
                <a:spcBef>
                  <a:spcPct val="0"/>
                </a:spcBef>
              </a:pPr>
              <a:r>
                <a:rPr lang="en-US" sz="2132">
                  <a:solidFill>
                    <a:srgbClr val="FFFFFF"/>
                  </a:solidFill>
                  <a:latin typeface="Inter"/>
                  <a:ea typeface="Inter"/>
                  <a:cs typeface="Inter"/>
                  <a:sym typeface="Inter"/>
                </a:rPr>
                <a:t>10                     IT                                    Technical staff devices</a:t>
              </a:r>
            </a:p>
            <a:p>
              <a:pPr algn="just">
                <a:lnSpc>
                  <a:spcPts val="2985"/>
                </a:lnSpc>
                <a:spcBef>
                  <a:spcPct val="0"/>
                </a:spcBef>
              </a:pPr>
              <a:r>
                <a:rPr lang="en-US" sz="2132">
                  <a:solidFill>
                    <a:srgbClr val="FFFFFF"/>
                  </a:solidFill>
                  <a:latin typeface="Inter"/>
                  <a:ea typeface="Inter"/>
                  <a:cs typeface="Inter"/>
                  <a:sym typeface="Inter"/>
                </a:rPr>
                <a:t>20                    HR                                    HR users and systems</a:t>
              </a:r>
            </a:p>
            <a:p>
              <a:pPr algn="just">
                <a:lnSpc>
                  <a:spcPts val="2985"/>
                </a:lnSpc>
                <a:spcBef>
                  <a:spcPct val="0"/>
                </a:spcBef>
              </a:pPr>
              <a:r>
                <a:rPr lang="en-US" sz="2132">
                  <a:solidFill>
                    <a:srgbClr val="FFFFFF"/>
                  </a:solidFill>
                  <a:latin typeface="Inter"/>
                  <a:ea typeface="Inter"/>
                  <a:cs typeface="Inter"/>
                  <a:sym typeface="Inter"/>
                </a:rPr>
                <a:t>30                 Finance                               Financial department</a:t>
              </a:r>
            </a:p>
            <a:p>
              <a:pPr algn="just">
                <a:lnSpc>
                  <a:spcPts val="2985"/>
                </a:lnSpc>
                <a:spcBef>
                  <a:spcPct val="0"/>
                </a:spcBef>
              </a:pPr>
              <a:r>
                <a:rPr lang="en-US" sz="2132">
                  <a:solidFill>
                    <a:srgbClr val="FFFFFF"/>
                  </a:solidFill>
                  <a:latin typeface="Inter"/>
                  <a:ea typeface="Inter"/>
                  <a:cs typeface="Inter"/>
                  <a:sym typeface="Inter"/>
                </a:rPr>
                <a:t>40                   Sales                                       Sales team</a:t>
              </a:r>
            </a:p>
            <a:p>
              <a:pPr algn="just">
                <a:lnSpc>
                  <a:spcPts val="2985"/>
                </a:lnSpc>
                <a:spcBef>
                  <a:spcPct val="0"/>
                </a:spcBef>
              </a:pPr>
              <a:r>
                <a:rPr lang="en-US" sz="2132">
                  <a:solidFill>
                    <a:srgbClr val="FFFFFF"/>
                  </a:solidFill>
                  <a:latin typeface="Inter"/>
                  <a:ea typeface="Inter"/>
                  <a:cs typeface="Inter"/>
                  <a:sym typeface="Inter"/>
                </a:rPr>
                <a:t>50                Management                       Management devices</a:t>
              </a:r>
            </a:p>
            <a:p>
              <a:pPr algn="just">
                <a:lnSpc>
                  <a:spcPts val="2985"/>
                </a:lnSpc>
                <a:spcBef>
                  <a:spcPct val="0"/>
                </a:spcBef>
              </a:pPr>
              <a:r>
                <a:rPr lang="en-US" sz="2132">
                  <a:solidFill>
                    <a:srgbClr val="FFFFFF"/>
                  </a:solidFill>
                  <a:latin typeface="Inter"/>
                  <a:ea typeface="Inter"/>
                  <a:cs typeface="Inter"/>
                  <a:sym typeface="Inter"/>
                </a:rPr>
                <a:t>80                   Servers                             Internal servers network</a:t>
              </a:r>
            </a:p>
            <a:p>
              <a:pPr algn="just">
                <a:lnSpc>
                  <a:spcPts val="2985"/>
                </a:lnSpc>
                <a:spcBef>
                  <a:spcPct val="0"/>
                </a:spcBef>
              </a:pPr>
            </a:p>
            <a:p>
              <a:pPr algn="just">
                <a:lnSpc>
                  <a:spcPts val="2985"/>
                </a:lnSpc>
                <a:spcBef>
                  <a:spcPct val="0"/>
                </a:spcBef>
              </a:pPr>
              <a:r>
                <a:rPr lang="en-US" sz="2132">
                  <a:solidFill>
                    <a:srgbClr val="FFFFFF"/>
                  </a:solidFill>
                  <a:latin typeface="Inter"/>
                  <a:ea typeface="Inter"/>
                  <a:cs typeface="Inter"/>
                  <a:sym typeface="Inter"/>
                </a:rPr>
                <a:t>“These VLANs form the core segmentation that the VPN will later control using policies.”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1028700" y="5317392"/>
            <a:ext cx="7338027" cy="3940908"/>
            <a:chOff x="0" y="0"/>
            <a:chExt cx="504216" cy="270791"/>
          </a:xfrm>
        </p:grpSpPr>
        <p:sp>
          <p:nvSpPr>
            <p:cNvPr name="Freeform 6" id="6"/>
            <p:cNvSpPr/>
            <p:nvPr/>
          </p:nvSpPr>
          <p:spPr>
            <a:xfrm flipH="false" flipV="false" rot="0">
              <a:off x="0" y="0"/>
              <a:ext cx="504216" cy="270791"/>
            </a:xfrm>
            <a:custGeom>
              <a:avLst/>
              <a:gdLst/>
              <a:ahLst/>
              <a:cxnLst/>
              <a:rect r="r" b="b" t="t" l="l"/>
              <a:pathLst>
                <a:path h="270791" w="504216">
                  <a:moveTo>
                    <a:pt x="105504" y="0"/>
                  </a:moveTo>
                  <a:lnTo>
                    <a:pt x="398712" y="0"/>
                  </a:lnTo>
                  <a:cubicBezTo>
                    <a:pt x="456980" y="0"/>
                    <a:pt x="504216" y="47236"/>
                    <a:pt x="504216" y="105504"/>
                  </a:cubicBezTo>
                  <a:lnTo>
                    <a:pt x="504216" y="165286"/>
                  </a:lnTo>
                  <a:cubicBezTo>
                    <a:pt x="504216" y="223555"/>
                    <a:pt x="456980" y="270791"/>
                    <a:pt x="398712" y="270791"/>
                  </a:cubicBezTo>
                  <a:lnTo>
                    <a:pt x="105504" y="270791"/>
                  </a:lnTo>
                  <a:cubicBezTo>
                    <a:pt x="47236" y="270791"/>
                    <a:pt x="0" y="223555"/>
                    <a:pt x="0" y="165286"/>
                  </a:cubicBezTo>
                  <a:lnTo>
                    <a:pt x="0" y="105504"/>
                  </a:lnTo>
                  <a:cubicBezTo>
                    <a:pt x="0" y="47236"/>
                    <a:pt x="47236" y="0"/>
                    <a:pt x="105504" y="0"/>
                  </a:cubicBez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47625"/>
              <a:ext cx="504216" cy="318416"/>
            </a:xfrm>
            <a:prstGeom prst="rect">
              <a:avLst/>
            </a:prstGeom>
          </p:spPr>
          <p:txBody>
            <a:bodyPr anchor="ctr" rtlCol="false" tIns="63943" lIns="63943" bIns="63943" rIns="63943"/>
            <a:lstStyle/>
            <a:p>
              <a:pPr algn="ctr">
                <a:lnSpc>
                  <a:spcPts val="3359"/>
                </a:lnSpc>
              </a:pPr>
            </a:p>
          </p:txBody>
        </p:sp>
      </p:grpSp>
      <p:grpSp>
        <p:nvGrpSpPr>
          <p:cNvPr name="Group 8" id="8"/>
          <p:cNvGrpSpPr/>
          <p:nvPr/>
        </p:nvGrpSpPr>
        <p:grpSpPr>
          <a:xfrm rot="0">
            <a:off x="1343602" y="5586149"/>
            <a:ext cx="6708222" cy="3403394"/>
            <a:chOff x="0" y="0"/>
            <a:chExt cx="990796" cy="502677"/>
          </a:xfrm>
        </p:grpSpPr>
        <p:sp>
          <p:nvSpPr>
            <p:cNvPr name="Freeform 9" id="9"/>
            <p:cNvSpPr/>
            <p:nvPr/>
          </p:nvSpPr>
          <p:spPr>
            <a:xfrm flipH="false" flipV="false" rot="0">
              <a:off x="0" y="0"/>
              <a:ext cx="990796" cy="502677"/>
            </a:xfrm>
            <a:custGeom>
              <a:avLst/>
              <a:gdLst/>
              <a:ahLst/>
              <a:cxnLst/>
              <a:rect r="r" b="b" t="t" l="l"/>
              <a:pathLst>
                <a:path h="502677" w="990796">
                  <a:moveTo>
                    <a:pt x="115409" y="0"/>
                  </a:moveTo>
                  <a:lnTo>
                    <a:pt x="875387" y="0"/>
                  </a:lnTo>
                  <a:cubicBezTo>
                    <a:pt x="939126" y="0"/>
                    <a:pt x="990796" y="51671"/>
                    <a:pt x="990796" y="115409"/>
                  </a:cubicBezTo>
                  <a:lnTo>
                    <a:pt x="990796" y="387268"/>
                  </a:lnTo>
                  <a:cubicBezTo>
                    <a:pt x="990796" y="451007"/>
                    <a:pt x="939126" y="502677"/>
                    <a:pt x="875387" y="502677"/>
                  </a:cubicBezTo>
                  <a:lnTo>
                    <a:pt x="115409" y="502677"/>
                  </a:lnTo>
                  <a:cubicBezTo>
                    <a:pt x="51671" y="502677"/>
                    <a:pt x="0" y="451007"/>
                    <a:pt x="0" y="387268"/>
                  </a:cubicBezTo>
                  <a:lnTo>
                    <a:pt x="0" y="115409"/>
                  </a:lnTo>
                  <a:cubicBezTo>
                    <a:pt x="0" y="51671"/>
                    <a:pt x="51671" y="0"/>
                    <a:pt x="115409" y="0"/>
                  </a:cubicBezTo>
                  <a:close/>
                </a:path>
              </a:pathLst>
            </a:custGeom>
            <a:blipFill>
              <a:blip r:embed="rId2"/>
              <a:stretch>
                <a:fillRect l="0" t="-64622" r="0" b="-64622"/>
              </a:stretch>
            </a:blipFill>
            <a:ln w="104775" cap="rnd">
              <a:gradFill>
                <a:gsLst>
                  <a:gs pos="0">
                    <a:srgbClr val="004AAD">
                      <a:alpha val="100000"/>
                    </a:srgbClr>
                  </a:gs>
                  <a:gs pos="100000">
                    <a:srgbClr val="5DE0E6">
                      <a:alpha val="100000"/>
                    </a:srgbClr>
                  </a:gs>
                </a:gsLst>
                <a:lin ang="0"/>
              </a:gradFill>
              <a:prstDash val="solid"/>
              <a:round/>
            </a:ln>
          </p:spPr>
        </p:sp>
      </p:grpSp>
      <p:grpSp>
        <p:nvGrpSpPr>
          <p:cNvPr name="Group 10" id="10"/>
          <p:cNvGrpSpPr/>
          <p:nvPr/>
        </p:nvGrpSpPr>
        <p:grpSpPr>
          <a:xfrm rot="0">
            <a:off x="8991208" y="4892981"/>
            <a:ext cx="5009463" cy="848821"/>
            <a:chOff x="0" y="0"/>
            <a:chExt cx="1319365" cy="223558"/>
          </a:xfrm>
        </p:grpSpPr>
        <p:sp>
          <p:nvSpPr>
            <p:cNvPr name="Freeform 11" id="11"/>
            <p:cNvSpPr/>
            <p:nvPr/>
          </p:nvSpPr>
          <p:spPr>
            <a:xfrm flipH="false" flipV="false" rot="0">
              <a:off x="0" y="0"/>
              <a:ext cx="1319365" cy="223558"/>
            </a:xfrm>
            <a:custGeom>
              <a:avLst/>
              <a:gdLst/>
              <a:ahLst/>
              <a:cxnLst/>
              <a:rect r="r" b="b" t="t" l="l"/>
              <a:pathLst>
                <a:path h="223558" w="1319365">
                  <a:moveTo>
                    <a:pt x="111779" y="0"/>
                  </a:moveTo>
                  <a:lnTo>
                    <a:pt x="1207586" y="0"/>
                  </a:lnTo>
                  <a:cubicBezTo>
                    <a:pt x="1269320" y="0"/>
                    <a:pt x="1319365" y="50045"/>
                    <a:pt x="1319365" y="111779"/>
                  </a:cubicBezTo>
                  <a:lnTo>
                    <a:pt x="1319365" y="111779"/>
                  </a:lnTo>
                  <a:cubicBezTo>
                    <a:pt x="1319365" y="173513"/>
                    <a:pt x="1269320" y="223558"/>
                    <a:pt x="1207586" y="223558"/>
                  </a:cubicBezTo>
                  <a:lnTo>
                    <a:pt x="111779" y="223558"/>
                  </a:lnTo>
                  <a:cubicBezTo>
                    <a:pt x="50045" y="223558"/>
                    <a:pt x="0" y="173513"/>
                    <a:pt x="0" y="111779"/>
                  </a:cubicBezTo>
                  <a:lnTo>
                    <a:pt x="0" y="111779"/>
                  </a:lnTo>
                  <a:cubicBezTo>
                    <a:pt x="0" y="50045"/>
                    <a:pt x="50045" y="0"/>
                    <a:pt x="111779" y="0"/>
                  </a:cubicBezTo>
                  <a:close/>
                </a:path>
              </a:pathLst>
            </a:custGeom>
            <a:solidFill>
              <a:srgbClr val="000000">
                <a:alpha val="0"/>
              </a:srgbClr>
            </a:solidFill>
            <a:ln w="19050" cap="rnd">
              <a:solidFill>
                <a:srgbClr val="FFFFFF"/>
              </a:solidFill>
              <a:prstDash val="solid"/>
              <a:round/>
            </a:ln>
          </p:spPr>
        </p:sp>
        <p:sp>
          <p:nvSpPr>
            <p:cNvPr name="TextBox 12" id="12"/>
            <p:cNvSpPr txBox="true"/>
            <p:nvPr/>
          </p:nvSpPr>
          <p:spPr>
            <a:xfrm>
              <a:off x="0" y="-66675"/>
              <a:ext cx="1319365" cy="290233"/>
            </a:xfrm>
            <a:prstGeom prst="rect">
              <a:avLst/>
            </a:prstGeom>
          </p:spPr>
          <p:txBody>
            <a:bodyPr anchor="ctr" rtlCol="false" tIns="50800" lIns="50800" bIns="50800" rIns="50800"/>
            <a:lstStyle/>
            <a:p>
              <a:pPr algn="ctr">
                <a:lnSpc>
                  <a:spcPts val="3919"/>
                </a:lnSpc>
              </a:pPr>
              <a:r>
                <a:rPr lang="en-US" sz="2799">
                  <a:solidFill>
                    <a:srgbClr val="FFFFFF"/>
                  </a:solidFill>
                  <a:latin typeface="Inter"/>
                  <a:ea typeface="Inter"/>
                  <a:cs typeface="Inter"/>
                  <a:sym typeface="Inter"/>
                </a:rPr>
                <a:t>Configuring Access Ports</a:t>
              </a:r>
            </a:p>
          </p:txBody>
        </p:sp>
      </p:grpSp>
      <p:sp>
        <p:nvSpPr>
          <p:cNvPr name="AutoShape 13" id="13"/>
          <p:cNvSpPr/>
          <p:nvPr/>
        </p:nvSpPr>
        <p:spPr>
          <a:xfrm flipV="true">
            <a:off x="351789" y="4671541"/>
            <a:ext cx="17584422" cy="0"/>
          </a:xfrm>
          <a:prstGeom prst="line">
            <a:avLst/>
          </a:prstGeom>
          <a:ln cap="flat" w="38100">
            <a:gradFill>
              <a:gsLst>
                <a:gs pos="0">
                  <a:srgbClr val="5DE0E6">
                    <a:alpha val="100000"/>
                  </a:srgbClr>
                </a:gs>
                <a:gs pos="100000">
                  <a:srgbClr val="004AAD">
                    <a:alpha val="100000"/>
                  </a:srgbClr>
                </a:gs>
              </a:gsLst>
              <a:lin ang="0"/>
            </a:gradFill>
            <a:prstDash val="solid"/>
            <a:headEnd type="none" len="sm" w="sm"/>
            <a:tailEnd type="none" len="sm" w="sm"/>
          </a:ln>
        </p:spPr>
      </p:sp>
      <p:sp>
        <p:nvSpPr>
          <p:cNvPr name="TextBox 14" id="14"/>
          <p:cNvSpPr txBox="true"/>
          <p:nvPr/>
        </p:nvSpPr>
        <p:spPr>
          <a:xfrm rot="0">
            <a:off x="2852535" y="1767685"/>
            <a:ext cx="12159815" cy="1951356"/>
          </a:xfrm>
          <a:prstGeom prst="rect">
            <a:avLst/>
          </a:prstGeom>
        </p:spPr>
        <p:txBody>
          <a:bodyPr anchor="t" rtlCol="false" tIns="0" lIns="0" bIns="0" rIns="0">
            <a:spAutoFit/>
          </a:bodyPr>
          <a:lstStyle/>
          <a:p>
            <a:pPr algn="ctr">
              <a:lnSpc>
                <a:spcPts val="7360"/>
              </a:lnSpc>
            </a:pPr>
            <a:r>
              <a:rPr lang="en-US" b="true" sz="8000" spc="-432">
                <a:solidFill>
                  <a:srgbClr val="FFFFFF"/>
                </a:solidFill>
                <a:latin typeface="Inter Bold"/>
                <a:ea typeface="Inter Bold"/>
                <a:cs typeface="Inter Bold"/>
                <a:sym typeface="Inter Bold"/>
              </a:rPr>
              <a:t>ACCESS PORT CONFIGURATION</a:t>
            </a:r>
          </a:p>
        </p:txBody>
      </p:sp>
      <p:sp>
        <p:nvSpPr>
          <p:cNvPr name="TextBox 15" id="15"/>
          <p:cNvSpPr txBox="true"/>
          <p:nvPr/>
        </p:nvSpPr>
        <p:spPr>
          <a:xfrm rot="0">
            <a:off x="8537852" y="5794799"/>
            <a:ext cx="9398359" cy="3958927"/>
          </a:xfrm>
          <a:prstGeom prst="rect">
            <a:avLst/>
          </a:prstGeom>
        </p:spPr>
        <p:txBody>
          <a:bodyPr anchor="t" rtlCol="false" tIns="0" lIns="0" bIns="0" rIns="0">
            <a:spAutoFit/>
          </a:bodyPr>
          <a:lstStyle/>
          <a:p>
            <a:pPr algn="just">
              <a:lnSpc>
                <a:spcPts val="3922"/>
              </a:lnSpc>
              <a:spcBef>
                <a:spcPct val="0"/>
              </a:spcBef>
            </a:pPr>
            <a:r>
              <a:rPr lang="en-US" sz="2801">
                <a:solidFill>
                  <a:srgbClr val="FFFFFF"/>
                </a:solidFill>
                <a:latin typeface="Inter"/>
                <a:ea typeface="Inter"/>
                <a:cs typeface="Inter"/>
                <a:sym typeface="Inter"/>
              </a:rPr>
              <a:t>“I c</a:t>
            </a:r>
            <a:r>
              <a:rPr lang="en-US" sz="2801">
                <a:solidFill>
                  <a:srgbClr val="FFFFFF"/>
                </a:solidFill>
                <a:latin typeface="Inter"/>
                <a:ea typeface="Inter"/>
                <a:cs typeface="Inter"/>
                <a:sym typeface="Inter"/>
              </a:rPr>
              <a:t>onfigured Access ports for each department. Each port is assigned to one VLAN only, and PortFast was enabled to speed up device connectivity.”</a:t>
            </a:r>
          </a:p>
          <a:p>
            <a:pPr algn="just">
              <a:lnSpc>
                <a:spcPts val="3922"/>
              </a:lnSpc>
              <a:spcBef>
                <a:spcPct val="0"/>
              </a:spcBef>
            </a:pPr>
          </a:p>
          <a:p>
            <a:pPr algn="just">
              <a:lnSpc>
                <a:spcPts val="3922"/>
              </a:lnSpc>
              <a:spcBef>
                <a:spcPct val="0"/>
              </a:spcBef>
            </a:pPr>
            <a:r>
              <a:rPr lang="en-US" sz="2801">
                <a:solidFill>
                  <a:srgbClr val="FFFFFF"/>
                </a:solidFill>
                <a:latin typeface="Inter"/>
                <a:ea typeface="Inter"/>
                <a:cs typeface="Inter"/>
                <a:sym typeface="Inter"/>
              </a:rPr>
              <a:t>interface Ethernet0/0</a:t>
            </a:r>
          </a:p>
          <a:p>
            <a:pPr algn="just">
              <a:lnSpc>
                <a:spcPts val="3922"/>
              </a:lnSpc>
              <a:spcBef>
                <a:spcPct val="0"/>
              </a:spcBef>
            </a:pPr>
            <a:r>
              <a:rPr lang="en-US" sz="2801">
                <a:solidFill>
                  <a:srgbClr val="FFFFFF"/>
                </a:solidFill>
                <a:latin typeface="Inter"/>
                <a:ea typeface="Inter"/>
                <a:cs typeface="Inter"/>
                <a:sym typeface="Inter"/>
              </a:rPr>
              <a:t> switchport mode access</a:t>
            </a:r>
          </a:p>
          <a:p>
            <a:pPr algn="just">
              <a:lnSpc>
                <a:spcPts val="3922"/>
              </a:lnSpc>
              <a:spcBef>
                <a:spcPct val="0"/>
              </a:spcBef>
            </a:pPr>
            <a:r>
              <a:rPr lang="en-US" sz="2801">
                <a:solidFill>
                  <a:srgbClr val="FFFFFF"/>
                </a:solidFill>
                <a:latin typeface="Inter"/>
                <a:ea typeface="Inter"/>
                <a:cs typeface="Inter"/>
                <a:sym typeface="Inter"/>
              </a:rPr>
              <a:t> switchport access vlan 10</a:t>
            </a:r>
          </a:p>
          <a:p>
            <a:pPr algn="just">
              <a:lnSpc>
                <a:spcPts val="3922"/>
              </a:lnSpc>
              <a:spcBef>
                <a:spcPct val="0"/>
              </a:spcBef>
            </a:pPr>
            <a:r>
              <a:rPr lang="en-US" sz="2801">
                <a:solidFill>
                  <a:srgbClr val="FFFFFF"/>
                </a:solidFill>
                <a:latin typeface="Inter"/>
                <a:ea typeface="Inter"/>
                <a:cs typeface="Inter"/>
                <a:sym typeface="Inter"/>
              </a:rPr>
              <a:t> spanning-tree portfast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1226505" y="3725873"/>
            <a:ext cx="7917495" cy="848821"/>
            <a:chOff x="0" y="0"/>
            <a:chExt cx="2085266" cy="223558"/>
          </a:xfrm>
        </p:grpSpPr>
        <p:sp>
          <p:nvSpPr>
            <p:cNvPr name="Freeform 6" id="6"/>
            <p:cNvSpPr/>
            <p:nvPr/>
          </p:nvSpPr>
          <p:spPr>
            <a:xfrm flipH="false" flipV="false" rot="0">
              <a:off x="0" y="0"/>
              <a:ext cx="2085266" cy="223558"/>
            </a:xfrm>
            <a:custGeom>
              <a:avLst/>
              <a:gdLst/>
              <a:ahLst/>
              <a:cxnLst/>
              <a:rect r="r" b="b" t="t" l="l"/>
              <a:pathLst>
                <a:path h="223558" w="2085266">
                  <a:moveTo>
                    <a:pt x="85071" y="0"/>
                  </a:moveTo>
                  <a:lnTo>
                    <a:pt x="2000196" y="0"/>
                  </a:lnTo>
                  <a:cubicBezTo>
                    <a:pt x="2022758" y="0"/>
                    <a:pt x="2044396" y="8963"/>
                    <a:pt x="2060350" y="24917"/>
                  </a:cubicBezTo>
                  <a:cubicBezTo>
                    <a:pt x="2076303" y="40870"/>
                    <a:pt x="2085266" y="62509"/>
                    <a:pt x="2085266" y="85071"/>
                  </a:cubicBezTo>
                  <a:lnTo>
                    <a:pt x="2085266" y="138487"/>
                  </a:lnTo>
                  <a:cubicBezTo>
                    <a:pt x="2085266" y="185470"/>
                    <a:pt x="2047179" y="223558"/>
                    <a:pt x="2000196" y="223558"/>
                  </a:cubicBezTo>
                  <a:lnTo>
                    <a:pt x="85071" y="223558"/>
                  </a:lnTo>
                  <a:cubicBezTo>
                    <a:pt x="62509" y="223558"/>
                    <a:pt x="40870" y="214595"/>
                    <a:pt x="24917" y="198641"/>
                  </a:cubicBezTo>
                  <a:cubicBezTo>
                    <a:pt x="8963" y="182687"/>
                    <a:pt x="0" y="161049"/>
                    <a:pt x="0" y="138487"/>
                  </a:cubicBezTo>
                  <a:lnTo>
                    <a:pt x="0" y="85071"/>
                  </a:lnTo>
                  <a:cubicBezTo>
                    <a:pt x="0" y="62509"/>
                    <a:pt x="8963" y="40870"/>
                    <a:pt x="24917" y="24917"/>
                  </a:cubicBezTo>
                  <a:cubicBezTo>
                    <a:pt x="40870" y="8963"/>
                    <a:pt x="62509" y="0"/>
                    <a:pt x="85071"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66675"/>
              <a:ext cx="2085266" cy="290233"/>
            </a:xfrm>
            <a:prstGeom prst="rect">
              <a:avLst/>
            </a:prstGeom>
          </p:spPr>
          <p:txBody>
            <a:bodyPr anchor="ctr" rtlCol="false" tIns="50800" lIns="50800" bIns="50800" rIns="50800"/>
            <a:lstStyle/>
            <a:p>
              <a:pPr algn="ctr">
                <a:lnSpc>
                  <a:spcPts val="3919"/>
                </a:lnSpc>
              </a:pPr>
              <a:r>
                <a:rPr lang="en-US" sz="2799">
                  <a:solidFill>
                    <a:srgbClr val="FFFFFF"/>
                  </a:solidFill>
                  <a:latin typeface="Inter"/>
                  <a:ea typeface="Inter"/>
                  <a:cs typeface="Inter"/>
                  <a:sym typeface="Inter"/>
                </a:rPr>
                <a:t>Trunk Configuration (Switch ↔ FortiGate)</a:t>
              </a:r>
            </a:p>
          </p:txBody>
        </p:sp>
      </p:grpSp>
      <p:grpSp>
        <p:nvGrpSpPr>
          <p:cNvPr name="Group 8" id="8"/>
          <p:cNvGrpSpPr/>
          <p:nvPr/>
        </p:nvGrpSpPr>
        <p:grpSpPr>
          <a:xfrm rot="0">
            <a:off x="10997764" y="1192065"/>
            <a:ext cx="6261536" cy="7902869"/>
            <a:chOff x="0" y="0"/>
            <a:chExt cx="430247" cy="543028"/>
          </a:xfrm>
        </p:grpSpPr>
        <p:sp>
          <p:nvSpPr>
            <p:cNvPr name="Freeform 9" id="9"/>
            <p:cNvSpPr/>
            <p:nvPr/>
          </p:nvSpPr>
          <p:spPr>
            <a:xfrm flipH="false" flipV="false" rot="0">
              <a:off x="0" y="0"/>
              <a:ext cx="430247" cy="543028"/>
            </a:xfrm>
            <a:custGeom>
              <a:avLst/>
              <a:gdLst/>
              <a:ahLst/>
              <a:cxnLst/>
              <a:rect r="r" b="b" t="t" l="l"/>
              <a:pathLst>
                <a:path h="543028" w="430247">
                  <a:moveTo>
                    <a:pt x="123643" y="0"/>
                  </a:moveTo>
                  <a:lnTo>
                    <a:pt x="306605" y="0"/>
                  </a:lnTo>
                  <a:cubicBezTo>
                    <a:pt x="339397" y="0"/>
                    <a:pt x="370846" y="13027"/>
                    <a:pt x="394033" y="36214"/>
                  </a:cubicBezTo>
                  <a:cubicBezTo>
                    <a:pt x="417221" y="59402"/>
                    <a:pt x="430247" y="90850"/>
                    <a:pt x="430247" y="123643"/>
                  </a:cubicBezTo>
                  <a:lnTo>
                    <a:pt x="430247" y="419385"/>
                  </a:lnTo>
                  <a:cubicBezTo>
                    <a:pt x="430247" y="452177"/>
                    <a:pt x="417221" y="483626"/>
                    <a:pt x="394033" y="506814"/>
                  </a:cubicBezTo>
                  <a:cubicBezTo>
                    <a:pt x="370846" y="530001"/>
                    <a:pt x="339397" y="543028"/>
                    <a:pt x="306605" y="543028"/>
                  </a:cubicBezTo>
                  <a:lnTo>
                    <a:pt x="123643" y="543028"/>
                  </a:lnTo>
                  <a:cubicBezTo>
                    <a:pt x="90850" y="543028"/>
                    <a:pt x="59402" y="530001"/>
                    <a:pt x="36214" y="506814"/>
                  </a:cubicBezTo>
                  <a:cubicBezTo>
                    <a:pt x="13027" y="483626"/>
                    <a:pt x="0" y="452177"/>
                    <a:pt x="0" y="419385"/>
                  </a:cubicBezTo>
                  <a:lnTo>
                    <a:pt x="0" y="123643"/>
                  </a:lnTo>
                  <a:cubicBezTo>
                    <a:pt x="0" y="90850"/>
                    <a:pt x="13027" y="59402"/>
                    <a:pt x="36214" y="36214"/>
                  </a:cubicBezTo>
                  <a:cubicBezTo>
                    <a:pt x="59402" y="13027"/>
                    <a:pt x="90850" y="0"/>
                    <a:pt x="123643" y="0"/>
                  </a:cubicBezTo>
                  <a:close/>
                </a:path>
              </a:pathLst>
            </a:custGeom>
            <a:gradFill rotWithShape="true">
              <a:gsLst>
                <a:gs pos="0">
                  <a:srgbClr val="5DE0E6">
                    <a:alpha val="100000"/>
                  </a:srgbClr>
                </a:gs>
                <a:gs pos="100000">
                  <a:srgbClr val="004AAD">
                    <a:alpha val="100000"/>
                  </a:srgbClr>
                </a:gs>
              </a:gsLst>
              <a:lin ang="0"/>
            </a:gradFill>
          </p:spPr>
        </p:sp>
        <p:sp>
          <p:nvSpPr>
            <p:cNvPr name="TextBox 10" id="10"/>
            <p:cNvSpPr txBox="true"/>
            <p:nvPr/>
          </p:nvSpPr>
          <p:spPr>
            <a:xfrm>
              <a:off x="0" y="-47625"/>
              <a:ext cx="430247" cy="590653"/>
            </a:xfrm>
            <a:prstGeom prst="rect">
              <a:avLst/>
            </a:prstGeom>
          </p:spPr>
          <p:txBody>
            <a:bodyPr anchor="ctr" rtlCol="false" tIns="63943" lIns="63943" bIns="63943" rIns="63943"/>
            <a:lstStyle/>
            <a:p>
              <a:pPr algn="ctr">
                <a:lnSpc>
                  <a:spcPts val="3359"/>
                </a:lnSpc>
              </a:pPr>
            </a:p>
          </p:txBody>
        </p:sp>
      </p:grpSp>
      <p:grpSp>
        <p:nvGrpSpPr>
          <p:cNvPr name="Group 11" id="11"/>
          <p:cNvGrpSpPr/>
          <p:nvPr/>
        </p:nvGrpSpPr>
        <p:grpSpPr>
          <a:xfrm rot="0">
            <a:off x="11376910" y="1485779"/>
            <a:ext cx="5503243" cy="7315442"/>
            <a:chOff x="0" y="0"/>
            <a:chExt cx="765146" cy="1017106"/>
          </a:xfrm>
        </p:grpSpPr>
        <p:sp>
          <p:nvSpPr>
            <p:cNvPr name="Freeform 12" id="12"/>
            <p:cNvSpPr/>
            <p:nvPr/>
          </p:nvSpPr>
          <p:spPr>
            <a:xfrm flipH="false" flipV="false" rot="0">
              <a:off x="0" y="0"/>
              <a:ext cx="765146" cy="1017107"/>
            </a:xfrm>
            <a:custGeom>
              <a:avLst/>
              <a:gdLst/>
              <a:ahLst/>
              <a:cxnLst/>
              <a:rect r="r" b="b" t="t" l="l"/>
              <a:pathLst>
                <a:path h="1017107" w="765146">
                  <a:moveTo>
                    <a:pt x="140679" y="0"/>
                  </a:moveTo>
                  <a:lnTo>
                    <a:pt x="624467" y="0"/>
                  </a:lnTo>
                  <a:cubicBezTo>
                    <a:pt x="702162" y="0"/>
                    <a:pt x="765146" y="62984"/>
                    <a:pt x="765146" y="140679"/>
                  </a:cubicBezTo>
                  <a:lnTo>
                    <a:pt x="765146" y="876427"/>
                  </a:lnTo>
                  <a:cubicBezTo>
                    <a:pt x="765146" y="954122"/>
                    <a:pt x="702162" y="1017107"/>
                    <a:pt x="624467" y="1017107"/>
                  </a:cubicBezTo>
                  <a:lnTo>
                    <a:pt x="140679" y="1017107"/>
                  </a:lnTo>
                  <a:cubicBezTo>
                    <a:pt x="62984" y="1017107"/>
                    <a:pt x="0" y="954122"/>
                    <a:pt x="0" y="876427"/>
                  </a:cubicBezTo>
                  <a:lnTo>
                    <a:pt x="0" y="140679"/>
                  </a:lnTo>
                  <a:cubicBezTo>
                    <a:pt x="0" y="62984"/>
                    <a:pt x="62984" y="0"/>
                    <a:pt x="140679" y="0"/>
                  </a:cubicBezTo>
                  <a:close/>
                </a:path>
              </a:pathLst>
            </a:custGeom>
            <a:blipFill>
              <a:blip r:embed="rId2"/>
              <a:stretch>
                <a:fillRect l="-57884" t="0" r="-57884" b="0"/>
              </a:stretch>
            </a:blipFill>
            <a:ln w="104775" cap="rnd">
              <a:gradFill>
                <a:gsLst>
                  <a:gs pos="0">
                    <a:srgbClr val="004AAD">
                      <a:alpha val="100000"/>
                    </a:srgbClr>
                  </a:gs>
                  <a:gs pos="100000">
                    <a:srgbClr val="5DE0E6">
                      <a:alpha val="100000"/>
                    </a:srgbClr>
                  </a:gs>
                </a:gsLst>
                <a:lin ang="0"/>
              </a:gradFill>
              <a:prstDash val="solid"/>
              <a:round/>
            </a:ln>
          </p:spPr>
        </p:sp>
      </p:grpSp>
      <p:sp>
        <p:nvSpPr>
          <p:cNvPr name="TextBox 13" id="13"/>
          <p:cNvSpPr txBox="true"/>
          <p:nvPr/>
        </p:nvSpPr>
        <p:spPr>
          <a:xfrm rot="0">
            <a:off x="1367543" y="1917562"/>
            <a:ext cx="8821902" cy="1951356"/>
          </a:xfrm>
          <a:prstGeom prst="rect">
            <a:avLst/>
          </a:prstGeom>
        </p:spPr>
        <p:txBody>
          <a:bodyPr anchor="t" rtlCol="false" tIns="0" lIns="0" bIns="0" rIns="0">
            <a:spAutoFit/>
          </a:bodyPr>
          <a:lstStyle/>
          <a:p>
            <a:pPr algn="l">
              <a:lnSpc>
                <a:spcPts val="7360"/>
              </a:lnSpc>
            </a:pPr>
            <a:r>
              <a:rPr lang="en-US" b="true" sz="8000" spc="-432">
                <a:solidFill>
                  <a:srgbClr val="FFFFFF"/>
                </a:solidFill>
                <a:latin typeface="Inter Bold"/>
                <a:ea typeface="Inter Bold"/>
                <a:cs typeface="Inter Bold"/>
                <a:sym typeface="Inter Bold"/>
              </a:rPr>
              <a:t>TRUNK LINK TO THE FORTIGATE</a:t>
            </a:r>
          </a:p>
        </p:txBody>
      </p:sp>
      <p:sp>
        <p:nvSpPr>
          <p:cNvPr name="TextBox 14" id="14"/>
          <p:cNvSpPr txBox="true"/>
          <p:nvPr/>
        </p:nvSpPr>
        <p:spPr>
          <a:xfrm rot="0">
            <a:off x="1028700" y="4820835"/>
            <a:ext cx="9701088" cy="4750350"/>
          </a:xfrm>
          <a:prstGeom prst="rect">
            <a:avLst/>
          </a:prstGeom>
        </p:spPr>
        <p:txBody>
          <a:bodyPr anchor="t" rtlCol="false" tIns="0" lIns="0" bIns="0" rIns="0">
            <a:spAutoFit/>
          </a:bodyPr>
          <a:lstStyle/>
          <a:p>
            <a:pPr algn="just">
              <a:lnSpc>
                <a:spcPts val="3819"/>
              </a:lnSpc>
              <a:spcBef>
                <a:spcPct val="0"/>
              </a:spcBef>
            </a:pPr>
            <a:r>
              <a:rPr lang="en-US" sz="2728">
                <a:solidFill>
                  <a:srgbClr val="FFFFFF"/>
                </a:solidFill>
                <a:latin typeface="Inter"/>
                <a:ea typeface="Inter"/>
                <a:cs typeface="Inter"/>
                <a:sym typeface="Inter"/>
              </a:rPr>
              <a:t>“Th</a:t>
            </a:r>
            <a:r>
              <a:rPr lang="en-US" sz="2728">
                <a:solidFill>
                  <a:srgbClr val="FFFFFF"/>
                </a:solidFill>
                <a:latin typeface="Inter"/>
                <a:ea typeface="Inter"/>
                <a:cs typeface="Inter"/>
                <a:sym typeface="Inter"/>
              </a:rPr>
              <a:t>is trunk allows all VLAN traffic to pass to the FortiGate using 802.1Q encapsulation. The firewall performs inter-VLAN routing and applies VPN/security policies.”</a:t>
            </a:r>
          </a:p>
          <a:p>
            <a:pPr algn="just">
              <a:lnSpc>
                <a:spcPts val="3819"/>
              </a:lnSpc>
              <a:spcBef>
                <a:spcPct val="0"/>
              </a:spcBef>
            </a:pPr>
          </a:p>
          <a:p>
            <a:pPr algn="just">
              <a:lnSpc>
                <a:spcPts val="3819"/>
              </a:lnSpc>
              <a:spcBef>
                <a:spcPct val="0"/>
              </a:spcBef>
            </a:pPr>
            <a:r>
              <a:rPr lang="en-US" sz="2728">
                <a:solidFill>
                  <a:srgbClr val="FFFFFF"/>
                </a:solidFill>
                <a:latin typeface="Inter"/>
                <a:ea typeface="Inter"/>
                <a:cs typeface="Inter"/>
                <a:sym typeface="Inter"/>
              </a:rPr>
              <a:t>interface Ethernet3/0</a:t>
            </a:r>
          </a:p>
          <a:p>
            <a:pPr algn="just">
              <a:lnSpc>
                <a:spcPts val="3819"/>
              </a:lnSpc>
              <a:spcBef>
                <a:spcPct val="0"/>
              </a:spcBef>
            </a:pPr>
            <a:r>
              <a:rPr lang="en-US" sz="2728">
                <a:solidFill>
                  <a:srgbClr val="FFFFFF"/>
                </a:solidFill>
                <a:latin typeface="Inter"/>
                <a:ea typeface="Inter"/>
                <a:cs typeface="Inter"/>
                <a:sym typeface="Inter"/>
              </a:rPr>
              <a:t> description TRUNK-to-FortiGate</a:t>
            </a:r>
          </a:p>
          <a:p>
            <a:pPr algn="just">
              <a:lnSpc>
                <a:spcPts val="3819"/>
              </a:lnSpc>
              <a:spcBef>
                <a:spcPct val="0"/>
              </a:spcBef>
            </a:pPr>
            <a:r>
              <a:rPr lang="en-US" sz="2728">
                <a:solidFill>
                  <a:srgbClr val="FFFFFF"/>
                </a:solidFill>
                <a:latin typeface="Inter"/>
                <a:ea typeface="Inter"/>
                <a:cs typeface="Inter"/>
                <a:sym typeface="Inter"/>
              </a:rPr>
              <a:t> switchport trunk encapsulation dot1q</a:t>
            </a:r>
          </a:p>
          <a:p>
            <a:pPr algn="just">
              <a:lnSpc>
                <a:spcPts val="3819"/>
              </a:lnSpc>
              <a:spcBef>
                <a:spcPct val="0"/>
              </a:spcBef>
            </a:pPr>
            <a:r>
              <a:rPr lang="en-US" sz="2728">
                <a:solidFill>
                  <a:srgbClr val="FFFFFF"/>
                </a:solidFill>
                <a:latin typeface="Inter"/>
                <a:ea typeface="Inter"/>
                <a:cs typeface="Inter"/>
                <a:sym typeface="Inter"/>
              </a:rPr>
              <a:t> switchport mode trunk</a:t>
            </a:r>
          </a:p>
          <a:p>
            <a:pPr algn="just">
              <a:lnSpc>
                <a:spcPts val="3819"/>
              </a:lnSpc>
              <a:spcBef>
                <a:spcPct val="0"/>
              </a:spcBef>
            </a:pPr>
            <a:r>
              <a:rPr lang="en-US" sz="2728">
                <a:solidFill>
                  <a:srgbClr val="FFFFFF"/>
                </a:solidFill>
                <a:latin typeface="Inter"/>
                <a:ea typeface="Inter"/>
                <a:cs typeface="Inter"/>
                <a:sym typeface="Inter"/>
              </a:rPr>
              <a:t> switchport trunk allowed vlan 10,20,30,40,50</a:t>
            </a:r>
          </a:p>
          <a:p>
            <a:pPr algn="just">
              <a:lnSpc>
                <a:spcPts val="381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1028700" y="1028700"/>
            <a:ext cx="16230600" cy="4719737"/>
            <a:chOff x="0" y="0"/>
            <a:chExt cx="1115249" cy="324306"/>
          </a:xfrm>
        </p:grpSpPr>
        <p:sp>
          <p:nvSpPr>
            <p:cNvPr name="Freeform 6" id="6"/>
            <p:cNvSpPr/>
            <p:nvPr/>
          </p:nvSpPr>
          <p:spPr>
            <a:xfrm flipH="false" flipV="false" rot="0">
              <a:off x="0" y="0"/>
              <a:ext cx="1115249" cy="324306"/>
            </a:xfrm>
            <a:custGeom>
              <a:avLst/>
              <a:gdLst/>
              <a:ahLst/>
              <a:cxnLst/>
              <a:rect r="r" b="b" t="t" l="l"/>
              <a:pathLst>
                <a:path h="324306" w="1115249">
                  <a:moveTo>
                    <a:pt x="47700" y="0"/>
                  </a:moveTo>
                  <a:lnTo>
                    <a:pt x="1067549" y="0"/>
                  </a:lnTo>
                  <a:cubicBezTo>
                    <a:pt x="1080200" y="0"/>
                    <a:pt x="1092333" y="5025"/>
                    <a:pt x="1101278" y="13971"/>
                  </a:cubicBezTo>
                  <a:cubicBezTo>
                    <a:pt x="1110223" y="22916"/>
                    <a:pt x="1115249" y="35049"/>
                    <a:pt x="1115249" y="47700"/>
                  </a:cubicBezTo>
                  <a:lnTo>
                    <a:pt x="1115249" y="276606"/>
                  </a:lnTo>
                  <a:cubicBezTo>
                    <a:pt x="1115249" y="289257"/>
                    <a:pt x="1110223" y="301390"/>
                    <a:pt x="1101278" y="310335"/>
                  </a:cubicBezTo>
                  <a:cubicBezTo>
                    <a:pt x="1092333" y="319281"/>
                    <a:pt x="1080200" y="324306"/>
                    <a:pt x="1067549" y="324306"/>
                  </a:cubicBezTo>
                  <a:lnTo>
                    <a:pt x="47700" y="324306"/>
                  </a:lnTo>
                  <a:cubicBezTo>
                    <a:pt x="35049" y="324306"/>
                    <a:pt x="22916" y="319281"/>
                    <a:pt x="13971" y="310335"/>
                  </a:cubicBezTo>
                  <a:cubicBezTo>
                    <a:pt x="5025" y="301390"/>
                    <a:pt x="0" y="289257"/>
                    <a:pt x="0" y="276606"/>
                  </a:cubicBezTo>
                  <a:lnTo>
                    <a:pt x="0" y="47700"/>
                  </a:lnTo>
                  <a:cubicBezTo>
                    <a:pt x="0" y="35049"/>
                    <a:pt x="5025" y="22916"/>
                    <a:pt x="13971" y="13971"/>
                  </a:cubicBezTo>
                  <a:cubicBezTo>
                    <a:pt x="22916" y="5025"/>
                    <a:pt x="35049" y="0"/>
                    <a:pt x="47700" y="0"/>
                  </a:cubicBezTo>
                  <a:close/>
                </a:path>
              </a:pathLst>
            </a:custGeom>
            <a:gradFill rotWithShape="true">
              <a:gsLst>
                <a:gs pos="0">
                  <a:srgbClr val="5DE0E6">
                    <a:alpha val="100000"/>
                  </a:srgbClr>
                </a:gs>
                <a:gs pos="100000">
                  <a:srgbClr val="004AAD">
                    <a:alpha val="100000"/>
                  </a:srgbClr>
                </a:gs>
              </a:gsLst>
              <a:lin ang="0"/>
            </a:gradFill>
          </p:spPr>
        </p:sp>
        <p:sp>
          <p:nvSpPr>
            <p:cNvPr name="TextBox 7" id="7"/>
            <p:cNvSpPr txBox="true"/>
            <p:nvPr/>
          </p:nvSpPr>
          <p:spPr>
            <a:xfrm>
              <a:off x="0" y="-47625"/>
              <a:ext cx="1115249" cy="371931"/>
            </a:xfrm>
            <a:prstGeom prst="rect">
              <a:avLst/>
            </a:prstGeom>
          </p:spPr>
          <p:txBody>
            <a:bodyPr anchor="ctr" rtlCol="false" tIns="63943" lIns="63943" bIns="63943" rIns="63943"/>
            <a:lstStyle/>
            <a:p>
              <a:pPr algn="ctr">
                <a:lnSpc>
                  <a:spcPts val="3359"/>
                </a:lnSpc>
              </a:pPr>
            </a:p>
          </p:txBody>
        </p:sp>
      </p:grpSp>
      <p:grpSp>
        <p:nvGrpSpPr>
          <p:cNvPr name="Group 8" id="8"/>
          <p:cNvGrpSpPr/>
          <p:nvPr/>
        </p:nvGrpSpPr>
        <p:grpSpPr>
          <a:xfrm rot="0">
            <a:off x="1327641" y="1290196"/>
            <a:ext cx="15632719" cy="4196744"/>
            <a:chOff x="0" y="0"/>
            <a:chExt cx="2308933" cy="619854"/>
          </a:xfrm>
        </p:grpSpPr>
        <p:sp>
          <p:nvSpPr>
            <p:cNvPr name="Freeform 9" id="9"/>
            <p:cNvSpPr/>
            <p:nvPr/>
          </p:nvSpPr>
          <p:spPr>
            <a:xfrm flipH="false" flipV="false" rot="0">
              <a:off x="0" y="0"/>
              <a:ext cx="2308933" cy="619854"/>
            </a:xfrm>
            <a:custGeom>
              <a:avLst/>
              <a:gdLst/>
              <a:ahLst/>
              <a:cxnLst/>
              <a:rect r="r" b="b" t="t" l="l"/>
              <a:pathLst>
                <a:path h="619854" w="2308933">
                  <a:moveTo>
                    <a:pt x="49524" y="0"/>
                  </a:moveTo>
                  <a:lnTo>
                    <a:pt x="2259410" y="0"/>
                  </a:lnTo>
                  <a:cubicBezTo>
                    <a:pt x="2286761" y="0"/>
                    <a:pt x="2308933" y="22173"/>
                    <a:pt x="2308933" y="49524"/>
                  </a:cubicBezTo>
                  <a:lnTo>
                    <a:pt x="2308933" y="570330"/>
                  </a:lnTo>
                  <a:cubicBezTo>
                    <a:pt x="2308933" y="583465"/>
                    <a:pt x="2303716" y="596061"/>
                    <a:pt x="2294428" y="605349"/>
                  </a:cubicBezTo>
                  <a:cubicBezTo>
                    <a:pt x="2285141" y="614636"/>
                    <a:pt x="2272544" y="619854"/>
                    <a:pt x="2259410" y="619854"/>
                  </a:cubicBezTo>
                  <a:lnTo>
                    <a:pt x="49524" y="619854"/>
                  </a:lnTo>
                  <a:cubicBezTo>
                    <a:pt x="36389" y="619854"/>
                    <a:pt x="23793" y="614636"/>
                    <a:pt x="14505" y="605349"/>
                  </a:cubicBezTo>
                  <a:cubicBezTo>
                    <a:pt x="5218" y="596061"/>
                    <a:pt x="0" y="583465"/>
                    <a:pt x="0" y="570330"/>
                  </a:cubicBezTo>
                  <a:lnTo>
                    <a:pt x="0" y="49524"/>
                  </a:lnTo>
                  <a:cubicBezTo>
                    <a:pt x="0" y="36389"/>
                    <a:pt x="5218" y="23793"/>
                    <a:pt x="14505" y="14505"/>
                  </a:cubicBezTo>
                  <a:cubicBezTo>
                    <a:pt x="23793" y="5218"/>
                    <a:pt x="36389" y="0"/>
                    <a:pt x="49524" y="0"/>
                  </a:cubicBezTo>
                  <a:close/>
                </a:path>
              </a:pathLst>
            </a:custGeom>
            <a:blipFill>
              <a:blip r:embed="rId2"/>
              <a:stretch>
                <a:fillRect l="0" t="-21944" r="0" b="-113193"/>
              </a:stretch>
            </a:blipFill>
            <a:ln w="104775" cap="rnd">
              <a:gradFill>
                <a:gsLst>
                  <a:gs pos="0">
                    <a:srgbClr val="004AAD">
                      <a:alpha val="100000"/>
                    </a:srgbClr>
                  </a:gs>
                  <a:gs pos="100000">
                    <a:srgbClr val="5DE0E6">
                      <a:alpha val="100000"/>
                    </a:srgbClr>
                  </a:gs>
                </a:gsLst>
                <a:lin ang="0"/>
              </a:gradFill>
              <a:prstDash val="solid"/>
              <a:round/>
            </a:ln>
          </p:spPr>
        </p:sp>
      </p:grpSp>
      <p:grpSp>
        <p:nvGrpSpPr>
          <p:cNvPr name="Group 10" id="10"/>
          <p:cNvGrpSpPr/>
          <p:nvPr/>
        </p:nvGrpSpPr>
        <p:grpSpPr>
          <a:xfrm rot="0">
            <a:off x="9225501" y="5839387"/>
            <a:ext cx="8384227" cy="812156"/>
            <a:chOff x="0" y="0"/>
            <a:chExt cx="2208191" cy="213901"/>
          </a:xfrm>
        </p:grpSpPr>
        <p:sp>
          <p:nvSpPr>
            <p:cNvPr name="Freeform 11" id="11"/>
            <p:cNvSpPr/>
            <p:nvPr/>
          </p:nvSpPr>
          <p:spPr>
            <a:xfrm flipH="false" flipV="false" rot="0">
              <a:off x="0" y="0"/>
              <a:ext cx="2208192" cy="213901"/>
            </a:xfrm>
            <a:custGeom>
              <a:avLst/>
              <a:gdLst/>
              <a:ahLst/>
              <a:cxnLst/>
              <a:rect r="r" b="b" t="t" l="l"/>
              <a:pathLst>
                <a:path h="213901" w="2208192">
                  <a:moveTo>
                    <a:pt x="80335" y="0"/>
                  </a:moveTo>
                  <a:lnTo>
                    <a:pt x="2127857" y="0"/>
                  </a:lnTo>
                  <a:cubicBezTo>
                    <a:pt x="2172224" y="0"/>
                    <a:pt x="2208192" y="35967"/>
                    <a:pt x="2208192" y="80335"/>
                  </a:cubicBezTo>
                  <a:lnTo>
                    <a:pt x="2208192" y="133566"/>
                  </a:lnTo>
                  <a:cubicBezTo>
                    <a:pt x="2208192" y="177934"/>
                    <a:pt x="2172224" y="213901"/>
                    <a:pt x="2127857" y="213901"/>
                  </a:cubicBezTo>
                  <a:lnTo>
                    <a:pt x="80335" y="213901"/>
                  </a:lnTo>
                  <a:cubicBezTo>
                    <a:pt x="35967" y="213901"/>
                    <a:pt x="0" y="177934"/>
                    <a:pt x="0" y="133566"/>
                  </a:cubicBezTo>
                  <a:lnTo>
                    <a:pt x="0" y="80335"/>
                  </a:lnTo>
                  <a:cubicBezTo>
                    <a:pt x="0" y="35967"/>
                    <a:pt x="35967" y="0"/>
                    <a:pt x="80335" y="0"/>
                  </a:cubicBezTo>
                  <a:close/>
                </a:path>
              </a:pathLst>
            </a:custGeom>
            <a:solidFill>
              <a:srgbClr val="000000">
                <a:alpha val="0"/>
              </a:srgbClr>
            </a:solidFill>
            <a:ln w="19050" cap="rnd">
              <a:solidFill>
                <a:srgbClr val="FFFFFF"/>
              </a:solidFill>
              <a:prstDash val="solid"/>
              <a:round/>
            </a:ln>
          </p:spPr>
        </p:sp>
        <p:sp>
          <p:nvSpPr>
            <p:cNvPr name="TextBox 12" id="12"/>
            <p:cNvSpPr txBox="true"/>
            <p:nvPr/>
          </p:nvSpPr>
          <p:spPr>
            <a:xfrm>
              <a:off x="0" y="-66675"/>
              <a:ext cx="2208191" cy="280576"/>
            </a:xfrm>
            <a:prstGeom prst="rect">
              <a:avLst/>
            </a:prstGeom>
          </p:spPr>
          <p:txBody>
            <a:bodyPr anchor="ctr" rtlCol="false" tIns="50800" lIns="50800" bIns="50800" rIns="50800"/>
            <a:lstStyle/>
            <a:p>
              <a:pPr algn="ctr">
                <a:lnSpc>
                  <a:spcPts val="3919"/>
                </a:lnSpc>
              </a:pPr>
              <a:r>
                <a:rPr lang="en-US" sz="2799">
                  <a:solidFill>
                    <a:srgbClr val="FFFFFF"/>
                  </a:solidFill>
                  <a:latin typeface="Inter"/>
                  <a:ea typeface="Inter"/>
                  <a:cs typeface="Inter"/>
                  <a:sym typeface="Inter"/>
                </a:rPr>
                <a:t>Preparing the Network for VPN Implementation</a:t>
              </a:r>
            </a:p>
          </p:txBody>
        </p:sp>
      </p:grpSp>
      <p:sp>
        <p:nvSpPr>
          <p:cNvPr name="TextBox 13" id="13"/>
          <p:cNvSpPr txBox="true"/>
          <p:nvPr/>
        </p:nvSpPr>
        <p:spPr>
          <a:xfrm rot="0">
            <a:off x="770129" y="6861093"/>
            <a:ext cx="8455371" cy="1877571"/>
          </a:xfrm>
          <a:prstGeom prst="rect">
            <a:avLst/>
          </a:prstGeom>
        </p:spPr>
        <p:txBody>
          <a:bodyPr anchor="t" rtlCol="false" tIns="0" lIns="0" bIns="0" rIns="0">
            <a:spAutoFit/>
          </a:bodyPr>
          <a:lstStyle/>
          <a:p>
            <a:pPr algn="l">
              <a:lnSpc>
                <a:spcPts val="7176"/>
              </a:lnSpc>
            </a:pPr>
            <a:r>
              <a:rPr lang="en-US" sz="7800" spc="-421" b="true">
                <a:solidFill>
                  <a:srgbClr val="FFFFFF"/>
                </a:solidFill>
                <a:latin typeface="Inter Bold"/>
                <a:ea typeface="Inter Bold"/>
                <a:cs typeface="Inter Bold"/>
                <a:sym typeface="Inter Bold"/>
              </a:rPr>
              <a:t>How My Work Supports the VPN</a:t>
            </a:r>
          </a:p>
        </p:txBody>
      </p:sp>
      <p:sp>
        <p:nvSpPr>
          <p:cNvPr name="TextBox 14" id="14"/>
          <p:cNvSpPr txBox="true"/>
          <p:nvPr/>
        </p:nvSpPr>
        <p:spPr>
          <a:xfrm rot="0">
            <a:off x="9144000" y="6699168"/>
            <a:ext cx="8384227" cy="2986661"/>
          </a:xfrm>
          <a:prstGeom prst="rect">
            <a:avLst/>
          </a:prstGeom>
        </p:spPr>
        <p:txBody>
          <a:bodyPr anchor="t" rtlCol="false" tIns="0" lIns="0" bIns="0" rIns="0">
            <a:spAutoFit/>
          </a:bodyPr>
          <a:lstStyle/>
          <a:p>
            <a:pPr algn="just">
              <a:lnSpc>
                <a:spcPts val="3380"/>
              </a:lnSpc>
            </a:pPr>
            <a:r>
              <a:rPr lang="en-US" sz="2414">
                <a:solidFill>
                  <a:srgbClr val="FFFFFF"/>
                </a:solidFill>
                <a:latin typeface="Inter"/>
                <a:ea typeface="Inter"/>
                <a:cs typeface="Inter"/>
                <a:sym typeface="Inter"/>
              </a:rPr>
              <a:t>“Although I didn’t configure the VPN myself, my work on VLANs and network setup created the foundation for it. By organizing the network, setting up subnets, gateways, and DHCP, I made it easier for the team to implement VPNs, apply firewall policies, and ensure secure connectivity. Essentially, I prepared the internal network environment so the VPN could function correctly.”</a:t>
            </a: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0">
            <a:off x="3640431" y="3219794"/>
            <a:ext cx="12604519" cy="5154464"/>
            <a:chOff x="0" y="0"/>
            <a:chExt cx="3319709" cy="1357554"/>
          </a:xfrm>
        </p:grpSpPr>
        <p:sp>
          <p:nvSpPr>
            <p:cNvPr name="Freeform 6" id="6"/>
            <p:cNvSpPr/>
            <p:nvPr/>
          </p:nvSpPr>
          <p:spPr>
            <a:xfrm flipH="false" flipV="false" rot="0">
              <a:off x="0" y="0"/>
              <a:ext cx="3319709" cy="1357554"/>
            </a:xfrm>
            <a:custGeom>
              <a:avLst/>
              <a:gdLst/>
              <a:ahLst/>
              <a:cxnLst/>
              <a:rect r="r" b="b" t="t" l="l"/>
              <a:pathLst>
                <a:path h="1357554" w="3319709">
                  <a:moveTo>
                    <a:pt x="53437" y="0"/>
                  </a:moveTo>
                  <a:lnTo>
                    <a:pt x="3266272" y="0"/>
                  </a:lnTo>
                  <a:cubicBezTo>
                    <a:pt x="3280444" y="0"/>
                    <a:pt x="3294036" y="5630"/>
                    <a:pt x="3304057" y="15651"/>
                  </a:cubicBezTo>
                  <a:cubicBezTo>
                    <a:pt x="3314079" y="25673"/>
                    <a:pt x="3319709" y="39265"/>
                    <a:pt x="3319709" y="53437"/>
                  </a:cubicBezTo>
                  <a:lnTo>
                    <a:pt x="3319709" y="1304117"/>
                  </a:lnTo>
                  <a:cubicBezTo>
                    <a:pt x="3319709" y="1318290"/>
                    <a:pt x="3314079" y="1331882"/>
                    <a:pt x="3304057" y="1341903"/>
                  </a:cubicBezTo>
                  <a:cubicBezTo>
                    <a:pt x="3294036" y="1351924"/>
                    <a:pt x="3280444" y="1357554"/>
                    <a:pt x="3266272" y="1357554"/>
                  </a:cubicBezTo>
                  <a:lnTo>
                    <a:pt x="53437" y="1357554"/>
                  </a:lnTo>
                  <a:cubicBezTo>
                    <a:pt x="39265" y="1357554"/>
                    <a:pt x="25673" y="1351924"/>
                    <a:pt x="15651" y="1341903"/>
                  </a:cubicBezTo>
                  <a:cubicBezTo>
                    <a:pt x="5630" y="1331882"/>
                    <a:pt x="0" y="1318290"/>
                    <a:pt x="0" y="1304117"/>
                  </a:cubicBezTo>
                  <a:lnTo>
                    <a:pt x="0" y="53437"/>
                  </a:lnTo>
                  <a:cubicBezTo>
                    <a:pt x="0" y="39265"/>
                    <a:pt x="5630" y="25673"/>
                    <a:pt x="15651" y="15651"/>
                  </a:cubicBezTo>
                  <a:cubicBezTo>
                    <a:pt x="25673" y="5630"/>
                    <a:pt x="39265" y="0"/>
                    <a:pt x="53437" y="0"/>
                  </a:cubicBezTo>
                  <a:close/>
                </a:path>
              </a:pathLst>
            </a:custGeom>
            <a:solidFill>
              <a:srgbClr val="000000">
                <a:alpha val="0"/>
              </a:srgbClr>
            </a:solidFill>
            <a:ln w="19050" cap="rnd">
              <a:solidFill>
                <a:srgbClr val="FFFFFF"/>
              </a:solidFill>
              <a:prstDash val="solid"/>
              <a:round/>
            </a:ln>
          </p:spPr>
        </p:sp>
        <p:sp>
          <p:nvSpPr>
            <p:cNvPr name="TextBox 7" id="7"/>
            <p:cNvSpPr txBox="true"/>
            <p:nvPr/>
          </p:nvSpPr>
          <p:spPr>
            <a:xfrm>
              <a:off x="0" y="-76200"/>
              <a:ext cx="3319709" cy="1433754"/>
            </a:xfrm>
            <a:prstGeom prst="rect">
              <a:avLst/>
            </a:prstGeom>
          </p:spPr>
          <p:txBody>
            <a:bodyPr anchor="ctr" rtlCol="false" tIns="50800" lIns="50800" bIns="50800" rIns="50800"/>
            <a:lstStyle/>
            <a:p>
              <a:pPr algn="ctr">
                <a:lnSpc>
                  <a:spcPts val="4759"/>
                </a:lnSpc>
              </a:pPr>
              <a:r>
                <a:rPr lang="en-US" sz="3399">
                  <a:solidFill>
                    <a:srgbClr val="FFFFFF"/>
                  </a:solidFill>
                  <a:latin typeface="Inter"/>
                  <a:ea typeface="Inter"/>
                  <a:cs typeface="Inter"/>
                  <a:sym typeface="Inter"/>
                </a:rPr>
                <a:t>In summary, this project gave me the chance to apply the skills I learned in a real practical scenario.</a:t>
              </a:r>
            </a:p>
            <a:p>
              <a:pPr algn="ctr">
                <a:lnSpc>
                  <a:spcPts val="4759"/>
                </a:lnSpc>
              </a:pPr>
              <a:r>
                <a:rPr lang="en-US" sz="3399">
                  <a:solidFill>
                    <a:srgbClr val="FFFFFF"/>
                  </a:solidFill>
                  <a:latin typeface="Inter"/>
                  <a:ea typeface="Inter"/>
                  <a:cs typeface="Inter"/>
                  <a:sym typeface="Inter"/>
                </a:rPr>
                <a:t>I was able to build the network step-by-step, document the process clearly, and troubleshoot issues professionally.</a:t>
              </a:r>
            </a:p>
            <a:p>
              <a:pPr algn="ctr">
                <a:lnSpc>
                  <a:spcPts val="4759"/>
                </a:lnSpc>
              </a:pPr>
              <a:r>
                <a:rPr lang="en-US" sz="3399">
                  <a:solidFill>
                    <a:srgbClr val="FFFFFF"/>
                  </a:solidFill>
                  <a:latin typeface="Inter"/>
                  <a:ea typeface="Inter"/>
                  <a:cs typeface="Inter"/>
                  <a:sym typeface="Inter"/>
                </a:rPr>
                <a:t>Overall, it helped me improve my technical skills and understand how networks work in real environments.</a:t>
              </a:r>
            </a:p>
            <a:p>
              <a:pPr algn="ctr">
                <a:lnSpc>
                  <a:spcPts val="4759"/>
                </a:lnSpc>
              </a:pPr>
            </a:p>
          </p:txBody>
        </p:sp>
      </p:grpSp>
      <p:grpSp>
        <p:nvGrpSpPr>
          <p:cNvPr name="Group 8" id="8"/>
          <p:cNvGrpSpPr/>
          <p:nvPr/>
        </p:nvGrpSpPr>
        <p:grpSpPr>
          <a:xfrm rot="-9378291">
            <a:off x="14710706" y="6781997"/>
            <a:ext cx="6203238" cy="620323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gradFill>
                <a:gsLst>
                  <a:gs pos="0">
                    <a:srgbClr val="004AAD">
                      <a:alpha val="100000"/>
                    </a:srgbClr>
                  </a:gs>
                  <a:gs pos="100000">
                    <a:srgbClr val="5DE0E6">
                      <a:alpha val="100000"/>
                    </a:srgbClr>
                  </a:gs>
                </a:gsLst>
                <a:lin ang="0"/>
              </a:gradFill>
              <a:prstDash val="solid"/>
              <a:miter/>
            </a:ln>
          </p:spPr>
        </p:sp>
        <p:sp>
          <p:nvSpPr>
            <p:cNvPr name="TextBox 10" id="10"/>
            <p:cNvSpPr txBox="true"/>
            <p:nvPr/>
          </p:nvSpPr>
          <p:spPr>
            <a:xfrm>
              <a:off x="76200" y="28575"/>
              <a:ext cx="660400" cy="708025"/>
            </a:xfrm>
            <a:prstGeom prst="rect">
              <a:avLst/>
            </a:prstGeom>
          </p:spPr>
          <p:txBody>
            <a:bodyPr anchor="ctr" rtlCol="false" tIns="81782" lIns="81782" bIns="81782" rIns="81782"/>
            <a:lstStyle/>
            <a:p>
              <a:pPr algn="ctr">
                <a:lnSpc>
                  <a:spcPts val="3360"/>
                </a:lnSpc>
              </a:pPr>
            </a:p>
          </p:txBody>
        </p:sp>
      </p:grpSp>
      <p:grpSp>
        <p:nvGrpSpPr>
          <p:cNvPr name="Group 11" id="11"/>
          <p:cNvGrpSpPr/>
          <p:nvPr/>
        </p:nvGrpSpPr>
        <p:grpSpPr>
          <a:xfrm rot="0">
            <a:off x="15328200" y="7399491"/>
            <a:ext cx="4968251" cy="4968251"/>
            <a:chOff x="0" y="0"/>
            <a:chExt cx="6624335" cy="6624335"/>
          </a:xfrm>
        </p:grpSpPr>
        <p:grpSp>
          <p:nvGrpSpPr>
            <p:cNvPr name="Group 12" id="12"/>
            <p:cNvGrpSpPr/>
            <p:nvPr/>
          </p:nvGrpSpPr>
          <p:grpSpPr>
            <a:xfrm rot="0">
              <a:off x="0" y="0"/>
              <a:ext cx="6624335" cy="662433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4AAD">
                      <a:alpha val="100000"/>
                    </a:srgbClr>
                  </a:gs>
                  <a:gs pos="100000">
                    <a:srgbClr val="5DE0E6">
                      <a:alpha val="100000"/>
                    </a:srgbClr>
                  </a:gs>
                </a:gsLst>
                <a:lin ang="0"/>
              </a:gra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5" id="15"/>
            <p:cNvGrpSpPr/>
            <p:nvPr/>
          </p:nvGrpSpPr>
          <p:grpSpPr>
            <a:xfrm rot="0">
              <a:off x="347536" y="347536"/>
              <a:ext cx="5929263" cy="592926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grpSp>
        <p:nvGrpSpPr>
          <p:cNvPr name="Group 18" id="18"/>
          <p:cNvGrpSpPr/>
          <p:nvPr/>
        </p:nvGrpSpPr>
        <p:grpSpPr>
          <a:xfrm rot="-9378291">
            <a:off x="-2579987" y="-2714657"/>
            <a:ext cx="6203238" cy="620323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gradFill>
                <a:gsLst>
                  <a:gs pos="0">
                    <a:srgbClr val="004AAD">
                      <a:alpha val="100000"/>
                    </a:srgbClr>
                  </a:gs>
                  <a:gs pos="100000">
                    <a:srgbClr val="5DE0E6">
                      <a:alpha val="100000"/>
                    </a:srgbClr>
                  </a:gs>
                </a:gsLst>
                <a:lin ang="0"/>
              </a:gradFill>
              <a:prstDash val="solid"/>
              <a:miter/>
            </a:ln>
          </p:spPr>
        </p:sp>
        <p:sp>
          <p:nvSpPr>
            <p:cNvPr name="TextBox 20" id="20"/>
            <p:cNvSpPr txBox="true"/>
            <p:nvPr/>
          </p:nvSpPr>
          <p:spPr>
            <a:xfrm>
              <a:off x="76200" y="28575"/>
              <a:ext cx="660400" cy="708025"/>
            </a:xfrm>
            <a:prstGeom prst="rect">
              <a:avLst/>
            </a:prstGeom>
          </p:spPr>
          <p:txBody>
            <a:bodyPr anchor="ctr" rtlCol="false" tIns="81782" lIns="81782" bIns="81782" rIns="81782"/>
            <a:lstStyle/>
            <a:p>
              <a:pPr algn="ctr">
                <a:lnSpc>
                  <a:spcPts val="3360"/>
                </a:lnSpc>
              </a:pPr>
            </a:p>
          </p:txBody>
        </p:sp>
      </p:grpSp>
      <p:grpSp>
        <p:nvGrpSpPr>
          <p:cNvPr name="Group 21" id="21"/>
          <p:cNvGrpSpPr/>
          <p:nvPr/>
        </p:nvGrpSpPr>
        <p:grpSpPr>
          <a:xfrm rot="0">
            <a:off x="-1962493" y="-2097163"/>
            <a:ext cx="4968251" cy="4968251"/>
            <a:chOff x="0" y="0"/>
            <a:chExt cx="6624335" cy="6624335"/>
          </a:xfrm>
        </p:grpSpPr>
        <p:grpSp>
          <p:nvGrpSpPr>
            <p:cNvPr name="Group 22" id="22"/>
            <p:cNvGrpSpPr/>
            <p:nvPr/>
          </p:nvGrpSpPr>
          <p:grpSpPr>
            <a:xfrm rot="0">
              <a:off x="0" y="0"/>
              <a:ext cx="6624335" cy="662433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4AAD">
                      <a:alpha val="100000"/>
                    </a:srgbClr>
                  </a:gs>
                  <a:gs pos="100000">
                    <a:srgbClr val="5DE0E6">
                      <a:alpha val="100000"/>
                    </a:srgbClr>
                  </a:gs>
                </a:gsLst>
                <a:lin ang="0"/>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25" id="25"/>
            <p:cNvGrpSpPr/>
            <p:nvPr/>
          </p:nvGrpSpPr>
          <p:grpSpPr>
            <a:xfrm rot="0">
              <a:off x="347536" y="347536"/>
              <a:ext cx="5929263" cy="592926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sp>
        <p:nvSpPr>
          <p:cNvPr name="TextBox 28" id="28"/>
          <p:cNvSpPr txBox="true"/>
          <p:nvPr/>
        </p:nvSpPr>
        <p:spPr>
          <a:xfrm rot="0">
            <a:off x="4218217" y="1853182"/>
            <a:ext cx="11109983" cy="1017906"/>
          </a:xfrm>
          <a:prstGeom prst="rect">
            <a:avLst/>
          </a:prstGeom>
        </p:spPr>
        <p:txBody>
          <a:bodyPr anchor="t" rtlCol="false" tIns="0" lIns="0" bIns="0" rIns="0">
            <a:spAutoFit/>
          </a:bodyPr>
          <a:lstStyle/>
          <a:p>
            <a:pPr algn="ctr">
              <a:lnSpc>
                <a:spcPts val="7360"/>
              </a:lnSpc>
            </a:pPr>
            <a:r>
              <a:rPr lang="en-US" b="true" sz="8000" spc="-432">
                <a:solidFill>
                  <a:srgbClr val="FFFFFF"/>
                </a:solidFill>
                <a:latin typeface="Inter Bold"/>
                <a:ea typeface="Inter Bold"/>
                <a:cs typeface="Inter Bold"/>
                <a:sym typeface="Inter Bold"/>
              </a:rPr>
              <a:t>SUMMARY OF MY PART</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000000">
                <a:alpha val="100000"/>
              </a:srgbClr>
            </a:gs>
            <a:gs pos="33333">
              <a:srgbClr val="000000">
                <a:alpha val="100000"/>
              </a:srgbClr>
            </a:gs>
            <a:gs pos="66667">
              <a:srgbClr val="004AAD">
                <a:alpha val="100000"/>
              </a:srgbClr>
            </a:gs>
            <a:gs pos="100000">
              <a:srgbClr val="000000">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351789" y="413957"/>
            <a:ext cx="17584422" cy="9459086"/>
            <a:chOff x="0" y="0"/>
            <a:chExt cx="4631288" cy="2491282"/>
          </a:xfrm>
        </p:grpSpPr>
        <p:sp>
          <p:nvSpPr>
            <p:cNvPr name="Freeform 3" id="3"/>
            <p:cNvSpPr/>
            <p:nvPr/>
          </p:nvSpPr>
          <p:spPr>
            <a:xfrm flipH="false" flipV="false" rot="0">
              <a:off x="0" y="0"/>
              <a:ext cx="4631288" cy="2491282"/>
            </a:xfrm>
            <a:custGeom>
              <a:avLst/>
              <a:gdLst/>
              <a:ahLst/>
              <a:cxnLst/>
              <a:rect r="r" b="b" t="t" l="l"/>
              <a:pathLst>
                <a:path h="2491282" w="4631288">
                  <a:moveTo>
                    <a:pt x="39184" y="0"/>
                  </a:moveTo>
                  <a:lnTo>
                    <a:pt x="4592104" y="0"/>
                  </a:lnTo>
                  <a:cubicBezTo>
                    <a:pt x="4613745" y="0"/>
                    <a:pt x="4631288" y="17543"/>
                    <a:pt x="4631288" y="39184"/>
                  </a:cubicBezTo>
                  <a:lnTo>
                    <a:pt x="4631288" y="2452098"/>
                  </a:lnTo>
                  <a:cubicBezTo>
                    <a:pt x="4631288" y="2473739"/>
                    <a:pt x="4613745" y="2491282"/>
                    <a:pt x="4592104" y="2491282"/>
                  </a:cubicBezTo>
                  <a:lnTo>
                    <a:pt x="39184" y="2491282"/>
                  </a:lnTo>
                  <a:cubicBezTo>
                    <a:pt x="17543" y="2491282"/>
                    <a:pt x="0" y="2473739"/>
                    <a:pt x="0" y="2452098"/>
                  </a:cubicBezTo>
                  <a:lnTo>
                    <a:pt x="0" y="39184"/>
                  </a:lnTo>
                  <a:cubicBezTo>
                    <a:pt x="0" y="17543"/>
                    <a:pt x="17543" y="0"/>
                    <a:pt x="39184" y="0"/>
                  </a:cubicBezTo>
                  <a:close/>
                </a:path>
              </a:pathLst>
            </a:custGeom>
            <a:gradFill rotWithShape="true">
              <a:gsLst>
                <a:gs pos="0">
                  <a:srgbClr val="000000">
                    <a:alpha val="100000"/>
                  </a:srgbClr>
                </a:gs>
                <a:gs pos="100000">
                  <a:srgbClr val="004AAD">
                    <a:alpha val="100000"/>
                  </a:srgbClr>
                </a:gs>
              </a:gsLst>
              <a:path path="circle">
                <a:fillToRect l="0" r="100000" t="0" b="100000"/>
              </a:path>
              <a:tileRect r="0" l="-100000" b="0" t="-100000"/>
            </a:gradFill>
            <a:ln w="38100" cap="rnd">
              <a:gradFill>
                <a:gsLst>
                  <a:gs pos="0">
                    <a:srgbClr val="5DE0E6">
                      <a:alpha val="100000"/>
                    </a:srgbClr>
                  </a:gs>
                  <a:gs pos="100000">
                    <a:srgbClr val="004AAD">
                      <a:alpha val="100000"/>
                    </a:srgbClr>
                  </a:gs>
                </a:gsLst>
                <a:lin ang="0"/>
              </a:gradFill>
              <a:prstDash val="solid"/>
              <a:round/>
            </a:ln>
          </p:spPr>
        </p:sp>
        <p:sp>
          <p:nvSpPr>
            <p:cNvPr name="TextBox 4" id="4"/>
            <p:cNvSpPr txBox="true"/>
            <p:nvPr/>
          </p:nvSpPr>
          <p:spPr>
            <a:xfrm>
              <a:off x="0" y="-28575"/>
              <a:ext cx="4631288" cy="2519857"/>
            </a:xfrm>
            <a:prstGeom prst="rect">
              <a:avLst/>
            </a:prstGeom>
          </p:spPr>
          <p:txBody>
            <a:bodyPr anchor="ctr" rtlCol="false" tIns="50800" lIns="50800" bIns="50800" rIns="50800"/>
            <a:lstStyle/>
            <a:p>
              <a:pPr algn="ctr">
                <a:lnSpc>
                  <a:spcPts val="2087"/>
                </a:lnSpc>
              </a:pPr>
            </a:p>
          </p:txBody>
        </p:sp>
      </p:grpSp>
      <p:grpSp>
        <p:nvGrpSpPr>
          <p:cNvPr name="Group 5" id="5"/>
          <p:cNvGrpSpPr/>
          <p:nvPr/>
        </p:nvGrpSpPr>
        <p:grpSpPr>
          <a:xfrm rot="-9378291">
            <a:off x="14710706" y="6781997"/>
            <a:ext cx="6203238" cy="620323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gradFill>
                <a:gsLst>
                  <a:gs pos="0">
                    <a:srgbClr val="004AAD">
                      <a:alpha val="100000"/>
                    </a:srgbClr>
                  </a:gs>
                  <a:gs pos="100000">
                    <a:srgbClr val="5DE0E6">
                      <a:alpha val="100000"/>
                    </a:srgbClr>
                  </a:gs>
                </a:gsLst>
                <a:lin ang="0"/>
              </a:gradFill>
              <a:prstDash val="solid"/>
              <a:miter/>
            </a:ln>
          </p:spPr>
        </p:sp>
        <p:sp>
          <p:nvSpPr>
            <p:cNvPr name="TextBox 7" id="7"/>
            <p:cNvSpPr txBox="true"/>
            <p:nvPr/>
          </p:nvSpPr>
          <p:spPr>
            <a:xfrm>
              <a:off x="76200" y="28575"/>
              <a:ext cx="660400" cy="708025"/>
            </a:xfrm>
            <a:prstGeom prst="rect">
              <a:avLst/>
            </a:prstGeom>
          </p:spPr>
          <p:txBody>
            <a:bodyPr anchor="ctr" rtlCol="false" tIns="81782" lIns="81782" bIns="81782" rIns="81782"/>
            <a:lstStyle/>
            <a:p>
              <a:pPr algn="ctr">
                <a:lnSpc>
                  <a:spcPts val="3360"/>
                </a:lnSpc>
              </a:pPr>
            </a:p>
          </p:txBody>
        </p:sp>
      </p:grpSp>
      <p:grpSp>
        <p:nvGrpSpPr>
          <p:cNvPr name="Group 8" id="8"/>
          <p:cNvGrpSpPr/>
          <p:nvPr/>
        </p:nvGrpSpPr>
        <p:grpSpPr>
          <a:xfrm rot="0">
            <a:off x="15328200" y="7399491"/>
            <a:ext cx="4968251" cy="4968251"/>
            <a:chOff x="0" y="0"/>
            <a:chExt cx="6624335" cy="6624335"/>
          </a:xfrm>
        </p:grpSpPr>
        <p:grpSp>
          <p:nvGrpSpPr>
            <p:cNvPr name="Group 9" id="9"/>
            <p:cNvGrpSpPr/>
            <p:nvPr/>
          </p:nvGrpSpPr>
          <p:grpSpPr>
            <a:xfrm rot="0">
              <a:off x="0" y="0"/>
              <a:ext cx="6624335" cy="662433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4AAD">
                      <a:alpha val="100000"/>
                    </a:srgbClr>
                  </a:gs>
                  <a:gs pos="100000">
                    <a:srgbClr val="5DE0E6">
                      <a:alpha val="100000"/>
                    </a:srgbClr>
                  </a:gs>
                </a:gsLst>
                <a:lin ang="0"/>
              </a:gra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12" id="12"/>
            <p:cNvGrpSpPr/>
            <p:nvPr/>
          </p:nvGrpSpPr>
          <p:grpSpPr>
            <a:xfrm rot="0">
              <a:off x="347536" y="347536"/>
              <a:ext cx="5929263" cy="592926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grpSp>
        <p:nvGrpSpPr>
          <p:cNvPr name="Group 15" id="15"/>
          <p:cNvGrpSpPr/>
          <p:nvPr/>
        </p:nvGrpSpPr>
        <p:grpSpPr>
          <a:xfrm rot="-9378291">
            <a:off x="-2579987" y="-2714657"/>
            <a:ext cx="6203238" cy="620323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gradFill>
                <a:gsLst>
                  <a:gs pos="0">
                    <a:srgbClr val="004AAD">
                      <a:alpha val="100000"/>
                    </a:srgbClr>
                  </a:gs>
                  <a:gs pos="100000">
                    <a:srgbClr val="5DE0E6">
                      <a:alpha val="100000"/>
                    </a:srgbClr>
                  </a:gs>
                </a:gsLst>
                <a:lin ang="0"/>
              </a:gradFill>
              <a:prstDash val="solid"/>
              <a:miter/>
            </a:ln>
          </p:spPr>
        </p:sp>
        <p:sp>
          <p:nvSpPr>
            <p:cNvPr name="TextBox 17" id="17"/>
            <p:cNvSpPr txBox="true"/>
            <p:nvPr/>
          </p:nvSpPr>
          <p:spPr>
            <a:xfrm>
              <a:off x="76200" y="28575"/>
              <a:ext cx="660400" cy="708025"/>
            </a:xfrm>
            <a:prstGeom prst="rect">
              <a:avLst/>
            </a:prstGeom>
          </p:spPr>
          <p:txBody>
            <a:bodyPr anchor="ctr" rtlCol="false" tIns="81782" lIns="81782" bIns="81782" rIns="81782"/>
            <a:lstStyle/>
            <a:p>
              <a:pPr algn="ctr">
                <a:lnSpc>
                  <a:spcPts val="3360"/>
                </a:lnSpc>
              </a:pPr>
            </a:p>
          </p:txBody>
        </p:sp>
      </p:grpSp>
      <p:grpSp>
        <p:nvGrpSpPr>
          <p:cNvPr name="Group 18" id="18"/>
          <p:cNvGrpSpPr/>
          <p:nvPr/>
        </p:nvGrpSpPr>
        <p:grpSpPr>
          <a:xfrm rot="0">
            <a:off x="-1962493" y="-2097163"/>
            <a:ext cx="4968251" cy="4968251"/>
            <a:chOff x="0" y="0"/>
            <a:chExt cx="6624335" cy="6624335"/>
          </a:xfrm>
        </p:grpSpPr>
        <p:grpSp>
          <p:nvGrpSpPr>
            <p:cNvPr name="Group 19" id="19"/>
            <p:cNvGrpSpPr/>
            <p:nvPr/>
          </p:nvGrpSpPr>
          <p:grpSpPr>
            <a:xfrm rot="0">
              <a:off x="0" y="0"/>
              <a:ext cx="6624335" cy="662433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4AAD">
                      <a:alpha val="100000"/>
                    </a:srgbClr>
                  </a:gs>
                  <a:gs pos="100000">
                    <a:srgbClr val="5DE0E6">
                      <a:alpha val="100000"/>
                    </a:srgbClr>
                  </a:gs>
                </a:gsLst>
                <a:lin ang="0"/>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nvGrpSpPr>
            <p:cNvPr name="Group 22" id="22"/>
            <p:cNvGrpSpPr/>
            <p:nvPr/>
          </p:nvGrpSpPr>
          <p:grpSpPr>
            <a:xfrm rot="0">
              <a:off x="347536" y="347536"/>
              <a:ext cx="5929263" cy="592926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DE0E6">
                      <a:alpha val="100000"/>
                    </a:srgbClr>
                  </a:gs>
                  <a:gs pos="100000">
                    <a:srgbClr val="004AAD">
                      <a:alpha val="100000"/>
                    </a:srgbClr>
                  </a:gs>
                </a:gsLst>
                <a:lin ang="0"/>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360"/>
                  </a:lnSpc>
                </a:pPr>
              </a:p>
            </p:txBody>
          </p:sp>
        </p:grpSp>
      </p:grpSp>
      <p:sp>
        <p:nvSpPr>
          <p:cNvPr name="TextBox 25" id="25"/>
          <p:cNvSpPr txBox="true"/>
          <p:nvPr/>
        </p:nvSpPr>
        <p:spPr>
          <a:xfrm rot="0">
            <a:off x="2249142" y="2971943"/>
            <a:ext cx="15348880" cy="4312920"/>
          </a:xfrm>
          <a:prstGeom prst="rect">
            <a:avLst/>
          </a:prstGeom>
        </p:spPr>
        <p:txBody>
          <a:bodyPr anchor="t" rtlCol="false" tIns="0" lIns="0" bIns="0" rIns="0">
            <a:spAutoFit/>
          </a:bodyPr>
          <a:lstStyle/>
          <a:p>
            <a:pPr algn="ctr">
              <a:lnSpc>
                <a:spcPts val="11040"/>
              </a:lnSpc>
            </a:pPr>
            <a:r>
              <a:rPr lang="en-US" b="true" sz="12000" spc="-648">
                <a:solidFill>
                  <a:srgbClr val="FFFFFF"/>
                </a:solidFill>
                <a:latin typeface="Inter Bold"/>
                <a:ea typeface="Inter Bold"/>
                <a:cs typeface="Inter Bold"/>
                <a:sym typeface="Inter Bold"/>
              </a:rPr>
              <a:t>“THANKS FOR LISTENING AND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DAG6o61MoYg</dc:identifier>
  <dcterms:modified xsi:type="dcterms:W3CDTF">2011-08-01T06:04:30Z</dcterms:modified>
  <cp:revision>1</cp:revision>
  <dc:title>Network Segmentation (VLANs)</dc:title>
</cp:coreProperties>
</file>